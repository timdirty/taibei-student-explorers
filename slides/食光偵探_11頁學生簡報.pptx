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50bd339cd5c24b49" Type="http://schemas.openxmlformats.org/package/2006/relationships/metadata/core-properties" Target="docProps/core.xml"/><Relationship Id="Ra082d4386f4f42ec" Type="http://schemas.openxmlformats.org/officeDocument/2006/relationships/officeDocument" Target="ppt/presentation.xml"/><Relationship Id="Rc57abef743194722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ec8e0d2dda0405c"/>
  </p:sldMasterIdLst>
  <p:notesMasterIdLst>
    <p:notesMasterId xmlns:r="http://schemas.openxmlformats.org/officeDocument/2006/relationships" r:id="R449ec65bf5854741"/>
  </p:notesMasterIdLst>
  <p:sldIdLst>
    <p:sldId xmlns:r="http://schemas.openxmlformats.org/officeDocument/2006/relationships" id="256" r:id="R5b55a701e60544c2"/>
    <p:sldId xmlns:r="http://schemas.openxmlformats.org/officeDocument/2006/relationships" id="257" r:id="R902e4b94434e4e96"/>
    <p:sldId xmlns:r="http://schemas.openxmlformats.org/officeDocument/2006/relationships" id="258" r:id="R6124bb3c12334ad0"/>
    <p:sldId xmlns:r="http://schemas.openxmlformats.org/officeDocument/2006/relationships" id="259" r:id="Rf8113b863dc544bd"/>
    <p:sldId xmlns:r="http://schemas.openxmlformats.org/officeDocument/2006/relationships" id="260" r:id="Rf29d3daf4a5c4291"/>
    <p:sldId xmlns:r="http://schemas.openxmlformats.org/officeDocument/2006/relationships" id="262" r:id="R94c11cd983c64e92"/>
    <p:sldId xmlns:r="http://schemas.openxmlformats.org/officeDocument/2006/relationships" id="263" r:id="R644e40dbc742474c"/>
    <p:sldId xmlns:r="http://schemas.openxmlformats.org/officeDocument/2006/relationships" id="261" r:id="R6dd35eeaccb047a3"/>
    <p:sldId xmlns:r="http://schemas.openxmlformats.org/officeDocument/2006/relationships" id="266" r:id="rId1"/>
    <p:sldId xmlns:r="http://schemas.openxmlformats.org/officeDocument/2006/relationships" id="264" r:id="R14744d8b7a4b42c0"/>
    <p:sldId xmlns:r="http://schemas.openxmlformats.org/officeDocument/2006/relationships" id="265" r:id="R6d98f9344d754af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eeaac1932dc4b5e" Type="http://schemas.openxmlformats.org/officeDocument/2006/relationships/tableStyles" Target="tableStyles.xml"/><Relationship Id="R1325b6185b3344f9" Type="http://schemas.openxmlformats.org/officeDocument/2006/relationships/presProps" Target="presProps.xml"/><Relationship Id="R14744d8b7a4b42c0" Type="http://schemas.openxmlformats.org/officeDocument/2006/relationships/slide" Target="slides/slide10.xml"/><Relationship Id="R449ec65bf5854741" Type="http://schemas.openxmlformats.org/officeDocument/2006/relationships/notesMaster" Target="notesMasters/notesMaster1.xml"/><Relationship Id="R5b55a701e60544c2" Type="http://schemas.openxmlformats.org/officeDocument/2006/relationships/slide" Target="slides/slide1.xml"/><Relationship Id="R6124bb3c12334ad0" Type="http://schemas.openxmlformats.org/officeDocument/2006/relationships/slide" Target="slides/slide3.xml"/><Relationship Id="R644e40dbc742474c" Type="http://schemas.openxmlformats.org/officeDocument/2006/relationships/slide" Target="slides/slide7.xml"/><Relationship Id="R6d98f9344d754af1" Type="http://schemas.openxmlformats.org/officeDocument/2006/relationships/slide" Target="slides/slide11.xml"/><Relationship Id="R6dd35eeaccb047a3" Type="http://schemas.openxmlformats.org/officeDocument/2006/relationships/slide" Target="slides/slide8.xml"/><Relationship Id="R6ec8e0d2dda0405c" Type="http://schemas.openxmlformats.org/officeDocument/2006/relationships/slideMaster" Target="slideMasters/slideMaster1.xml"/><Relationship Id="R902e4b94434e4e96" Type="http://schemas.openxmlformats.org/officeDocument/2006/relationships/slide" Target="slides/slide2.xml"/><Relationship Id="R94c11cd983c64e92" Type="http://schemas.openxmlformats.org/officeDocument/2006/relationships/slide" Target="slides/slide6.xml"/><Relationship Id="Rf0a6321199884222" Type="http://schemas.openxmlformats.org/officeDocument/2006/relationships/theme" Target="theme/theme1.xml"/><Relationship Id="Rf29d3daf4a5c4291" Type="http://schemas.openxmlformats.org/officeDocument/2006/relationships/slide" Target="slides/slide5.xml"/><Relationship Id="Rf8113b863dc544bd" Type="http://schemas.openxmlformats.org/officeDocument/2006/relationships/slide" Target="slides/slide4.xml"/><Relationship Id="rId1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dfcbb470185c4b7f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a0a1a61c770047db" Type="http://schemas.openxmlformats.org/officeDocument/2006/relationships/slide" Target="../slides/slide1.xml"/><Relationship Id="Re4a52ce3455049d3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58d60666ada14e95" Type="http://schemas.openxmlformats.org/officeDocument/2006/relationships/slide" Target="../slides/slide2.xml"/><Relationship Id="Rae4d7b471c8e4b6d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4523f6fcfa7746ec" Type="http://schemas.openxmlformats.org/officeDocument/2006/relationships/slide" Target="../slides/slide3.xml"/><Relationship Id="Re5a4c5d93d4d46c6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52db7e686e964062" Type="http://schemas.openxmlformats.org/officeDocument/2006/relationships/notesMaster" Target="../notesMasters/notesMaster1.xml"/><Relationship Id="Ra791c3b1675746f4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0b692c451ceb4e5d" Type="http://schemas.openxmlformats.org/officeDocument/2006/relationships/slide" Target="../slides/slide5.xml"/><Relationship Id="Rf683b1ae4fe548ea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ce4b6a2701544d66" Type="http://schemas.openxmlformats.org/officeDocument/2006/relationships/notesMaster" Target="../notesMasters/notesMaster1.xml"/><Relationship Id="Rd647a929b0684099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18a7dacdf6184612" Type="http://schemas.openxmlformats.org/officeDocument/2006/relationships/slide" Target="../slides/slide6.xml"/><Relationship Id="R556a53f009274ea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4fe47a64a4334425" Type="http://schemas.openxmlformats.org/officeDocument/2006/relationships/slide" Target="../slides/slide7.xml"/><Relationship Id="Ra4bf196f03ef4fa5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d3407a514e9a444b" Type="http://schemas.openxmlformats.org/officeDocument/2006/relationships/notesMaster" Target="../notesMasters/notesMaster1.xml"/><Relationship Id="Rf45868872ee2480a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006d9d3d9313405e" Type="http://schemas.openxmlformats.org/officeDocument/2006/relationships/slide" Target="../slides/slide11.xml"/><Relationship Id="Rd4d5837826f64426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【上台報告講稿｜👥 建議分工：隊員 A（或全員開場）｜⏱️ 建議時間：15 秒】</a:t>
            </a:r>
          </a:p>
          <a:p xmlns:a="http://schemas.openxmlformats.org/drawingml/2006/main">
            <a:r>
              <a:t>大家好，我們是食光偵探小隊！我們結合 AI 餐盤辨識、自動推薦吃飯策略、個人到全校口味喜好預測，以及 40 天校園午餐大數據參照庫，幫助大家吃得剛剛好、從源頭減少剩食！</a:t>
            </a:r>
          </a:p>
          <a:p xmlns:a="http://schemas.openxmlformats.org/drawingml/2006/main"/>
          <a:p xmlns:a="http://schemas.openxmlformats.org/drawingml/2006/main">
            <a:r>
              <a:t>圖片與資料出處</a:t>
            </a:r>
          </a:p>
          <a:p xmlns:a="http://schemas.openxmlformats.org/drawingml/2006/main">
            <a:r>
              <a:t>食光偵探主視覺與校園午餐實測專題。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【上台報告講稿｜👥 建議分工：隊員 A｜⏱️ 建議時間：15 秒】</a:t>
            </a:r>
          </a:p>
          <a:p xmlns:a="http://schemas.openxmlformats.org/drawingml/2006/main">
            <a:r>
              <a:t>為什麼學校每天午餐後都有一整桶廚餘？我們實地觀察發現三大困擾：第一，打菜盛飯憑感覺，白飯盛太滿太快吃飽，結果青菜和排骨吃不下；第二，看到不熟的蔬菜不敢試，留到最後冷掉更不想吃；第三，過去沒有數據工具幫大家算份量、給吃飯策略。</a:t>
            </a:r>
          </a:p>
          <a:p xmlns:a="http://schemas.openxmlformats.org/drawingml/2006/main"/>
          <a:p xmlns:a="http://schemas.openxmlformats.org/drawingml/2006/main">
            <a:r>
              <a:t>圖片與資料出處</a:t>
            </a:r>
          </a:p>
          <a:p xmlns:a="http://schemas.openxmlformats.org/drawingml/2006/main">
            <a:r>
              <a:t>個人餐盤實拍 plate-06.jpg 與班級回收桶實拍 class-bin-01.jpg。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【上台報告講稿｜👥 建議分工：隊員 A｜⏱️ 建議時間：15 秒】</a:t>
            </a:r>
          </a:p>
          <a:p xmlns:a="http://schemas.openxmlformats.org/drawingml/2006/main">
            <a:r>
              <a:t>因此我們設計了 AI 惜食研究四問：第一，餐前怎麼配才剛好？第二，餐後各格剩多少公克？第三，下一餐怎麼吃能減少剩食？第四，累積全班與全校大數據後，能不能預測口味喜好、從源頭預防剩食？</a:t>
            </a:r>
          </a:p>
          <a:p xmlns:a="http://schemas.openxmlformats.org/drawingml/2006/main"/>
          <a:p xmlns:a="http://schemas.openxmlformats.org/drawingml/2006/main">
            <a:r>
              <a:t>圖片與資料出處</a:t>
            </a:r>
          </a:p>
          <a:p xmlns:a="http://schemas.openxmlformats.org/drawingml/2006/main">
            <a:r>
              <a:t>食光偵探四階段研究閉環設計。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【上台報告講稿｜👥 建議分工：隊員 B｜⏱️ 建議時間：15 秒】</a:t>
            </a:r>
          </a:p>
          <a:p xmlns:a="http://schemas.openxmlformats.org/drawingml/2006/main">
            <a:r>
              <a:t>我們把學校 9 月、10 月共 40 天公告菜單全部建檔，並串接教育部校園食材登錄平臺 23 天的官方實登數據，包含每餐 707 到 905 大卡熱量、147 道真實供餐菜色照與 638 筆食材進貨重量，作為 AI 配餐與大數據分析的基礎！</a:t>
            </a:r>
          </a:p>
          <a:p xmlns:a="http://schemas.openxmlformats.org/drawingml/2006/main"/>
          <a:p xmlns:a="http://schemas.openxmlformats.org/drawingml/2006/main">
            <a:r>
              <a:t>圖片與資料出處</a:t>
            </a:r>
          </a:p>
          <a:p xmlns:a="http://schemas.openxmlformats.org/drawingml/2006/main">
            <a:r>
              <a:t>泰北國小部 115 年 9–10 月菜單與教育部校園食材登錄平臺實測資料。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【上台報告講稿｜👥 建議分工：隊員 B｜⏱️ 建議時間：15 秒】</a:t>
            </a:r>
          </a:p>
          <a:p xmlns:a="http://schemas.openxmlformats.org/drawingml/2006/main">
            <a:r>
              <a:t>吃飯前，遇到不熟悉或平常不敢吃的菜，只要點一下菜名問 AI，AI 就會推薦「第一口嚐鮮搭配法」，例如先夾一小塊香酥魚排配一口高麗菜，並把這份配餐小計畫存進平板帶去拍餐盤！</a:t>
            </a:r>
          </a:p>
          <a:p xmlns:a="http://schemas.openxmlformats.org/drawingml/2006/main"/>
          <a:p xmlns:a="http://schemas.openxmlformats.org/drawingml/2006/main">
            <a:r>
              <a:t>圖片與資料出處</a:t>
            </a:r>
          </a:p>
          <a:p xmlns:a="http://schemas.openxmlformats.org/drawingml/2006/main">
            <a:r>
              <a:t>食光偵探 App「我的智慧配餐」實機畫面。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【上台報告講稿｜👥 建議分工：隊員 C（核心亮點）｜⏱️ 建議時間：20 秒】</a:t>
            </a:r>
          </a:p>
          <a:p xmlns:a="http://schemas.openxmlformats.org/drawingml/2006/main">
            <a:r>
              <a:t>我們實際追蹤兩餐來驗證 AI 推薦的吃飯策略！第一餐還沒用策略時，餐後剩下 162 克；第二餐採用 AI 推薦的方法，白飯先盛剛好、先吃青菜配主菜，結果餐後只剩 14 克，剩食減少了 91%，而且肚子吃得剛剛好飽！</a:t>
            </a:r>
          </a:p>
          <a:p xmlns:a="http://schemas.openxmlformats.org/drawingml/2006/main"/>
          <a:p xmlns:a="http://schemas.openxmlformats.org/drawingml/2006/main">
            <a:r>
              <a:t>圖片與資料出處</a:t>
            </a:r>
          </a:p>
          <a:p xmlns:a="http://schemas.openxmlformats.org/drawingml/2006/main">
            <a:r>
              <a:t>餐盤實拍與 AI 估算：public/field-photos/plate-06.jpg（162g）與 plate-07.jpg（14g）。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【上台報告講稿｜👥 建議分工：隊員 B｜⏱️ 建議時間：15 秒】</a:t>
            </a:r>
          </a:p>
          <a:p xmlns:a="http://schemas.openxmlformats.org/drawingml/2006/main">
            <a:r>
              <a:t>接著透過餐前份量策略，依照當天的飢餓程度選擇「先盛小份、剛好、或多些」，搭配「趁熱先吃三口青菜配主菜、還餓再添飯」的策略，找到吃得飽又不浪費的黃金比例！</a:t>
            </a:r>
          </a:p>
          <a:p xmlns:a="http://schemas.openxmlformats.org/drawingml/2006/main"/>
          <a:p xmlns:a="http://schemas.openxmlformats.org/drawingml/2006/main">
            <a:r>
              <a:t>圖片與資料出處</a:t>
            </a:r>
          </a:p>
          <a:p xmlns:a="http://schemas.openxmlformats.org/drawingml/2006/main">
            <a:r>
              <a:t>食光偵探 App「先盛多少？你來選」實機畫面。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【上台報告講稿｜👥 建議分工：隊員 C（核心亮點）｜⏱️ 建議時間：20 秒】</a:t>
            </a:r>
          </a:p>
          <a:p xmlns:a="http://schemas.openxmlformats.org/drawingml/2006/main">
            <a:r>
              <a:t>吃完午餐後，我們拍下餐盤，AI 會智慧辨識每一格剩下的克數，像這盤青菜剩 80 克、排骨剩 72 克，合計 162 克。AI 發現是因為先吃白飯太快飽，就會自動推薦下一餐的吃飯策略：白飯先盛四分之三碗、趁熱先吃三口青菜配排骨，還餓再去添飯。</a:t>
            </a:r>
          </a:p>
          <a:p xmlns:a="http://schemas.openxmlformats.org/drawingml/2006/main"/>
          <a:p xmlns:a="http://schemas.openxmlformats.org/drawingml/2006/main">
            <a:r>
              <a:t>圖片與資料出處</a:t>
            </a:r>
          </a:p>
          <a:p xmlns:a="http://schemas.openxmlformats.org/drawingml/2006/main">
            <a:r>
              <a:t>餐盤實拍與 AI 估算：public/field-photos/plate-06.jpg、plate-01.jpg 與 ai-estimates.json。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【上台報告講稿｜👥 建議分工：隊員 C（核心亮點）｜⏱️ 建議時間：20 秒】</a:t>
            </a:r>
          </a:p>
          <a:p xmlns:a="http://schemas.openxmlformats.org/drawingml/2006/main">
            <a:r>
              <a:t>當我們累積越多筆紀錄，就會成為超有價值的校園午餐大數據參照庫！我們整合了 40 天公告菜單、23 天教育部實登熱量與進貨重量、17 張實拍餐盤 AI 克數辨識與 120 則配餐情境，不只幫同學吃得剛好，更能提供給導師、學校營養師與廚房作為長期開菜單與精準備餐的依據！</a:t>
            </a:r>
          </a:p>
          <a:p xmlns:a="http://schemas.openxmlformats.org/drawingml/2006/main"/>
          <a:p xmlns:a="http://schemas.openxmlformats.org/drawingml/2006/main">
            <a:r>
              <a:t>圖片與資料出處</a:t>
            </a:r>
          </a:p>
          <a:p xmlns:a="http://schemas.openxmlformats.org/drawingml/2006/main">
            <a:r>
              <a:t>學校 9–10 月菜單、教育部校園食材登錄平臺 23 天實測資料與 AI 餐盤辨識資料庫。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【上台報告講稿｜👥 建議分工：全員合聲結尾｜⏱️ 建議時間：15 秒】</a:t>
            </a:r>
          </a:p>
          <a:p xmlns:a="http://schemas.openxmlformats.org/drawingml/2006/main">
            <a:r>
              <a:t>總結我們的三大成果：AI 智慧判斷剩食並推薦吃飯策略讓剩食減少 91%、個人到班級到全校三層預測預防剩食、以及校園午餐大數據長期參照庫！現在就請評審與同學掃描右方 QR Code，一起體驗食光偵探！謝謝大家！</a:t>
            </a:r>
          </a:p>
          <a:p xmlns:a="http://schemas.openxmlformats.org/drawingml/2006/main"/>
          <a:p xmlns:a="http://schemas.openxmlformats.org/drawingml/2006/main">
            <a:r>
              <a:t>圖片與資料出處</a:t>
            </a:r>
          </a:p>
          <a:p xmlns:a="http://schemas.openxmlformats.org/drawingml/2006/main">
            <a:r>
              <a:t>QR Code 連結至 https://foodlens-school.vercel.app/ 與 https://timdirty.github.io/taibei-student-explorers/。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【上台報告講稿｜👥 建議分工：隊員 C（核心亮點）｜⏱️ 建議時間：20 秒】</a:t>
            </a:r>
          </a:p>
          <a:p>
            <a:r>
              <a:t>食光偵探不只幫個人，還能擴展到班級和全校！第一層幫個人推薦每餐盛飯比例與吃菜策略；第二層統計全班各道菜平均剩食量，找出班上最愛與常剩的菜色；第三層結合全校 23 天教育部食材登錄平臺每餐 707 到 905 大卡資料，預測全校對不同口味的喜好度，提前調整菜單、從源頭預防剩食！</a:t>
            </a:r>
          </a:p>
          <a:p/>
          <a:p>
            <a:r>
              <a:t>圖片與資料出處</a:t>
            </a:r>
          </a:p>
          <a:p>
            <a:r>
              <a:t>個人餐盤 plate-09.jpg、班級餐桶 class-bin-01.jpg、教育部食材登錄平臺菜色照 dish-21583.jpg。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a71a3c40e9fd4220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0152adba99ee42ca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0dd206c2a23043c0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4af8c2c84652455d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c1b17e2536cd4958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ed998ce805e94fba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DF79DA6-3591-455C-8D7E-595411C685F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D2B2A66-81CF-46A3-BF01-7F51E913CEC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CCD5C2C2-EA63-45D3-BE46-2725BF97605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C4A5FAC-5373-416C-B238-20954AE06B3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C7EDD08-D8E8-4B56-9145-AB7480C2D30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7FB6E1D-853E-46DF-B342-9612DF72770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67FF499-2F8A-41C4-988E-B29CED54738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E27E04B-9DB0-42D4-9B7A-A2DF7AD8C8F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16E9196-2859-44BA-80FA-E4CE28E7F7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6672E95-8F85-43BF-81DC-C636B207493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0f9e1217b9a64586" Type="http://schemas.openxmlformats.org/officeDocument/2006/relationships/theme" Target="theme/theme2.xml"/><Relationship Id="R36592bf577214957" Type="http://schemas.openxmlformats.org/officeDocument/2006/relationships/slideLayout" Target="../slideLayouts/slideLayout4.xml"/><Relationship Id="R581910597fd44194" Type="http://schemas.openxmlformats.org/officeDocument/2006/relationships/slideLayout" Target="../slideLayouts/slideLayout6.xml"/><Relationship Id="R5c9c507b1ff84c43" Type="http://schemas.openxmlformats.org/officeDocument/2006/relationships/slideLayout" Target="../slideLayouts/slideLayout2.xml"/><Relationship Id="R98064ee8395b42b8" Type="http://schemas.openxmlformats.org/officeDocument/2006/relationships/slideLayout" Target="../slideLayouts/slideLayout5.xml"/><Relationship Id="Raf900dde119c4e5e" Type="http://schemas.openxmlformats.org/officeDocument/2006/relationships/slideLayout" Target="../slideLayouts/slideLayout3.xml"/><Relationship Id="Rd3bc29198b6b44ce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3bc29198b6b44ce"/>
    <p:sldLayoutId xmlns:r="http://schemas.openxmlformats.org/officeDocument/2006/relationships" id="2147483650" r:id="R5c9c507b1ff84c43"/>
    <p:sldLayoutId xmlns:r="http://schemas.openxmlformats.org/officeDocument/2006/relationships" id="2147483651" r:id="Raf900dde119c4e5e"/>
    <p:sldLayoutId xmlns:r="http://schemas.openxmlformats.org/officeDocument/2006/relationships" id="2147483652" r:id="R36592bf577214957"/>
    <p:sldLayoutId xmlns:r="http://schemas.openxmlformats.org/officeDocument/2006/relationships" id="2147483653" r:id="R98064ee8395b42b8"/>
    <p:sldLayoutId xmlns:r="http://schemas.openxmlformats.org/officeDocument/2006/relationships" id="2147483654" r:id="R581910597fd4419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55f80f4c44b34d4a" Type="http://schemas.openxmlformats.org/officeDocument/2006/relationships/notesSlide" Target="../notesSlides/notesSlide1.xml"/><Relationship Id="R69f369b98dae4bb3" Type="http://schemas.openxmlformats.org/officeDocument/2006/relationships/slideLayout" Target="../slideLayouts/slideLayout6.xml"/><Relationship Id="R71a10e21779a4b97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3b36a7519f9b41a7" Type="http://schemas.openxmlformats.org/officeDocument/2006/relationships/notesSlide" Target="../notesSlides/notesSlide2.xml"/><Relationship Id="R51273acb13af4b7b" Type="http://schemas.openxmlformats.org/officeDocument/2006/relationships/image" Target="../media/image.jpeg"/><Relationship Id="Redec5149fbfb42c5" Type="http://schemas.openxmlformats.org/officeDocument/2006/relationships/slideLayout" Target="../slideLayouts/slideLayout6.xml"/><Relationship Id="rId4" Type="http://schemas.openxmlformats.org/officeDocument/2006/relationships/image" Target="../media/image21.jpg"/><Relationship Id="rId5" Type="http://schemas.openxmlformats.org/officeDocument/2006/relationships/image" Target="../media/image22.jpg"/></Relationships>
</file>

<file path=ppt/slides/_rels/slide3.xml.rels><?xml version='1.0' encoding='UTF-8' standalone='yes'?>
<Relationships xmlns="http://schemas.openxmlformats.org/package/2006/relationships"><Relationship Id="R31230afe52ec4733" Type="http://schemas.openxmlformats.org/officeDocument/2006/relationships/slideLayout" Target="../slideLayouts/slideLayout6.xml"/><Relationship Id="R9ead4edf7075447e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6ac731b1bc04491b" Type="http://schemas.openxmlformats.org/officeDocument/2006/relationships/image" Target="../media/image3.png"/><Relationship Id="R85810d39844a4a9c" Type="http://schemas.openxmlformats.org/officeDocument/2006/relationships/image" Target="../media/image2.png"/><Relationship Id="Ra63ac310654d468e" Type="http://schemas.openxmlformats.org/officeDocument/2006/relationships/image" Target="../media/image4.png"/><Relationship Id="Rc5aa1465f99a4bee" Type="http://schemas.openxmlformats.org/officeDocument/2006/relationships/slideLayout" Target="../slideLayouts/slideLayout6.xml"/><Relationship Id="Rff4325357cbc4aa7" Type="http://schemas.openxmlformats.org/officeDocument/2006/relationships/notesSlide" Target="../notesSlides/notesSlide4.xml"/><Relationship Id="rId6" Type="http://schemas.openxmlformats.org/officeDocument/2006/relationships/image" Target="../media/image23.jpg"/></Relationships>
</file>

<file path=ppt/slides/_rels/slide5.xml.rels><?xml version='1.0' encoding='UTF-8' standalone='yes'?>
<Relationships xmlns="http://schemas.openxmlformats.org/package/2006/relationships"><Relationship Id="R6ff9950174b44d2a" Type="http://schemas.openxmlformats.org/officeDocument/2006/relationships/slideLayout" Target="../slideLayouts/slideLayout6.xml"/><Relationship Id="Raa145d6f819641a6" Type="http://schemas.openxmlformats.org/officeDocument/2006/relationships/notesSlide" Target="../notesSlides/notesSlide5.xml"/><Relationship Id="Rc0491984917b468a" Type="http://schemas.openxmlformats.org/officeDocument/2006/relationships/image" Target="../media/image2.jpeg"/><Relationship Id="rId4" Type="http://schemas.openxmlformats.org/officeDocument/2006/relationships/image" Target="../media/image24.png"/></Relationships>
</file>

<file path=ppt/slides/_rels/slide6.xml.rels><?xml version='1.0' encoding='UTF-8' standalone='yes'?>
<Relationships xmlns="http://schemas.openxmlformats.org/package/2006/relationships"><Relationship Id="Re64d935a824f47f8" Type="http://schemas.openxmlformats.org/officeDocument/2006/relationships/image" Target="../media/image3.jpeg"/><Relationship Id="Rfa36faabc1594fb5" Type="http://schemas.openxmlformats.org/officeDocument/2006/relationships/notesSlide" Target="../notesSlides/notesSlide7.xml"/><Relationship Id="Rfce3ccac8d014f77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7f6d0a89bb214164" Type="http://schemas.openxmlformats.org/officeDocument/2006/relationships/slideLayout" Target="../slideLayouts/slideLayout6.xml"/><Relationship Id="Rfda5cbaf9a5f4dd1" Type="http://schemas.openxmlformats.org/officeDocument/2006/relationships/notesSlide" Target="../notesSlides/notesSlide8.xml"/><Relationship Id="rId3" Type="http://schemas.openxmlformats.org/officeDocument/2006/relationships/image" Target="../media/image13.jpg"/><Relationship Id="rId4" Type="http://schemas.openxmlformats.org/officeDocument/2006/relationships/image" Target="../media/image14.jpg"/><Relationship Id="rId5" Type="http://schemas.openxmlformats.org/officeDocument/2006/relationships/image" Target="../media/image25.jpg"/><Relationship Id="rId6" Type="http://schemas.openxmlformats.org/officeDocument/2006/relationships/image" Target="../media/image26.jpg"/></Relationships>
</file>

<file path=ppt/slides/_rels/slide8.xml.rels><?xml version='1.0' encoding='UTF-8' standalone='yes'?>
<Relationships xmlns="http://schemas.openxmlformats.org/package/2006/relationships"><Relationship Id="R3b82bf10eddb4fc3" Type="http://schemas.openxmlformats.org/officeDocument/2006/relationships/notesSlide" Target="../notesSlides/notesSlide6.xml"/><Relationship Id="R88303fc2f371447e" Type="http://schemas.openxmlformats.org/officeDocument/2006/relationships/slideLayout" Target="../slideLayouts/slideLayout6.xml"/><Relationship Id="rId3" Type="http://schemas.openxmlformats.org/officeDocument/2006/relationships/image" Target="../media/image1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5.jpg"/><Relationship Id="rId8" Type="http://schemas.openxmlformats.org/officeDocument/2006/relationships/image" Target="../media/image16.jpg"/><Relationship Id="rId9" Type="http://schemas.openxmlformats.org/officeDocument/2006/relationships/image" Target="../media/image27.jpg"/><Relationship Id="rId10" Type="http://schemas.openxmlformats.org/officeDocument/2006/relationships/image" Target="../media/image28.jpg"/></Relationships>
</file>

<file path=ppt/slides/_rels/slide9.xml.rels><?xml version='1.0' encoding='UTF-8' standalone='yes'?>
<Relationships xmlns="http://schemas.openxmlformats.org/package/2006/relationships"><Relationship Id="R6ff9950174b44d2a" Type="http://schemas.openxmlformats.org/officeDocument/2006/relationships/slideLayout" Target="../slideLayouts/slideLayout6.xml"/><Relationship Id="Rc0491984917b468a" Type="http://schemas.openxmlformats.org/officeDocument/2006/relationships/image" Target="../media/image2.jpe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11.xml"/><Relationship Id="rId6" Type="http://schemas.openxmlformats.org/officeDocument/2006/relationships/image" Target="../media/image17.jpg"/><Relationship Id="rId7" Type="http://schemas.openxmlformats.org/officeDocument/2006/relationships/image" Target="../media/image18.jpg"/><Relationship Id="rId8" Type="http://schemas.openxmlformats.org/officeDocument/2006/relationships/image" Target="../media/image19.jpg"/><Relationship Id="rId9" Type="http://schemas.openxmlformats.org/officeDocument/2006/relationships/image" Target="../media/image20.jpg"/><Relationship Id="rId10" Type="http://schemas.openxmlformats.org/officeDocument/2006/relationships/image" Target="../media/image29.jpg"/><Relationship Id="rId11" Type="http://schemas.openxmlformats.org/officeDocument/2006/relationships/image" Target="../media/image30.jpg"/><Relationship Id="rId12" Type="http://schemas.openxmlformats.org/officeDocument/2006/relationships/image" Target="../media/image31.jpg"/></Relationships>
</file>

<file path=ppt/slides/_rels/slide10.xml.rels><?xml version='1.0' encoding='UTF-8' standalone='yes'?>
<Relationships xmlns="http://schemas.openxmlformats.org/package/2006/relationships"><Relationship Id="R30d64914766c4e22" Type="http://schemas.openxmlformats.org/officeDocument/2006/relationships/notesSlide" Target="../notesSlides/notesSlide9.xml"/><Relationship Id="R3fbe0fc1dfa9420e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28fbecb343c24c04" Type="http://schemas.openxmlformats.org/officeDocument/2006/relationships/hyperlink" Target="https://foodlens-school.vercel.app/" TargetMode="External"/><Relationship Id="R37b78fff208b4799" Type="http://schemas.openxmlformats.org/officeDocument/2006/relationships/notesSlide" Target="../notesSlides/notesSlide10.xml"/><Relationship Id="R7815e7378b4b44c3" Type="http://schemas.openxmlformats.org/officeDocument/2006/relationships/hyperlink" Target="https://foodlens-school.vercel.app/students" TargetMode="External"/><Relationship Id="Ra36a478fb42a4435" Type="http://schemas.openxmlformats.org/officeDocument/2006/relationships/hyperlink" Target="https://foodlens-school.vercel.app/" TargetMode="External"/><Relationship Id="Rd622c82c050b4854" Type="http://schemas.openxmlformats.org/officeDocument/2006/relationships/slideLayout" Target="../slideLayouts/slideLayout6.xml"/><Relationship Id="rId6" Type="http://schemas.openxmlformats.org/officeDocument/2006/relationships/image" Target="../media/image12.png"/><Relationship Id="rId7" Type="http://schemas.openxmlformats.org/officeDocument/2006/relationships/image" Target="../media/image32.png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53FCEA-599F-4D84-9513-1E512AB3445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a10e21779a4b9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食光偵探">
            <a:extLst xmlns:a="http://schemas.openxmlformats.org/drawingml/2006/main">
              <a:ext uri="{FF2B5EF4-FFF2-40B4-BE49-F238E27FC236}">
                <a16:creationId xmlns:a16="http://schemas.microsoft.com/office/drawing/2014/main" id="{59A99A74-5BB4-46E4-A440-4AB8BAFA1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5334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9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69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pPr>
            <a:r>
              <a:rPr sz="690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食光偵探</a:t>
            </a:r>
          </a:p>
        </p:txBody>
      </p:sp>
      <p:sp>
        <p:nvSpPr>
          <p:cNvPr id="3" name="讓午餐剛剛好">
            <a:extLst xmlns:a="http://schemas.openxmlformats.org/drawingml/2006/main">
              <a:ext uri="{FF2B5EF4-FFF2-40B4-BE49-F238E27FC236}">
                <a16:creationId xmlns:a16="http://schemas.microsoft.com/office/drawing/2014/main" id="{EEF5F020-CE6C-4409-8BF7-7C7FDB3A8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09900"/>
            <a:ext cx="5048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E7154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2E7154"/>
                </a:solidFill>
                <a:latin typeface="Heiti TC"/>
                <a:ea typeface="Heiti TC"/>
                <a:cs typeface="Heiti TC"/>
              </a:defRPr>
            </a:pPr>
            <a:r>
              <a:rPr sz="3300" b="1">
                <a:solidFill>
                  <a:srgbClr val="2E7154"/>
                </a:solidFill>
                <a:latin typeface="Heiti TC"/>
                <a:ea typeface="Heiti TC"/>
                <a:cs typeface="Heiti TC"/>
              </a:rPr>
              <a:t>讓午餐剛剛好</a:t>
            </a:r>
          </a:p>
        </p:txBody>
      </p:sp>
      <p:sp>
        <p:nvSpPr>
          <p:cNvPr id="4" name="食光追查隊">
            <a:extLst xmlns:a="http://schemas.openxmlformats.org/drawingml/2006/main">
              <a:ext uri="{FF2B5EF4-FFF2-40B4-BE49-F238E27FC236}">
                <a16:creationId xmlns:a16="http://schemas.microsoft.com/office/drawing/2014/main" id="{C5CB0650-E492-4487-8E3F-11CEE9AAF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14800"/>
            <a:ext cx="504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225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pPr>
            <a:r>
              <a:rPr sz="225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食光追查隊</a:t>
            </a:r>
          </a:p>
        </p:txBody>
      </p:sp>
      <p:sp>
        <p:nvSpPr>
          <p:cNvPr id="5" name="泰北國際雙語學校-國小部">
            <a:extLst xmlns:a="http://schemas.openxmlformats.org/drawingml/2006/main">
              <a:ext uri="{FF2B5EF4-FFF2-40B4-BE49-F238E27FC236}">
                <a16:creationId xmlns:a16="http://schemas.microsoft.com/office/drawing/2014/main" id="{5EC1BDC7-B63A-4D59-B5DD-51420391D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62475"/>
            <a:ext cx="5476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2025" b="0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pPr>
            <a:r>
              <a:rPr sz="2025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泰北國際雙語學校-國小部</a:t>
            </a:r>
          </a:p>
        </p:txBody>
      </p:sp>
      <p:sp>
        <p:nvSpPr>
          <p:cNvPr id="6" name="501 黃苙璇、陳品妤、宋佩瑈&#10;502 ">
            <a:extLst xmlns:a="http://schemas.openxmlformats.org/drawingml/2006/main">
              <a:ext uri="{FF2B5EF4-FFF2-40B4-BE49-F238E27FC236}">
                <a16:creationId xmlns:a16="http://schemas.microsoft.com/office/drawing/2014/main" id="{AF3BE086-0AEF-4F43-B0AC-C08173D59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43500"/>
            <a:ext cx="5238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950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950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501 黃苙璇、陳品妤、宋佩瑈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950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502 陳巧恩</a:t>
            </a:r>
          </a:p>
        </p:txBody>
      </p:sp>
      <p:sp>
        <p:nvSpPr>
          <p:cNvPr id="7" name="AI 概念插畫">
            <a:extLst xmlns:a="http://schemas.openxmlformats.org/drawingml/2006/main">
              <a:ext uri="{FF2B5EF4-FFF2-40B4-BE49-F238E27FC236}">
                <a16:creationId xmlns:a16="http://schemas.microsoft.com/office/drawing/2014/main" id="{56E10267-DBAA-4AB8-A44A-BF8594363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86525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500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AI 概念插畫</a:t>
            </a:r>
          </a:p>
        </p:txBody>
      </p:sp>
    </p:spTree>
    <p:extLst>
      <p:ext uri="{BB962C8B-B14F-4D97-AF65-F5344CB8AC3E}">
        <p14:creationId xmlns:p14="http://schemas.microsoft.com/office/powerpoint/2010/main" val="151432855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-heading">
            <a:extLst xmlns:a="http://schemas.openxmlformats.org/drawingml/2006/main">
              <a:ext uri="{FF2B5EF4-FFF2-40B4-BE49-F238E27FC236}">
                <a16:creationId xmlns:a16="http://schemas.microsoft.com/office/drawing/2014/main" id="{980043FE-EB20-4A96-9555-5CF8E69DE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69596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6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pPr>
            <a:r>
              <a:rPr sz="232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校園午餐的真實困擾：為什麼每天都有廚餘？</a:t>
            </a:r>
          </a:p>
        </p:txBody>
      </p:sp>
      <p:sp>
        <p:nvSpPr>
          <p:cNvPr id="2" name="食光偵探  食光追查隊">
            <a:extLst xmlns:a="http://schemas.openxmlformats.org/drawingml/2006/main">
              <a:ext uri="{FF2B5EF4-FFF2-40B4-BE49-F238E27FC236}">
                <a16:creationId xmlns:a16="http://schemas.microsoft.com/office/drawing/2014/main" id="{BDE47929-7AE2-4BAD-8D79-2FE205A78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食光偵探  食光追查隊</a:t>
            </a:r>
          </a:p>
        </p:txBody>
      </p:sp>
      <p:sp>
        <p:nvSpPr>
          <p:cNvPr id="3" name="02 / 10">
            <a:extLst xmlns:a="http://schemas.openxmlformats.org/drawingml/2006/main">
              <a:ext uri="{FF2B5EF4-FFF2-40B4-BE49-F238E27FC236}">
                <a16:creationId xmlns:a16="http://schemas.microsoft.com/office/drawing/2014/main" id="{FA01EB9F-8092-4DEA-A6F5-3E7798AE5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3890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02 / 11</a:t>
            </a:r>
          </a:p>
        </p:txBody>
      </p:sp>
      <p:sp xmlns:a="http://schemas.openxmlformats.org/drawingml/2006/main">
        <p:nvSpPr>
          <p:cNvPr id="9" name="TextBox 8"/>
          <p:cNvSpPr txBox="1"/>
          <p:nvPr/>
        </p:nvSpPr>
        <p:spPr>
          <a:xfrm>
            <a:off x="7035800" y="825500"/>
            <a:ext cx="44958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300" b="1">
                <a:solidFill>
                  <a:srgbClr val="2E7154"/>
                </a:solidFill>
                <a:latin typeface="Heiti TC"/>
                <a:ea typeface="Heiti TC"/>
                <a:cs typeface="Heiti TC"/>
              </a:rPr>
              <a:t>從盛飯憑感覺到剩菜整桶倒掉，我們用 AI 找解方</a:t>
            </a:r>
          </a:p>
        </p:txBody>
      </p:sp>
      <p:sp xmlns:a="http://schemas.openxmlformats.org/drawingml/2006/main">
        <p:nvSpPr>
          <p:cNvPr id="10" name="Rounded Rectangle 9"/>
          <p:cNvSpPr/>
          <p:nvPr/>
        </p:nvSpPr>
        <p:spPr>
          <a:xfrm>
            <a:off x="660400" y="1498600"/>
            <a:ext cx="4775200" cy="4521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F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1" name="Rounded Rectangle 10"/>
          <p:cNvSpPr/>
          <p:nvPr/>
        </p:nvSpPr>
        <p:spPr>
          <a:xfrm>
            <a:off x="838200" y="1651000"/>
            <a:ext cx="4419600" cy="330200"/>
          </a:xfrm>
          <a:prstGeom prst="roundRect">
            <a:avLst>
              <a:gd name="adj" fmla="val 45000"/>
            </a:avLst>
          </a:prstGeom>
          <a:solidFill>
            <a:srgbClr val="173E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2" name="TextBox 11"/>
          <p:cNvSpPr txBox="1"/>
          <p:nvPr/>
        </p:nvSpPr>
        <p:spPr>
          <a:xfrm>
            <a:off x="914400" y="1651000"/>
            <a:ext cx="42672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校園午餐現場實拍：個人餐盤與班級回收桶</a:t>
            </a:r>
          </a:p>
        </p:txBody>
      </p:sp>
      <p:pic xmlns:a="http://schemas.openxmlformats.org/drawingml/2006/main" xmlns:r="http://schemas.openxmlformats.org/officeDocument/2006/relationships">
        <p:nvPicPr>
          <p:cNvPr id="13" name="Picture 12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2082800"/>
            <a:ext cx="2133600" cy="2362200"/>
          </a:xfrm>
          <a:prstGeom prst="rect">
            <a:avLst/>
          </a:prstGeom>
          <a:ln w="12700">
            <a:solidFill>
              <a:srgbClr val="CFE5D8"/>
            </a:solidFill>
          </a:ln>
        </p:spPr>
      </p:pic>
      <p:pic xmlns:a="http://schemas.openxmlformats.org/drawingml/2006/main" xmlns:r="http://schemas.openxmlformats.org/officeDocument/2006/relationships">
        <p:nvPicPr>
          <p:cNvPr id="14" name="Picture 13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24200" y="2082800"/>
            <a:ext cx="2133600" cy="2362200"/>
          </a:xfrm>
          <a:prstGeom prst="rect">
            <a:avLst/>
          </a:prstGeom>
          <a:ln w="12700">
            <a:solidFill>
              <a:srgbClr val="CFE5D8"/>
            </a:solidFill>
          </a:ln>
        </p:spPr>
      </p:pic>
      <p:sp xmlns:a="http://schemas.openxmlformats.org/drawingml/2006/main">
        <p:nvSpPr>
          <p:cNvPr id="15" name="Rounded Rectangle 14"/>
          <p:cNvSpPr/>
          <p:nvPr/>
        </p:nvSpPr>
        <p:spPr>
          <a:xfrm>
            <a:off x="838200" y="4572000"/>
            <a:ext cx="4419600" cy="1270000"/>
          </a:xfrm>
          <a:prstGeom prst="roundRect">
            <a:avLst>
              <a:gd name="adj" fmla="val 6000"/>
            </a:avLst>
          </a:prstGeom>
          <a:solidFill>
            <a:srgbClr val="E6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6" name="TextBox 15"/>
          <p:cNvSpPr txBox="1"/>
          <p:nvPr/>
        </p:nvSpPr>
        <p:spPr>
          <a:xfrm>
            <a:off x="965200" y="4673600"/>
            <a:ext cx="4165600" cy="1092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📌 現場觀察發現：</a:t>
            </a:r>
          </a:p>
          <a:p>
            <a:pPr algn="l">
              <a:lnSpc>
                <a:spcPct val="125000"/>
              </a:lnSpc>
            </a:pPr>
            <a:r>
              <a:rPr sz="130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個人餐盤常剩青菜（80g）與大塊肉類（72g）</a:t>
            </a:r>
          </a:p>
          <a:p>
            <a:pPr algn="l">
              <a:lnSpc>
                <a:spcPct val="125000"/>
              </a:lnSpc>
            </a:pPr>
            <a:r>
              <a:rPr sz="130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全班累積起來，每天回收桶都有好幾公斤廚餘！</a:t>
            </a:r>
          </a:p>
        </p:txBody>
      </p:sp>
      <p:sp xmlns:a="http://schemas.openxmlformats.org/drawingml/2006/main">
        <p:nvSpPr>
          <p:cNvPr id="17" name="Rounded Rectangle 16"/>
          <p:cNvSpPr/>
          <p:nvPr/>
        </p:nvSpPr>
        <p:spPr>
          <a:xfrm>
            <a:off x="5664200" y="1498600"/>
            <a:ext cx="5867400" cy="1397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F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8" name="Rounded Rectangle 17"/>
          <p:cNvSpPr/>
          <p:nvPr/>
        </p:nvSpPr>
        <p:spPr>
          <a:xfrm>
            <a:off x="5842000" y="1651000"/>
            <a:ext cx="5511800" cy="355600"/>
          </a:xfrm>
          <a:prstGeom prst="roundRect">
            <a:avLst>
              <a:gd name="adj" fmla="val 45000"/>
            </a:avLst>
          </a:prstGeom>
          <a:solidFill>
            <a:srgbClr val="FF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9" name="TextBox 18"/>
          <p:cNvSpPr txBox="1"/>
          <p:nvPr/>
        </p:nvSpPr>
        <p:spPr>
          <a:xfrm>
            <a:off x="5918200" y="1651000"/>
            <a:ext cx="53594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50" b="1">
                <a:solidFill>
                  <a:srgbClr val="B45309"/>
                </a:solidFill>
                <a:latin typeface="Heiti TC"/>
                <a:ea typeface="Heiti TC"/>
                <a:cs typeface="Heiti TC"/>
              </a:rPr>
              <a:t>困擾 ①｜打菜盛飯憑感覺，白飯太快吃飽</a:t>
            </a:r>
          </a:p>
        </p:txBody>
      </p:sp>
      <p:sp xmlns:a="http://schemas.openxmlformats.org/drawingml/2006/main">
        <p:nvSpPr>
          <p:cNvPr id="20" name="TextBox 19"/>
          <p:cNvSpPr txBox="1"/>
          <p:nvPr/>
        </p:nvSpPr>
        <p:spPr>
          <a:xfrm>
            <a:off x="5892800" y="2108200"/>
            <a:ext cx="5410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2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一開始白飯盛太滿，吃到一半肚子已經飽了，結果營養的青菜與主菜反而吃不下。</a:t>
            </a:r>
          </a:p>
        </p:txBody>
      </p:sp>
      <p:sp xmlns:a="http://schemas.openxmlformats.org/drawingml/2006/main">
        <p:nvSpPr>
          <p:cNvPr id="21" name="Rounded Rectangle 20"/>
          <p:cNvSpPr/>
          <p:nvPr/>
        </p:nvSpPr>
        <p:spPr>
          <a:xfrm>
            <a:off x="5664200" y="3048000"/>
            <a:ext cx="5867400" cy="1397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F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2" name="Rounded Rectangle 21"/>
          <p:cNvSpPr/>
          <p:nvPr/>
        </p:nvSpPr>
        <p:spPr>
          <a:xfrm>
            <a:off x="5842000" y="3200400"/>
            <a:ext cx="5511800" cy="355600"/>
          </a:xfrm>
          <a:prstGeom prst="roundRect">
            <a:avLst>
              <a:gd name="adj" fmla="val 45000"/>
            </a:avLst>
          </a:prstGeom>
          <a:solidFill>
            <a:srgbClr val="E6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3" name="TextBox 22"/>
          <p:cNvSpPr txBox="1"/>
          <p:nvPr/>
        </p:nvSpPr>
        <p:spPr>
          <a:xfrm>
            <a:off x="5918200" y="3200400"/>
            <a:ext cx="53594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50" b="1">
                <a:solidFill>
                  <a:srgbClr val="2E7154"/>
                </a:solidFill>
                <a:latin typeface="Heiti TC"/>
                <a:ea typeface="Heiti TC"/>
                <a:cs typeface="Heiti TC"/>
              </a:rPr>
              <a:t>困擾 ②｜遇到陌生菜色不敢試，冷掉更不想吃</a:t>
            </a:r>
          </a:p>
        </p:txBody>
      </p:sp>
      <p:sp xmlns:a="http://schemas.openxmlformats.org/drawingml/2006/main">
        <p:nvSpPr>
          <p:cNvPr id="24" name="TextBox 23"/>
          <p:cNvSpPr txBox="1"/>
          <p:nvPr/>
        </p:nvSpPr>
        <p:spPr>
          <a:xfrm>
            <a:off x="5892800" y="3657600"/>
            <a:ext cx="5410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2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看到沒吃過的蔬菜或苦瓜就跳過，或留到最後冷掉變苦，整格青菜原封不動倒掉。</a:t>
            </a:r>
          </a:p>
        </p:txBody>
      </p:sp>
      <p:sp xmlns:a="http://schemas.openxmlformats.org/drawingml/2006/main">
        <p:nvSpPr>
          <p:cNvPr id="25" name="Rounded Rectangle 24"/>
          <p:cNvSpPr/>
          <p:nvPr/>
        </p:nvSpPr>
        <p:spPr>
          <a:xfrm>
            <a:off x="5664200" y="4597400"/>
            <a:ext cx="5867400" cy="1397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F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6" name="Rounded Rectangle 25"/>
          <p:cNvSpPr/>
          <p:nvPr/>
        </p:nvSpPr>
        <p:spPr>
          <a:xfrm>
            <a:off x="5842000" y="4749800"/>
            <a:ext cx="5511800" cy="355600"/>
          </a:xfrm>
          <a:prstGeom prst="roundRect">
            <a:avLst>
              <a:gd name="adj" fmla="val 45000"/>
            </a:avLst>
          </a:prstGeom>
          <a:solidFill>
            <a:srgbClr val="E6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7" name="TextBox 26"/>
          <p:cNvSpPr txBox="1"/>
          <p:nvPr/>
        </p:nvSpPr>
        <p:spPr>
          <a:xfrm>
            <a:off x="5918200" y="4749800"/>
            <a:ext cx="53594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5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困擾 ③｜缺乏 AI 數據追蹤與個人化吃飯策略</a:t>
            </a:r>
          </a:p>
        </p:txBody>
      </p:sp>
      <p:sp xmlns:a="http://schemas.openxmlformats.org/drawingml/2006/main">
        <p:nvSpPr>
          <p:cNvPr id="28" name="TextBox 27"/>
          <p:cNvSpPr txBox="1"/>
          <p:nvPr/>
        </p:nvSpPr>
        <p:spPr>
          <a:xfrm>
            <a:off x="5892800" y="5207000"/>
            <a:ext cx="5410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2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過去只靠老師口頭提醒「把菜吃完」，沒有計算每格剩幾克，也沒有根據喜好調整菜單。</a:t>
            </a:r>
          </a:p>
        </p:txBody>
      </p:sp>
    </p:spTree>
    <p:extLst>
      <p:ext uri="{BB962C8B-B14F-4D97-AF65-F5344CB8AC3E}">
        <p14:creationId xmlns:p14="http://schemas.microsoft.com/office/powerpoint/2010/main" val="141341710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heading">
            <a:extLst xmlns:a="http://schemas.openxmlformats.org/drawingml/2006/main">
              <a:ext uri="{FF2B5EF4-FFF2-40B4-BE49-F238E27FC236}">
                <a16:creationId xmlns:a16="http://schemas.microsoft.com/office/drawing/2014/main" id="{FC32E0CC-80B9-482B-956A-C737694BB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69596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6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pPr>
            <a:r>
              <a:rPr sz="232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我們的 AI 惜食研究四問：從個人到全校</a:t>
            </a:r>
          </a:p>
        </p:txBody>
      </p:sp>
      <p:sp>
        <p:nvSpPr>
          <p:cNvPr id="2" name="食光偵探  食光追查隊">
            <a:extLst xmlns:a="http://schemas.openxmlformats.org/drawingml/2006/main">
              <a:ext uri="{FF2B5EF4-FFF2-40B4-BE49-F238E27FC236}">
                <a16:creationId xmlns:a16="http://schemas.microsoft.com/office/drawing/2014/main" id="{E6DCEDD0-96DC-4A98-A8C6-F49AB7E7C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食光偵探  食光追查隊</a:t>
            </a:r>
          </a:p>
        </p:txBody>
      </p:sp>
      <p:sp>
        <p:nvSpPr>
          <p:cNvPr id="3" name="03 / 10">
            <a:extLst xmlns:a="http://schemas.openxmlformats.org/drawingml/2006/main">
              <a:ext uri="{FF2B5EF4-FFF2-40B4-BE49-F238E27FC236}">
                <a16:creationId xmlns:a16="http://schemas.microsoft.com/office/drawing/2014/main" id="{7365EB69-229A-4C65-8232-324845471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3890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03 / 11</a:t>
            </a:r>
          </a:p>
        </p:txBody>
      </p:sp>
      <p:sp xmlns:a="http://schemas.openxmlformats.org/drawingml/2006/main">
        <p:nvSpPr>
          <p:cNvPr id="15" name="TextBox 14"/>
          <p:cNvSpPr txBox="1"/>
          <p:nvPr/>
        </p:nvSpPr>
        <p:spPr>
          <a:xfrm>
            <a:off x="7035800" y="825500"/>
            <a:ext cx="44958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300" b="1">
                <a:solidFill>
                  <a:srgbClr val="2E7154"/>
                </a:solidFill>
                <a:latin typeface="Heiti TC"/>
                <a:ea typeface="Heiti TC"/>
                <a:cs typeface="Heiti TC"/>
              </a:rPr>
              <a:t>餐前配餐 ➔ AI 算剩食 ➔ 推薦策略 ➔ 大數據預測</a:t>
            </a:r>
          </a:p>
        </p:txBody>
      </p:sp>
      <p:sp xmlns:a="http://schemas.openxmlformats.org/drawingml/2006/main">
        <p:nvSpPr>
          <p:cNvPr id="16" name="Rounded Rectangle 15"/>
          <p:cNvSpPr/>
          <p:nvPr/>
        </p:nvSpPr>
        <p:spPr>
          <a:xfrm>
            <a:off x="660400" y="1498600"/>
            <a:ext cx="5308600" cy="1676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F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7" name="Rounded Rectangle 16"/>
          <p:cNvSpPr/>
          <p:nvPr/>
        </p:nvSpPr>
        <p:spPr>
          <a:xfrm>
            <a:off x="812800" y="1625600"/>
            <a:ext cx="3124200" cy="304800"/>
          </a:xfrm>
          <a:prstGeom prst="roundRect">
            <a:avLst>
              <a:gd name="adj" fmla="val 45000"/>
            </a:avLst>
          </a:prstGeom>
          <a:solidFill>
            <a:srgbClr val="173E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8" name="TextBox 17"/>
          <p:cNvSpPr txBox="1"/>
          <p:nvPr/>
        </p:nvSpPr>
        <p:spPr>
          <a:xfrm>
            <a:off x="889000" y="1625600"/>
            <a:ext cx="29718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問題 ①｜餐前怎麼配才剛好？</a:t>
            </a:r>
          </a:p>
        </p:txBody>
      </p:sp>
      <p:sp xmlns:a="http://schemas.openxmlformats.org/drawingml/2006/main">
        <p:nvSpPr>
          <p:cNvPr id="19" name="TextBox 18"/>
          <p:cNvSpPr txBox="1"/>
          <p:nvPr/>
        </p:nvSpPr>
        <p:spPr>
          <a:xfrm>
            <a:off x="4013200" y="1676400"/>
            <a:ext cx="18034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1">
                <a:solidFill>
                  <a:srgbClr val="2E7154"/>
                </a:solidFill>
                <a:latin typeface="Heiti TC"/>
                <a:ea typeface="Heiti TC"/>
                <a:cs typeface="Heiti TC"/>
              </a:rPr>
              <a:t>40 天菜單 × 教育部實登</a:t>
            </a:r>
          </a:p>
        </p:txBody>
      </p:sp>
      <p:sp xmlns:a="http://schemas.openxmlformats.org/drawingml/2006/main">
        <p:nvSpPr>
          <p:cNvPr id="20" name="TextBox 19"/>
          <p:cNvSpPr txBox="1"/>
          <p:nvPr/>
        </p:nvSpPr>
        <p:spPr>
          <a:xfrm>
            <a:off x="838200" y="2032000"/>
            <a:ext cx="49530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2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先看今天有哪幾道菜與每餐熱量（707–905 kcal）</a:t>
            </a:r>
          </a:p>
          <a:p>
            <a:pPr algn="l">
              <a:lnSpc>
                <a:spcPct val="120000"/>
              </a:lnSpc>
            </a:pPr>
            <a:r>
              <a:rPr sz="122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依當日食慾選擇「小份／剛好／多些」盛飯比例</a:t>
            </a:r>
          </a:p>
          <a:p>
            <a:pPr algn="l">
              <a:lnSpc>
                <a:spcPct val="120000"/>
              </a:lnSpc>
            </a:pPr>
            <a:r>
              <a:rPr sz="122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對陌生菜色先問 AI「第一口怎麼搭配最好吃」</a:t>
            </a:r>
          </a:p>
        </p:txBody>
      </p:sp>
      <p:sp xmlns:a="http://schemas.openxmlformats.org/drawingml/2006/main">
        <p:nvSpPr>
          <p:cNvPr id="21" name="Rounded Rectangle 20"/>
          <p:cNvSpPr/>
          <p:nvPr/>
        </p:nvSpPr>
        <p:spPr>
          <a:xfrm>
            <a:off x="6223000" y="1498600"/>
            <a:ext cx="5308600" cy="1676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F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2" name="Rounded Rectangle 21"/>
          <p:cNvSpPr/>
          <p:nvPr/>
        </p:nvSpPr>
        <p:spPr>
          <a:xfrm>
            <a:off x="6375400" y="1625600"/>
            <a:ext cx="3124200" cy="304800"/>
          </a:xfrm>
          <a:prstGeom prst="roundRect">
            <a:avLst>
              <a:gd name="adj" fmla="val 45000"/>
            </a:avLst>
          </a:prstGeom>
          <a:solidFill>
            <a:srgbClr val="173E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3" name="TextBox 22"/>
          <p:cNvSpPr txBox="1"/>
          <p:nvPr/>
        </p:nvSpPr>
        <p:spPr>
          <a:xfrm>
            <a:off x="6451600" y="1625600"/>
            <a:ext cx="29718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問題 ②｜餐後各格剩多少公克？</a:t>
            </a:r>
          </a:p>
        </p:txBody>
      </p:sp>
      <p:sp xmlns:a="http://schemas.openxmlformats.org/drawingml/2006/main">
        <p:nvSpPr>
          <p:cNvPr id="24" name="TextBox 23"/>
          <p:cNvSpPr txBox="1"/>
          <p:nvPr/>
        </p:nvSpPr>
        <p:spPr>
          <a:xfrm>
            <a:off x="9575800" y="1676400"/>
            <a:ext cx="18034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1">
                <a:solidFill>
                  <a:srgbClr val="2E7154"/>
                </a:solidFill>
                <a:latin typeface="Heiti TC"/>
                <a:ea typeface="Heiti TC"/>
                <a:cs typeface="Heiti TC"/>
              </a:rPr>
              <a:t>AI 餐盤辨識 × 飽足感</a:t>
            </a:r>
          </a:p>
        </p:txBody>
      </p:sp>
      <p:sp xmlns:a="http://schemas.openxmlformats.org/drawingml/2006/main">
        <p:nvSpPr>
          <p:cNvPr id="25" name="TextBox 24"/>
          <p:cNvSpPr txBox="1"/>
          <p:nvPr/>
        </p:nvSpPr>
        <p:spPr>
          <a:xfrm>
            <a:off x="6400800" y="2032000"/>
            <a:ext cx="49530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2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拍下餐後餐盤，AI 自動算出飯、菜、肉各剩幾克</a:t>
            </a:r>
          </a:p>
          <a:p>
            <a:pPr algn="l">
              <a:lnSpc>
                <a:spcPct val="120000"/>
              </a:lnSpc>
            </a:pPr>
            <a:r>
              <a:rPr sz="122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記錄吃完是「太撐、剛好飽、還是還想再添」</a:t>
            </a:r>
          </a:p>
          <a:p>
            <a:pPr algn="l">
              <a:lnSpc>
                <a:spcPct val="120000"/>
              </a:lnSpc>
            </a:pPr>
            <a:r>
              <a:rPr sz="122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找出剩食真正原因（如先吃白飯太快飽）</a:t>
            </a:r>
          </a:p>
        </p:txBody>
      </p:sp>
      <p:sp xmlns:a="http://schemas.openxmlformats.org/drawingml/2006/main">
        <p:nvSpPr>
          <p:cNvPr id="26" name="Rounded Rectangle 25"/>
          <p:cNvSpPr/>
          <p:nvPr/>
        </p:nvSpPr>
        <p:spPr>
          <a:xfrm>
            <a:off x="660400" y="3327400"/>
            <a:ext cx="5308600" cy="1676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F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7" name="Rounded Rectangle 26"/>
          <p:cNvSpPr/>
          <p:nvPr/>
        </p:nvSpPr>
        <p:spPr>
          <a:xfrm>
            <a:off x="812800" y="3454400"/>
            <a:ext cx="3124200" cy="304800"/>
          </a:xfrm>
          <a:prstGeom prst="roundRect">
            <a:avLst>
              <a:gd name="adj" fmla="val 45000"/>
            </a:avLst>
          </a:prstGeom>
          <a:solidFill>
            <a:srgbClr val="173E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8" name="TextBox 27"/>
          <p:cNvSpPr txBox="1"/>
          <p:nvPr/>
        </p:nvSpPr>
        <p:spPr>
          <a:xfrm>
            <a:off x="889000" y="3454400"/>
            <a:ext cx="29718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問題 ③｜下一餐怎麼吃能減少剩食？</a:t>
            </a:r>
          </a:p>
        </p:txBody>
      </p:sp>
      <p:sp xmlns:a="http://schemas.openxmlformats.org/drawingml/2006/main">
        <p:nvSpPr>
          <p:cNvPr id="29" name="TextBox 28"/>
          <p:cNvSpPr txBox="1"/>
          <p:nvPr/>
        </p:nvSpPr>
        <p:spPr>
          <a:xfrm>
            <a:off x="4013200" y="3505200"/>
            <a:ext cx="18034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1">
                <a:solidFill>
                  <a:srgbClr val="2E7154"/>
                </a:solidFill>
                <a:latin typeface="Heiti TC"/>
                <a:ea typeface="Heiti TC"/>
                <a:cs typeface="Heiti TC"/>
              </a:rPr>
              <a:t>AI 推薦個人化吃飯策略</a:t>
            </a:r>
          </a:p>
        </p:txBody>
      </p:sp>
      <p:sp xmlns:a="http://schemas.openxmlformats.org/drawingml/2006/main">
        <p:nvSpPr>
          <p:cNvPr id="30" name="TextBox 29"/>
          <p:cNvSpPr txBox="1"/>
          <p:nvPr/>
        </p:nvSpPr>
        <p:spPr>
          <a:xfrm>
            <a:off x="838200" y="3860800"/>
            <a:ext cx="49530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2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自動生成具體進食順序（如趁熱先吃 3 口青菜配排骨）</a:t>
            </a:r>
          </a:p>
          <a:p>
            <a:pPr algn="l">
              <a:lnSpc>
                <a:spcPct val="120000"/>
              </a:lnSpc>
            </a:pPr>
            <a:r>
              <a:rPr sz="122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推薦白飯先盛 3/4 碗，吃不夠再去添飯</a:t>
            </a:r>
          </a:p>
          <a:p>
            <a:pPr algn="l">
              <a:lnSpc>
                <a:spcPct val="120000"/>
              </a:lnSpc>
            </a:pPr>
            <a:r>
              <a:rPr sz="122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追蹤兩餐前後對照，驗證剩食減少幅度（162g→14g）</a:t>
            </a:r>
          </a:p>
        </p:txBody>
      </p:sp>
      <p:sp xmlns:a="http://schemas.openxmlformats.org/drawingml/2006/main">
        <p:nvSpPr>
          <p:cNvPr id="31" name="Rounded Rectangle 30"/>
          <p:cNvSpPr/>
          <p:nvPr/>
        </p:nvSpPr>
        <p:spPr>
          <a:xfrm>
            <a:off x="6223000" y="3327400"/>
            <a:ext cx="5308600" cy="1676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F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2" name="Rounded Rectangle 31"/>
          <p:cNvSpPr/>
          <p:nvPr/>
        </p:nvSpPr>
        <p:spPr>
          <a:xfrm>
            <a:off x="6375400" y="3454400"/>
            <a:ext cx="3124200" cy="304800"/>
          </a:xfrm>
          <a:prstGeom prst="roundRect">
            <a:avLst>
              <a:gd name="adj" fmla="val 45000"/>
            </a:avLst>
          </a:prstGeom>
          <a:solidFill>
            <a:srgbClr val="173E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3" name="TextBox 32"/>
          <p:cNvSpPr txBox="1"/>
          <p:nvPr/>
        </p:nvSpPr>
        <p:spPr>
          <a:xfrm>
            <a:off x="6451600" y="3454400"/>
            <a:ext cx="29718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問題 ④｜全班與全校最愛吃什麼口味？</a:t>
            </a:r>
          </a:p>
        </p:txBody>
      </p:sp>
      <p:sp xmlns:a="http://schemas.openxmlformats.org/drawingml/2006/main">
        <p:nvSpPr>
          <p:cNvPr id="34" name="TextBox 33"/>
          <p:cNvSpPr txBox="1"/>
          <p:nvPr/>
        </p:nvSpPr>
        <p:spPr>
          <a:xfrm>
            <a:off x="9575800" y="3505200"/>
            <a:ext cx="18034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1">
                <a:solidFill>
                  <a:srgbClr val="2E7154"/>
                </a:solidFill>
                <a:latin typeface="Heiti TC"/>
                <a:ea typeface="Heiti TC"/>
                <a:cs typeface="Heiti TC"/>
              </a:rPr>
              <a:t>個人→班級→全校大數據</a:t>
            </a:r>
          </a:p>
        </p:txBody>
      </p:sp>
      <p:sp xmlns:a="http://schemas.openxmlformats.org/drawingml/2006/main">
        <p:nvSpPr>
          <p:cNvPr id="35" name="TextBox 34"/>
          <p:cNvSpPr txBox="1"/>
          <p:nvPr/>
        </p:nvSpPr>
        <p:spPr>
          <a:xfrm>
            <a:off x="6400800" y="3860800"/>
            <a:ext cx="49530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2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統計全班各道菜平均剩食量，抓出常剩高風險菜色</a:t>
            </a:r>
          </a:p>
          <a:p>
            <a:pPr algn="l">
              <a:lnSpc>
                <a:spcPct val="120000"/>
              </a:lnSpc>
            </a:pPr>
            <a:r>
              <a:rPr sz="122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結合全校數據預測口味喜好度（如蒜炒、香酥高接受度）</a:t>
            </a:r>
          </a:p>
          <a:p>
            <a:pPr algn="l">
              <a:lnSpc>
                <a:spcPct val="120000"/>
              </a:lnSpc>
            </a:pPr>
            <a:r>
              <a:rPr sz="122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提供營養師與廚房提前調整菜單與備餐量，從源頭惜食！</a:t>
            </a:r>
          </a:p>
        </p:txBody>
      </p:sp>
      <p:sp xmlns:a="http://schemas.openxmlformats.org/drawingml/2006/main">
        <p:nvSpPr>
          <p:cNvPr id="36" name="Rounded Rectangle 35"/>
          <p:cNvSpPr/>
          <p:nvPr/>
        </p:nvSpPr>
        <p:spPr>
          <a:xfrm>
            <a:off x="660400" y="5181600"/>
            <a:ext cx="10871200" cy="812800"/>
          </a:xfrm>
          <a:prstGeom prst="roundRect">
            <a:avLst>
              <a:gd name="adj" fmla="val 10000"/>
            </a:avLst>
          </a:prstGeom>
          <a:solidFill>
            <a:srgbClr val="173E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7" name="TextBox 36"/>
          <p:cNvSpPr txBox="1"/>
          <p:nvPr/>
        </p:nvSpPr>
        <p:spPr>
          <a:xfrm>
            <a:off x="863600" y="5181600"/>
            <a:ext cx="10464800" cy="812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4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核心研究目標：用 AI 智慧判斷剩食並自動推薦吃飯策略，再累積個人、班級到全校大數據，從源頭預防剩食！</a:t>
            </a:r>
          </a:p>
        </p:txBody>
      </p:sp>
    </p:spTree>
    <p:extLst>
      <p:ext uri="{BB962C8B-B14F-4D97-AF65-F5344CB8AC3E}">
        <p14:creationId xmlns:p14="http://schemas.microsoft.com/office/powerpoint/2010/main" val="145498078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heading">
            <a:extLst xmlns:a="http://schemas.openxmlformats.org/drawingml/2006/main">
              <a:ext uri="{FF2B5EF4-FFF2-40B4-BE49-F238E27FC236}">
                <a16:creationId xmlns:a16="http://schemas.microsoft.com/office/drawing/2014/main" id="{BC62A438-599B-4630-ABDE-800099CA6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69596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6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pPr>
            <a:r>
              <a:rPr sz="232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學校 9–10 月菜單 × 教育部食材平臺串接</a:t>
            </a:r>
          </a:p>
        </p:txBody>
      </p:sp>
      <p:sp>
        <p:nvSpPr>
          <p:cNvPr id="2" name="食光偵探  食光追查隊">
            <a:extLst xmlns:a="http://schemas.openxmlformats.org/drawingml/2006/main">
              <a:ext uri="{FF2B5EF4-FFF2-40B4-BE49-F238E27FC236}">
                <a16:creationId xmlns:a16="http://schemas.microsoft.com/office/drawing/2014/main" id="{332B27C3-520B-48C6-9238-EBB7DD033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食光偵探  食光追查隊</a:t>
            </a:r>
          </a:p>
        </p:txBody>
      </p:sp>
      <p:sp>
        <p:nvSpPr>
          <p:cNvPr id="3" name="04 / 10">
            <a:extLst xmlns:a="http://schemas.openxmlformats.org/drawingml/2006/main">
              <a:ext uri="{FF2B5EF4-FFF2-40B4-BE49-F238E27FC236}">
                <a16:creationId xmlns:a16="http://schemas.microsoft.com/office/drawing/2014/main" id="{3C177019-AB70-4D30-9136-672D668E6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3890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04 / 11</a:t>
            </a:r>
          </a:p>
        </p:txBody>
      </p:sp>
      <p:sp xmlns:a="http://schemas.openxmlformats.org/drawingml/2006/main">
        <p:nvSpPr>
          <p:cNvPr id="11" name="TextBox 10"/>
          <p:cNvSpPr txBox="1"/>
          <p:nvPr/>
        </p:nvSpPr>
        <p:spPr>
          <a:xfrm>
            <a:off x="7035800" y="825500"/>
            <a:ext cx="44958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300" b="1">
                <a:solidFill>
                  <a:srgbClr val="2E7154"/>
                </a:solidFill>
                <a:latin typeface="Heiti TC"/>
                <a:ea typeface="Heiti TC"/>
                <a:cs typeface="Heiti TC"/>
              </a:rPr>
              <a:t>40 天公告菜單 × 23 天官方實登熱量與重量</a:t>
            </a:r>
          </a:p>
        </p:txBody>
      </p:sp>
      <p:pic xmlns:a="http://schemas.openxmlformats.org/drawingml/2006/main" xmlns:r="http://schemas.openxmlformats.org/officeDocument/2006/relationships">
        <p:nvPicPr>
          <p:cNvPr id="12" name="Picture 11" descr="image.png"/>
          <p:cNvPicPr>
            <a:picLocks noChangeAspect="1"/>
          </p:cNvPicPr>
          <p:nvPr/>
        </p:nvPicPr>
        <p:blipFill>
          <a:blip r:embed="R85810d39844a4a9c"/>
          <a:stretch>
            <a:fillRect/>
          </a:stretch>
        </p:blipFill>
        <p:spPr>
          <a:xfrm>
            <a:off x="660399" y="1574485"/>
            <a:ext cx="3073400" cy="4344028"/>
          </a:xfrm>
          <a:prstGeom prst="rect">
            <a:avLst/>
          </a:prstGeom>
          <a:ln w="12700">
            <a:solidFill>
              <a:srgbClr val="CFE5D8"/>
            </a:solidFill>
          </a:ln>
        </p:spPr>
      </p:pic>
      <p:pic xmlns:a="http://schemas.openxmlformats.org/drawingml/2006/main" xmlns:r="http://schemas.openxmlformats.org/officeDocument/2006/relationships">
        <p:nvPicPr>
          <p:cNvPr id="13" name="Picture 12" descr="image.png"/>
          <p:cNvPicPr>
            <a:picLocks noChangeAspect="1"/>
          </p:cNvPicPr>
          <p:nvPr/>
        </p:nvPicPr>
        <p:blipFill>
          <a:blip r:embed="R6ac731b1bc04491b"/>
          <a:stretch>
            <a:fillRect/>
          </a:stretch>
        </p:blipFill>
        <p:spPr>
          <a:xfrm>
            <a:off x="3911600" y="1574485"/>
            <a:ext cx="3073400" cy="4344028"/>
          </a:xfrm>
          <a:prstGeom prst="rect">
            <a:avLst/>
          </a:prstGeom>
          <a:ln w="12700">
            <a:solidFill>
              <a:srgbClr val="CFE5D8"/>
            </a:solidFill>
          </a:ln>
        </p:spPr>
      </p:pic>
      <p:sp xmlns:a="http://schemas.openxmlformats.org/drawingml/2006/main">
        <p:nvSpPr>
          <p:cNvPr id="14" name="Rounded Rectangle 13"/>
          <p:cNvSpPr/>
          <p:nvPr/>
        </p:nvSpPr>
        <p:spPr>
          <a:xfrm>
            <a:off x="7188200" y="1498600"/>
            <a:ext cx="4343400" cy="2133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F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5" name="Rounded Rectangle 14"/>
          <p:cNvSpPr/>
          <p:nvPr/>
        </p:nvSpPr>
        <p:spPr>
          <a:xfrm>
            <a:off x="7366000" y="1651000"/>
            <a:ext cx="3987800" cy="330200"/>
          </a:xfrm>
          <a:prstGeom prst="roundRect">
            <a:avLst>
              <a:gd name="adj" fmla="val 45000"/>
            </a:avLst>
          </a:prstGeom>
          <a:solidFill>
            <a:srgbClr val="173E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6" name="TextBox 15"/>
          <p:cNvSpPr txBox="1"/>
          <p:nvPr/>
        </p:nvSpPr>
        <p:spPr>
          <a:xfrm>
            <a:off x="7442200" y="1651000"/>
            <a:ext cx="38354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資料層 ①｜40 天學校公告菜單全建檔</a:t>
            </a:r>
          </a:p>
        </p:txBody>
      </p:sp>
      <p:sp xmlns:a="http://schemas.openxmlformats.org/drawingml/2006/main">
        <p:nvSpPr>
          <p:cNvPr id="17" name="Rounded Rectangle 16"/>
          <p:cNvSpPr/>
          <p:nvPr/>
        </p:nvSpPr>
        <p:spPr>
          <a:xfrm>
            <a:off x="7366000" y="2082800"/>
            <a:ext cx="3987800" cy="660400"/>
          </a:xfrm>
          <a:prstGeom prst="roundRect">
            <a:avLst>
              <a:gd name="adj" fmla="val 8000"/>
            </a:avLst>
          </a:prstGeom>
          <a:solidFill>
            <a:srgbClr val="E6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8" name="TextBox 17"/>
          <p:cNvSpPr txBox="1"/>
          <p:nvPr/>
        </p:nvSpPr>
        <p:spPr>
          <a:xfrm>
            <a:off x="7467600" y="2133600"/>
            <a:ext cx="37846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📅 10/16 菜單範例：糙米飯、香酥魚排（旗魚 80g）、</a:t>
            </a:r>
          </a:p>
          <a:p>
            <a:pPr algn="l">
              <a:lnSpc>
                <a:spcPct val="120000"/>
              </a:lnSpc>
            </a:pPr>
            <a:r>
              <a:rPr sz="115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鐵板豬柳、香菇高麗菜、有機蔬菜、蔬菜魚丸湯</a:t>
            </a:r>
          </a:p>
        </p:txBody>
      </p:sp>
      <p:sp xmlns:a="http://schemas.openxmlformats.org/drawingml/2006/main">
        <p:nvSpPr>
          <p:cNvPr id="19" name="TextBox 18"/>
          <p:cNvSpPr txBox="1"/>
          <p:nvPr/>
        </p:nvSpPr>
        <p:spPr>
          <a:xfrm>
            <a:off x="7366000" y="2844800"/>
            <a:ext cx="3987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2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完整收錄 9、10 月每日主食、主菜、副菜與湯品</a:t>
            </a:r>
          </a:p>
          <a:p>
            <a:pPr algn="l">
              <a:lnSpc>
                <a:spcPct val="120000"/>
              </a:lnSpc>
            </a:pPr>
            <a:r>
              <a:rPr sz="122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餐前打開平板即可查看今日菜色與烹調方式</a:t>
            </a:r>
          </a:p>
        </p:txBody>
      </p:sp>
      <p:sp xmlns:a="http://schemas.openxmlformats.org/drawingml/2006/main">
        <p:nvSpPr>
          <p:cNvPr id="20" name="Rounded Rectangle 19"/>
          <p:cNvSpPr/>
          <p:nvPr/>
        </p:nvSpPr>
        <p:spPr>
          <a:xfrm>
            <a:off x="7188200" y="3784600"/>
            <a:ext cx="4343400" cy="2209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2E71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1" name="Rounded Rectangle 20"/>
          <p:cNvSpPr/>
          <p:nvPr/>
        </p:nvSpPr>
        <p:spPr>
          <a:xfrm>
            <a:off x="7366000" y="3937000"/>
            <a:ext cx="3987800" cy="330200"/>
          </a:xfrm>
          <a:prstGeom prst="roundRect">
            <a:avLst>
              <a:gd name="adj" fmla="val 45000"/>
            </a:avLst>
          </a:prstGeom>
          <a:solidFill>
            <a:srgbClr val="2E7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2" name="TextBox 21"/>
          <p:cNvSpPr txBox="1"/>
          <p:nvPr/>
        </p:nvSpPr>
        <p:spPr>
          <a:xfrm>
            <a:off x="7442200" y="3937000"/>
            <a:ext cx="38354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資料層 ②｜教育部食材登錄平臺 23 天實登</a:t>
            </a:r>
          </a:p>
        </p:txBody>
      </p:sp>
      <p:pic xmlns:a="http://schemas.openxmlformats.org/drawingml/2006/main" xmlns:r="http://schemas.openxmlformats.org/officeDocument/2006/relationships">
        <p:nvPicPr>
          <p:cNvPr id="23" name="Picture 22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66000" y="4368800"/>
            <a:ext cx="1473200" cy="1447800"/>
          </a:xfrm>
          <a:prstGeom prst="rect">
            <a:avLst/>
          </a:prstGeom>
          <a:ln w="12700">
            <a:solidFill>
              <a:srgbClr val="CFE5D8"/>
            </a:solidFill>
          </a:ln>
        </p:spPr>
      </p:pic>
      <p:sp xmlns:a="http://schemas.openxmlformats.org/drawingml/2006/main">
        <p:nvSpPr>
          <p:cNvPr id="24" name="TextBox 23"/>
          <p:cNvSpPr txBox="1"/>
          <p:nvPr/>
        </p:nvSpPr>
        <p:spPr>
          <a:xfrm>
            <a:off x="8966200" y="4368800"/>
            <a:ext cx="2413000" cy="149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官方實登每餐 707～905 大卡</a:t>
            </a:r>
          </a:p>
          <a:p>
            <a:pPr algn="l">
              <a:lnSpc>
                <a:spcPct val="120000"/>
              </a:lnSpc>
            </a:pPr>
            <a:r>
              <a:rPr sz="120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135 道真實供餐菜色照片對照</a:t>
            </a:r>
          </a:p>
          <a:p>
            <a:pPr algn="l">
              <a:lnSpc>
                <a:spcPct val="120000"/>
              </a:lnSpc>
            </a:pPr>
            <a:r>
              <a:rPr sz="120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638 筆 CAS／產銷履歷食材進貨總重（kg）</a:t>
            </a:r>
          </a:p>
          <a:p>
            <a:pPr algn="l">
              <a:lnSpc>
                <a:spcPct val="120000"/>
              </a:lnSpc>
            </a:pPr>
            <a:r>
              <a:rPr sz="120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作為 AI 估算與全校營養參照基準！</a:t>
            </a:r>
          </a:p>
        </p:txBody>
      </p:sp>
    </p:spTree>
    <p:extLst>
      <p:ext uri="{BB962C8B-B14F-4D97-AF65-F5344CB8AC3E}">
        <p14:creationId xmlns:p14="http://schemas.microsoft.com/office/powerpoint/2010/main" val="91231216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heading">
            <a:extLst xmlns:a="http://schemas.openxmlformats.org/drawingml/2006/main">
              <a:ext uri="{FF2B5EF4-FFF2-40B4-BE49-F238E27FC236}">
                <a16:creationId xmlns:a16="http://schemas.microsoft.com/office/drawing/2014/main" id="{ED7A6367-A044-4422-AC34-75633C0A8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69596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6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pPr>
            <a:r>
              <a:rPr sz="232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餐前問 AI：先看菜色組成與第一口搭配策略</a:t>
            </a:r>
          </a:p>
        </p:txBody>
      </p:sp>
      <p:sp>
        <p:nvSpPr>
          <p:cNvPr id="2" name="食光偵探  食光追查隊">
            <a:extLst xmlns:a="http://schemas.openxmlformats.org/drawingml/2006/main">
              <a:ext uri="{FF2B5EF4-FFF2-40B4-BE49-F238E27FC236}">
                <a16:creationId xmlns:a16="http://schemas.microsoft.com/office/drawing/2014/main" id="{003F7F87-4FDF-4F82-84ED-BE27E4E74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食光偵探  食光追查隊</a:t>
            </a:r>
          </a:p>
        </p:txBody>
      </p:sp>
      <p:sp>
        <p:nvSpPr>
          <p:cNvPr id="3" name="05 / 10">
            <a:extLst xmlns:a="http://schemas.openxmlformats.org/drawingml/2006/main">
              <a:ext uri="{FF2B5EF4-FFF2-40B4-BE49-F238E27FC236}">
                <a16:creationId xmlns:a16="http://schemas.microsoft.com/office/drawing/2014/main" id="{572864A1-E983-4353-8D38-EC70EF810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3890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05 / 11</a:t>
            </a:r>
          </a:p>
        </p:txBody>
      </p:sp>
      <p:sp xmlns:a="http://schemas.openxmlformats.org/drawingml/2006/main">
        <p:nvSpPr>
          <p:cNvPr id="10" name="TextBox 9"/>
          <p:cNvSpPr txBox="1"/>
          <p:nvPr/>
        </p:nvSpPr>
        <p:spPr>
          <a:xfrm>
            <a:off x="7035800" y="825500"/>
            <a:ext cx="44958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300" b="1">
                <a:solidFill>
                  <a:srgbClr val="2E7154"/>
                </a:solidFill>
                <a:latin typeface="Heiti TC"/>
                <a:ea typeface="Heiti TC"/>
                <a:cs typeface="Heiti TC"/>
              </a:rPr>
              <a:t>針對不熟或不敢吃的菜，AI 推薦容易入口的搭配法</a:t>
            </a:r>
          </a:p>
        </p:txBody>
      </p:sp>
      <p:sp xmlns:a="http://schemas.openxmlformats.org/drawingml/2006/main">
        <p:nvSpPr>
          <p:cNvPr id="11" name="Rounded Rectangle 10"/>
          <p:cNvSpPr/>
          <p:nvPr/>
        </p:nvSpPr>
        <p:spPr>
          <a:xfrm>
            <a:off x="660400" y="1498600"/>
            <a:ext cx="6807200" cy="4495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F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 xmlns:a="http://schemas.openxmlformats.org/drawingml/2006/main" xmlns:r="http://schemas.openxmlformats.org/officeDocument/2006/relationships"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1947649"/>
            <a:ext cx="6604000" cy="3597701"/>
          </a:xfrm>
          <a:prstGeom prst="rect">
            <a:avLst/>
          </a:prstGeom>
        </p:spPr>
      </p:pic>
      <p:sp xmlns:a="http://schemas.openxmlformats.org/drawingml/2006/main">
        <p:nvSpPr>
          <p:cNvPr id="13" name="Rounded Rectangle 12"/>
          <p:cNvSpPr/>
          <p:nvPr/>
        </p:nvSpPr>
        <p:spPr>
          <a:xfrm>
            <a:off x="7670800" y="1498600"/>
            <a:ext cx="3860800" cy="1397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F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4" name="Rounded Rectangle 13"/>
          <p:cNvSpPr/>
          <p:nvPr/>
        </p:nvSpPr>
        <p:spPr>
          <a:xfrm>
            <a:off x="7823200" y="1651000"/>
            <a:ext cx="3556000" cy="330200"/>
          </a:xfrm>
          <a:prstGeom prst="roundRect">
            <a:avLst>
              <a:gd name="adj" fmla="val 45000"/>
            </a:avLst>
          </a:prstGeom>
          <a:solidFill>
            <a:srgbClr val="173E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5" name="TextBox 14"/>
          <p:cNvSpPr txBox="1"/>
          <p:nvPr/>
        </p:nvSpPr>
        <p:spPr>
          <a:xfrm>
            <a:off x="7899400" y="1651000"/>
            <a:ext cx="34036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STEP 1｜點選今日菜單上的菜色</a:t>
            </a:r>
          </a:p>
        </p:txBody>
      </p:sp>
      <p:sp xmlns:a="http://schemas.openxmlformats.org/drawingml/2006/main">
        <p:nvSpPr>
          <p:cNvPr id="16" name="TextBox 15"/>
          <p:cNvSpPr txBox="1"/>
          <p:nvPr/>
        </p:nvSpPr>
        <p:spPr>
          <a:xfrm>
            <a:off x="7848600" y="2082800"/>
            <a:ext cx="3505200" cy="71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點一下今天想了解或平常比較少吃的菜（例如：香酥魚排、鐵板豬柳、香菇高麗菜）。</a:t>
            </a:r>
          </a:p>
        </p:txBody>
      </p:sp>
      <p:sp xmlns:a="http://schemas.openxmlformats.org/drawingml/2006/main">
        <p:nvSpPr>
          <p:cNvPr id="17" name="Rounded Rectangle 16"/>
          <p:cNvSpPr/>
          <p:nvPr/>
        </p:nvSpPr>
        <p:spPr>
          <a:xfrm>
            <a:off x="7670800" y="3048000"/>
            <a:ext cx="3860800" cy="1397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F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8" name="Rounded Rectangle 17"/>
          <p:cNvSpPr/>
          <p:nvPr/>
        </p:nvSpPr>
        <p:spPr>
          <a:xfrm>
            <a:off x="7823200" y="3200400"/>
            <a:ext cx="3556000" cy="330200"/>
          </a:xfrm>
          <a:prstGeom prst="roundRect">
            <a:avLst>
              <a:gd name="adj" fmla="val 45000"/>
            </a:avLst>
          </a:prstGeom>
          <a:solidFill>
            <a:srgbClr val="2E7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9" name="TextBox 18"/>
          <p:cNvSpPr txBox="1"/>
          <p:nvPr/>
        </p:nvSpPr>
        <p:spPr>
          <a:xfrm>
            <a:off x="7899400" y="3200400"/>
            <a:ext cx="34036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STEP 2｜AI 自動推薦「第一口吃法」</a:t>
            </a:r>
          </a:p>
        </p:txBody>
      </p:sp>
      <p:sp xmlns:a="http://schemas.openxmlformats.org/drawingml/2006/main">
        <p:nvSpPr>
          <p:cNvPr id="20" name="TextBox 19"/>
          <p:cNvSpPr txBox="1"/>
          <p:nvPr/>
        </p:nvSpPr>
        <p:spPr>
          <a:xfrm>
            <a:off x="7848600" y="3632200"/>
            <a:ext cx="3505200" cy="71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AI 建議：「先夾一小塊香酥魚排試味道，再配一口香菇高麗菜或鐵板豬柳一起吃，口感更順口！」</a:t>
            </a:r>
          </a:p>
        </p:txBody>
      </p:sp>
      <p:sp xmlns:a="http://schemas.openxmlformats.org/drawingml/2006/main">
        <p:nvSpPr>
          <p:cNvPr id="21" name="Rounded Rectangle 20"/>
          <p:cNvSpPr/>
          <p:nvPr/>
        </p:nvSpPr>
        <p:spPr>
          <a:xfrm>
            <a:off x="7670800" y="4597400"/>
            <a:ext cx="3860800" cy="1397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F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2" name="Rounded Rectangle 21"/>
          <p:cNvSpPr/>
          <p:nvPr/>
        </p:nvSpPr>
        <p:spPr>
          <a:xfrm>
            <a:off x="7823200" y="4749800"/>
            <a:ext cx="3556000" cy="330200"/>
          </a:xfrm>
          <a:prstGeom prst="roundRect">
            <a:avLst>
              <a:gd name="adj" fmla="val 45000"/>
            </a:avLst>
          </a:prstGeom>
          <a:solidFill>
            <a:srgbClr val="173E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3" name="TextBox 22"/>
          <p:cNvSpPr txBox="1"/>
          <p:nvPr/>
        </p:nvSpPr>
        <p:spPr>
          <a:xfrm>
            <a:off x="7899400" y="4749800"/>
            <a:ext cx="34036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STEP 3｜一鍵帶著策略去拍餐盤</a:t>
            </a:r>
          </a:p>
        </p:txBody>
      </p:sp>
      <p:sp xmlns:a="http://schemas.openxmlformats.org/drawingml/2006/main">
        <p:nvSpPr>
          <p:cNvPr id="24" name="TextBox 23"/>
          <p:cNvSpPr txBox="1"/>
          <p:nvPr/>
        </p:nvSpPr>
        <p:spPr>
          <a:xfrm>
            <a:off x="7848600" y="5181600"/>
            <a:ext cx="3505200" cy="71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把餐前配餐小計畫存進平板，打菜與用餐後直接對照實際餐盤剩食變化！</a:t>
            </a:r>
          </a:p>
        </p:txBody>
      </p:sp>
    </p:spTree>
    <p:extLst>
      <p:ext uri="{BB962C8B-B14F-4D97-AF65-F5344CB8AC3E}">
        <p14:creationId xmlns:p14="http://schemas.microsoft.com/office/powerpoint/2010/main" val="32678295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heading">
            <a:extLst xmlns:a="http://schemas.openxmlformats.org/drawingml/2006/main">
              <a:ext uri="{FF2B5EF4-FFF2-40B4-BE49-F238E27FC236}">
                <a16:creationId xmlns:a16="http://schemas.microsoft.com/office/drawing/2014/main" id="{0DC08278-B853-4947-8D32-B2CBCE958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69596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6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pPr>
            <a:r>
              <a:rPr sz="232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餐前份量策略：依食慾選份量，保留添飯彈性</a:t>
            </a:r>
          </a:p>
        </p:txBody>
      </p:sp>
      <p:sp>
        <p:nvSpPr>
          <p:cNvPr id="2" name="食光偵探  食光追查隊">
            <a:extLst xmlns:a="http://schemas.openxmlformats.org/drawingml/2006/main">
              <a:ext uri="{FF2B5EF4-FFF2-40B4-BE49-F238E27FC236}">
                <a16:creationId xmlns:a16="http://schemas.microsoft.com/office/drawing/2014/main" id="{DD9927EC-4C36-4300-BFF0-1AABB5916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食光偵探  食光追查隊</a:t>
            </a:r>
          </a:p>
        </p:txBody>
      </p:sp>
      <p:sp>
        <p:nvSpPr>
          <p:cNvPr id="3" name="07 / 10">
            <a:extLst xmlns:a="http://schemas.openxmlformats.org/drawingml/2006/main">
              <a:ext uri="{FF2B5EF4-FFF2-40B4-BE49-F238E27FC236}">
                <a16:creationId xmlns:a16="http://schemas.microsoft.com/office/drawing/2014/main" id="{C5CF73DF-F835-4E5A-B8F7-ACAA55F69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3890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06 / 11</a:t>
            </a:r>
          </a:p>
        </p:txBody>
      </p:sp>
      <p:sp xmlns:a="http://schemas.openxmlformats.org/drawingml/2006/main">
        <p:nvSpPr>
          <p:cNvPr id="12" name="TextBox 11"/>
          <p:cNvSpPr txBox="1"/>
          <p:nvPr/>
        </p:nvSpPr>
        <p:spPr>
          <a:xfrm>
            <a:off x="7035800" y="825500"/>
            <a:ext cx="44958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300" b="1">
                <a:solidFill>
                  <a:srgbClr val="2E7154"/>
                </a:solidFill>
                <a:latin typeface="Heiti TC"/>
                <a:ea typeface="Heiti TC"/>
                <a:cs typeface="Heiti TC"/>
              </a:rPr>
              <a:t>先盛剛好不浪費，吃完還餓再添飯</a:t>
            </a:r>
          </a:p>
        </p:txBody>
      </p:sp>
      <p:sp xmlns:a="http://schemas.openxmlformats.org/drawingml/2006/main">
        <p:nvSpPr>
          <p:cNvPr id="13" name="Rounded Rectangle 12"/>
          <p:cNvSpPr/>
          <p:nvPr/>
        </p:nvSpPr>
        <p:spPr>
          <a:xfrm>
            <a:off x="660400" y="1498600"/>
            <a:ext cx="6807200" cy="3632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F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 xmlns:a="http://schemas.openxmlformats.org/drawingml/2006/main" xmlns:r="http://schemas.openxmlformats.org/officeDocument/2006/relationships">
        <p:nvPicPr>
          <p:cNvPr id="14" name="Picture 13" descr="image.jpeg"/>
          <p:cNvPicPr>
            <a:picLocks noChangeAspect="1"/>
          </p:cNvPicPr>
          <p:nvPr/>
        </p:nvPicPr>
        <p:blipFill>
          <a:blip r:embed="Re64d935a824f47f8"/>
          <a:stretch>
            <a:fillRect/>
          </a:stretch>
        </p:blipFill>
        <p:spPr>
          <a:xfrm>
            <a:off x="762000" y="1861820"/>
            <a:ext cx="6604000" cy="2905760"/>
          </a:xfrm>
          <a:prstGeom prst="rect">
            <a:avLst/>
          </a:prstGeom>
        </p:spPr>
      </p:pic>
      <p:sp xmlns:a="http://schemas.openxmlformats.org/drawingml/2006/main">
        <p:nvSpPr>
          <p:cNvPr id="15" name="Rounded Rectangle 14"/>
          <p:cNvSpPr/>
          <p:nvPr/>
        </p:nvSpPr>
        <p:spPr>
          <a:xfrm>
            <a:off x="660400" y="5283200"/>
            <a:ext cx="6807200" cy="711200"/>
          </a:xfrm>
          <a:prstGeom prst="roundRect">
            <a:avLst>
              <a:gd name="adj" fmla="val 8000"/>
            </a:avLst>
          </a:prstGeom>
          <a:solidFill>
            <a:srgbClr val="E6F4EB"/>
          </a:solidFill>
          <a:ln w="12700">
            <a:solidFill>
              <a:srgbClr val="CF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6" name="TextBox 15"/>
          <p:cNvSpPr txBox="1"/>
          <p:nvPr/>
        </p:nvSpPr>
        <p:spPr>
          <a:xfrm>
            <a:off x="838200" y="5283200"/>
            <a:ext cx="6451600" cy="71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2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💡 核心觀念：不比誰吃得多或少，而是找到「吃得飽又不剩食」的黃金比例！</a:t>
            </a:r>
          </a:p>
        </p:txBody>
      </p:sp>
      <p:sp xmlns:a="http://schemas.openxmlformats.org/drawingml/2006/main">
        <p:nvSpPr>
          <p:cNvPr id="17" name="Rounded Rectangle 16"/>
          <p:cNvSpPr/>
          <p:nvPr/>
        </p:nvSpPr>
        <p:spPr>
          <a:xfrm>
            <a:off x="7670800" y="1498600"/>
            <a:ext cx="3860800" cy="1397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F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8" name="Rounded Rectangle 17"/>
          <p:cNvSpPr/>
          <p:nvPr/>
        </p:nvSpPr>
        <p:spPr>
          <a:xfrm>
            <a:off x="7823200" y="1651000"/>
            <a:ext cx="3556000" cy="330200"/>
          </a:xfrm>
          <a:prstGeom prst="roundRect">
            <a:avLst>
              <a:gd name="adj" fmla="val 45000"/>
            </a:avLst>
          </a:prstGeom>
          <a:solidFill>
            <a:srgbClr val="2E7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9" name="TextBox 18"/>
          <p:cNvSpPr txBox="1"/>
          <p:nvPr/>
        </p:nvSpPr>
        <p:spPr>
          <a:xfrm>
            <a:off x="7899400" y="1651000"/>
            <a:ext cx="34036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策略 ①｜三段式盛飯選擇</a:t>
            </a:r>
          </a:p>
        </p:txBody>
      </p:sp>
      <p:sp xmlns:a="http://schemas.openxmlformats.org/drawingml/2006/main">
        <p:nvSpPr>
          <p:cNvPr id="20" name="TextBox 19"/>
          <p:cNvSpPr txBox="1"/>
          <p:nvPr/>
        </p:nvSpPr>
        <p:spPr>
          <a:xfrm>
            <a:off x="7848600" y="2082800"/>
            <a:ext cx="3505200" cy="71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依今天飢餓程度選「先盛小份（3/4 碗）、先盛剛好、先盛多些」，避免白飯一開始就塞滿胃容量。</a:t>
            </a:r>
          </a:p>
        </p:txBody>
      </p:sp>
      <p:sp xmlns:a="http://schemas.openxmlformats.org/drawingml/2006/main">
        <p:nvSpPr>
          <p:cNvPr id="21" name="Rounded Rectangle 20"/>
          <p:cNvSpPr/>
          <p:nvPr/>
        </p:nvSpPr>
        <p:spPr>
          <a:xfrm>
            <a:off x="7670800" y="3048000"/>
            <a:ext cx="3860800" cy="1397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F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2" name="Rounded Rectangle 21"/>
          <p:cNvSpPr/>
          <p:nvPr/>
        </p:nvSpPr>
        <p:spPr>
          <a:xfrm>
            <a:off x="7823200" y="3200400"/>
            <a:ext cx="3556000" cy="330200"/>
          </a:xfrm>
          <a:prstGeom prst="roundRect">
            <a:avLst>
              <a:gd name="adj" fmla="val 45000"/>
            </a:avLst>
          </a:prstGeom>
          <a:solidFill>
            <a:srgbClr val="173E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3" name="TextBox 22"/>
          <p:cNvSpPr txBox="1"/>
          <p:nvPr/>
        </p:nvSpPr>
        <p:spPr>
          <a:xfrm>
            <a:off x="7899400" y="3200400"/>
            <a:ext cx="34036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策略 ②｜選定「第一口先吃的菜」</a:t>
            </a:r>
          </a:p>
        </p:txBody>
      </p:sp>
      <p:sp xmlns:a="http://schemas.openxmlformats.org/drawingml/2006/main">
        <p:nvSpPr>
          <p:cNvPr id="24" name="TextBox 23"/>
          <p:cNvSpPr txBox="1"/>
          <p:nvPr/>
        </p:nvSpPr>
        <p:spPr>
          <a:xfrm>
            <a:off x="7848600" y="3632200"/>
            <a:ext cx="3505200" cy="71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打好菜先趁熱吃 3 口青菜與主菜，趁蔬菜最清脆溫熱時吃完，不留到最後冷掉。</a:t>
            </a:r>
          </a:p>
        </p:txBody>
      </p:sp>
      <p:sp xmlns:a="http://schemas.openxmlformats.org/drawingml/2006/main">
        <p:nvSpPr>
          <p:cNvPr id="25" name="Rounded Rectangle 24"/>
          <p:cNvSpPr/>
          <p:nvPr/>
        </p:nvSpPr>
        <p:spPr>
          <a:xfrm>
            <a:off x="7670800" y="4597400"/>
            <a:ext cx="3860800" cy="1397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F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6" name="Rounded Rectangle 25"/>
          <p:cNvSpPr/>
          <p:nvPr/>
        </p:nvSpPr>
        <p:spPr>
          <a:xfrm>
            <a:off x="7823200" y="4749800"/>
            <a:ext cx="3556000" cy="330200"/>
          </a:xfrm>
          <a:prstGeom prst="roundRect">
            <a:avLst>
              <a:gd name="adj" fmla="val 45000"/>
            </a:avLst>
          </a:prstGeom>
          <a:solidFill>
            <a:srgbClr val="173E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7" name="TextBox 26"/>
          <p:cNvSpPr txBox="1"/>
          <p:nvPr/>
        </p:nvSpPr>
        <p:spPr>
          <a:xfrm>
            <a:off x="7899400" y="4749800"/>
            <a:ext cx="34036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策略 ③｜保留「還餓再添」彈性</a:t>
            </a:r>
          </a:p>
        </p:txBody>
      </p:sp>
      <p:sp xmlns:a="http://schemas.openxmlformats.org/drawingml/2006/main">
        <p:nvSpPr>
          <p:cNvPr id="28" name="TextBox 27"/>
          <p:cNvSpPr txBox="1"/>
          <p:nvPr/>
        </p:nvSpPr>
        <p:spPr>
          <a:xfrm>
            <a:off x="7848600" y="5181600"/>
            <a:ext cx="3505200" cy="71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第一輪把餐盤吃光後如果還餓，再去添第二輪白飯或配菜，達成「零剩食又吃得飽」！</a:t>
            </a:r>
          </a:p>
        </p:txBody>
      </p:sp>
    </p:spTree>
    <p:extLst>
      <p:ext uri="{BB962C8B-B14F-4D97-AF65-F5344CB8AC3E}">
        <p14:creationId xmlns:p14="http://schemas.microsoft.com/office/powerpoint/2010/main" val="193868184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heading">
            <a:extLst xmlns:a="http://schemas.openxmlformats.org/drawingml/2006/main">
              <a:ext uri="{FF2B5EF4-FFF2-40B4-BE49-F238E27FC236}">
                <a16:creationId xmlns:a16="http://schemas.microsoft.com/office/drawing/2014/main" id="{C6E2645D-D021-4095-9426-C01CC287C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69596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6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pPr>
            <a:r>
              <a:rPr sz="232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AI 智慧判斷剩食 × 自動推薦吃飯策略</a:t>
            </a:r>
          </a:p>
        </p:txBody>
      </p:sp>
      <p:sp>
        <p:nvSpPr>
          <p:cNvPr id="2" name="食光偵探  食光追查隊">
            <a:extLst xmlns:a="http://schemas.openxmlformats.org/drawingml/2006/main">
              <a:ext uri="{FF2B5EF4-FFF2-40B4-BE49-F238E27FC236}">
                <a16:creationId xmlns:a16="http://schemas.microsoft.com/office/drawing/2014/main" id="{2C5F4C27-F890-4F87-A752-868EAB2B5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食光偵探  食光追查隊</a:t>
            </a:r>
          </a:p>
        </p:txBody>
      </p:sp>
      <p:sp>
        <p:nvSpPr>
          <p:cNvPr id="3" name="08 / 10">
            <a:extLst xmlns:a="http://schemas.openxmlformats.org/drawingml/2006/main">
              <a:ext uri="{FF2B5EF4-FFF2-40B4-BE49-F238E27FC236}">
                <a16:creationId xmlns:a16="http://schemas.microsoft.com/office/drawing/2014/main" id="{C0A60B15-3919-44EC-9A82-B489B17AE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3890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07 / 11</a:t>
            </a:r>
          </a:p>
        </p:txBody>
      </p:sp>
      <p:sp xmlns:a="http://schemas.openxmlformats.org/drawingml/2006/main">
        <p:nvSpPr>
          <p:cNvPr id="15" name="TextBox 14"/>
          <p:cNvSpPr txBox="1"/>
          <p:nvPr/>
        </p:nvSpPr>
        <p:spPr>
          <a:xfrm>
            <a:off x="7035800" y="825500"/>
            <a:ext cx="44958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300" b="1">
                <a:solidFill>
                  <a:srgbClr val="2E7154"/>
                </a:solidFill>
                <a:latin typeface="Heiti TC"/>
                <a:ea typeface="Heiti TC"/>
                <a:cs typeface="Heiti TC"/>
              </a:rPr>
              <a:t>拍餐盤算克數，自動給你下一餐吃飯方法</a:t>
            </a:r>
          </a:p>
        </p:txBody>
      </p:sp>
      <p:sp xmlns:a="http://schemas.openxmlformats.org/drawingml/2006/main">
        <p:nvSpPr>
          <p:cNvPr id="16" name="Rounded Rectangle 15"/>
          <p:cNvSpPr/>
          <p:nvPr/>
        </p:nvSpPr>
        <p:spPr>
          <a:xfrm>
            <a:off x="660400" y="1549400"/>
            <a:ext cx="5029200" cy="3632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F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7" name="Rounded Rectangle 16"/>
          <p:cNvSpPr/>
          <p:nvPr/>
        </p:nvSpPr>
        <p:spPr>
          <a:xfrm>
            <a:off x="863600" y="1727200"/>
            <a:ext cx="3124200" cy="355600"/>
          </a:xfrm>
          <a:prstGeom prst="roundRect">
            <a:avLst>
              <a:gd name="adj" fmla="val 45000"/>
            </a:avLst>
          </a:prstGeom>
          <a:solidFill>
            <a:srgbClr val="173E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8" name="TextBox 17"/>
          <p:cNvSpPr txBox="1"/>
          <p:nvPr/>
        </p:nvSpPr>
        <p:spPr>
          <a:xfrm>
            <a:off x="939800" y="1727200"/>
            <a:ext cx="29718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STEP 1｜餐後拍照・AI 智慧算剩食</a:t>
            </a:r>
          </a:p>
        </p:txBody>
      </p:sp>
      <p:pic xmlns:a="http://schemas.openxmlformats.org/drawingml/2006/main" xmlns:r="http://schemas.openxmlformats.org/officeDocument/2006/relationships">
        <p:nvPicPr>
          <p:cNvPr id="19" name="Picture 18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600" y="2209800"/>
            <a:ext cx="2184400" cy="1803400"/>
          </a:xfrm>
          <a:prstGeom prst="rect">
            <a:avLst/>
          </a:prstGeom>
          <a:ln w="12700">
            <a:solidFill>
              <a:srgbClr val="CFE5D8"/>
            </a:solidFill>
          </a:ln>
        </p:spPr>
      </p:pic>
      <p:sp xmlns:a="http://schemas.openxmlformats.org/drawingml/2006/main">
        <p:nvSpPr>
          <p:cNvPr id="20" name="TextBox 19"/>
          <p:cNvSpPr txBox="1"/>
          <p:nvPr/>
        </p:nvSpPr>
        <p:spPr>
          <a:xfrm>
            <a:off x="3175000" y="2209800"/>
            <a:ext cx="23368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AI 各格剩食辨識結果</a:t>
            </a:r>
          </a:p>
        </p:txBody>
      </p:sp>
      <p:sp xmlns:a="http://schemas.openxmlformats.org/drawingml/2006/main">
        <p:nvSpPr>
          <p:cNvPr id="21" name="Rounded Rectangle 20"/>
          <p:cNvSpPr/>
          <p:nvPr/>
        </p:nvSpPr>
        <p:spPr>
          <a:xfrm>
            <a:off x="3175000" y="2590800"/>
            <a:ext cx="2260600" cy="355600"/>
          </a:xfrm>
          <a:prstGeom prst="roundRect">
            <a:avLst>
              <a:gd name="adj" fmla="val 45000"/>
            </a:avLst>
          </a:prstGeom>
          <a:solidFill>
            <a:srgbClr val="FF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2" name="TextBox 21"/>
          <p:cNvSpPr txBox="1"/>
          <p:nvPr/>
        </p:nvSpPr>
        <p:spPr>
          <a:xfrm>
            <a:off x="3251200" y="2590800"/>
            <a:ext cx="2108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400" b="1">
                <a:solidFill>
                  <a:srgbClr val="B45309"/>
                </a:solidFill>
                <a:latin typeface="Heiti TC"/>
                <a:ea typeface="Heiti TC"/>
                <a:cs typeface="Heiti TC"/>
              </a:rPr>
              <a:t>餐後剩食合計：162g</a:t>
            </a:r>
          </a:p>
        </p:txBody>
      </p:sp>
      <p:sp xmlns:a="http://schemas.openxmlformats.org/drawingml/2006/main">
        <p:nvSpPr>
          <p:cNvPr id="23" name="TextBox 22"/>
          <p:cNvSpPr txBox="1"/>
          <p:nvPr/>
        </p:nvSpPr>
        <p:spPr>
          <a:xfrm>
            <a:off x="3175000" y="3022600"/>
            <a:ext cx="2362200" cy="1041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青菜格：剩 80g（最多）</a:t>
            </a:r>
          </a:p>
          <a:p>
            <a:pPr algn="l">
              <a:lnSpc>
                <a:spcPct val="120000"/>
              </a:lnSpc>
            </a:pPr>
            <a:r>
              <a:rPr sz="128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滷排骨：剩 72g</a:t>
            </a:r>
          </a:p>
          <a:p>
            <a:pPr algn="l">
              <a:lnSpc>
                <a:spcPct val="120000"/>
              </a:lnSpc>
            </a:pPr>
            <a:r>
              <a:rPr sz="128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白飯格：剩 8g（吃完）</a:t>
            </a:r>
          </a:p>
          <a:p>
            <a:pPr algn="l">
              <a:lnSpc>
                <a:spcPct val="120000"/>
              </a:lnSpc>
            </a:pPr>
            <a:r>
              <a:rPr sz="128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湯品格：剩 2g</a:t>
            </a:r>
          </a:p>
        </p:txBody>
      </p:sp>
      <p:sp xmlns:a="http://schemas.openxmlformats.org/drawingml/2006/main">
        <p:nvSpPr>
          <p:cNvPr id="24" name="Rounded Rectangle 23"/>
          <p:cNvSpPr/>
          <p:nvPr/>
        </p:nvSpPr>
        <p:spPr>
          <a:xfrm>
            <a:off x="863600" y="4165600"/>
            <a:ext cx="4622800" cy="838200"/>
          </a:xfrm>
          <a:prstGeom prst="roundRect">
            <a:avLst>
              <a:gd name="adj" fmla="val 8000"/>
            </a:avLst>
          </a:prstGeom>
          <a:solidFill>
            <a:srgbClr val="E6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5" name="TextBox 24"/>
          <p:cNvSpPr txBox="1"/>
          <p:nvPr/>
        </p:nvSpPr>
        <p:spPr>
          <a:xfrm>
            <a:off x="990600" y="4267200"/>
            <a:ext cx="43688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🔍 AI 原因診斷：先吃白飯容易太快飽，</a:t>
            </a:r>
          </a:p>
          <a:p>
            <a:pPr algn="l">
              <a:lnSpc>
                <a:spcPct val="118000"/>
              </a:lnSpc>
            </a:pPr>
            <a:r>
              <a:rPr sz="135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導致青菜（80g）與排骨（72g）來不及吃完。</a:t>
            </a:r>
          </a:p>
        </p:txBody>
      </p:sp>
      <p:cxnSp xmlns:a="http://schemas.openxmlformats.org/drawingml/2006/main">
        <p:nvCxnSpPr>
          <p:cNvPr id="26" name="Connector 25"/>
          <p:cNvCxnSpPr/>
          <p:nvPr/>
        </p:nvCxnSpPr>
        <p:spPr>
          <a:xfrm>
            <a:off x="5791200" y="3365500"/>
            <a:ext cx="609600" cy="0"/>
          </a:xfrm>
          <a:prstGeom prst="line">
            <a:avLst/>
          </a:prstGeom>
          <a:ln w="38100">
            <a:solidFill>
              <a:srgbClr val="2E715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 xmlns:a="http://schemas.openxmlformats.org/drawingml/2006/main">
        <p:nvSpPr>
          <p:cNvPr id="27" name="Rounded Rectangle 26"/>
          <p:cNvSpPr/>
          <p:nvPr/>
        </p:nvSpPr>
        <p:spPr>
          <a:xfrm>
            <a:off x="6502400" y="1549400"/>
            <a:ext cx="5029200" cy="3632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2E71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8" name="Rounded Rectangle 27"/>
          <p:cNvSpPr/>
          <p:nvPr/>
        </p:nvSpPr>
        <p:spPr>
          <a:xfrm>
            <a:off x="6705600" y="1727200"/>
            <a:ext cx="3403600" cy="355600"/>
          </a:xfrm>
          <a:prstGeom prst="roundRect">
            <a:avLst>
              <a:gd name="adj" fmla="val 45000"/>
            </a:avLst>
          </a:prstGeom>
          <a:solidFill>
            <a:srgbClr val="2E7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9" name="TextBox 28"/>
          <p:cNvSpPr txBox="1"/>
          <p:nvPr/>
        </p:nvSpPr>
        <p:spPr>
          <a:xfrm>
            <a:off x="6781800" y="1727200"/>
            <a:ext cx="3251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STEP 2｜AI 自動推薦下一餐吃飯策略</a:t>
            </a:r>
          </a:p>
        </p:txBody>
      </p:sp>
      <p:pic xmlns:a="http://schemas.openxmlformats.org/drawingml/2006/main" xmlns:r="http://schemas.openxmlformats.org/officeDocument/2006/relationships">
        <p:nvPicPr>
          <p:cNvPr id="30" name="Picture 29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05600" y="2209800"/>
            <a:ext cx="1803400" cy="1803400"/>
          </a:xfrm>
          <a:prstGeom prst="rect">
            <a:avLst/>
          </a:prstGeom>
          <a:ln w="12700">
            <a:solidFill>
              <a:srgbClr val="CFE5D8"/>
            </a:solidFill>
          </a:ln>
        </p:spPr>
      </p:pic>
      <p:sp xmlns:a="http://schemas.openxmlformats.org/drawingml/2006/main">
        <p:nvSpPr>
          <p:cNvPr id="31" name="Rounded Rectangle 30"/>
          <p:cNvSpPr/>
          <p:nvPr/>
        </p:nvSpPr>
        <p:spPr>
          <a:xfrm>
            <a:off x="8636000" y="2209800"/>
            <a:ext cx="2692400" cy="533400"/>
          </a:xfrm>
          <a:prstGeom prst="roundRect">
            <a:avLst>
              <a:gd name="adj" fmla="val 12000"/>
            </a:avLst>
          </a:prstGeom>
          <a:solidFill>
            <a:srgbClr val="E6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2" name="TextBox 31"/>
          <p:cNvSpPr txBox="1"/>
          <p:nvPr/>
        </p:nvSpPr>
        <p:spPr>
          <a:xfrm>
            <a:off x="8763000" y="2247900"/>
            <a:ext cx="2489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策略 1｜白飯先盛 3/4 碗</a:t>
            </a:r>
          </a:p>
        </p:txBody>
      </p:sp>
      <p:sp xmlns:a="http://schemas.openxmlformats.org/drawingml/2006/main">
        <p:nvSpPr>
          <p:cNvPr id="33" name="TextBox 32"/>
          <p:cNvSpPr txBox="1"/>
          <p:nvPr/>
        </p:nvSpPr>
        <p:spPr>
          <a:xfrm>
            <a:off x="8763000" y="2489200"/>
            <a:ext cx="248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預留肚子空間給主菜與蔬菜</a:t>
            </a:r>
          </a:p>
        </p:txBody>
      </p:sp>
      <p:sp xmlns:a="http://schemas.openxmlformats.org/drawingml/2006/main">
        <p:nvSpPr>
          <p:cNvPr id="34" name="Rounded Rectangle 33"/>
          <p:cNvSpPr/>
          <p:nvPr/>
        </p:nvSpPr>
        <p:spPr>
          <a:xfrm>
            <a:off x="8636000" y="2819400"/>
            <a:ext cx="2692400" cy="533400"/>
          </a:xfrm>
          <a:prstGeom prst="roundRect">
            <a:avLst>
              <a:gd name="adj" fmla="val 12000"/>
            </a:avLst>
          </a:prstGeom>
          <a:solidFill>
            <a:srgbClr val="E6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5" name="TextBox 34"/>
          <p:cNvSpPr txBox="1"/>
          <p:nvPr/>
        </p:nvSpPr>
        <p:spPr>
          <a:xfrm>
            <a:off x="8763000" y="2857500"/>
            <a:ext cx="2489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策略 2｜趁熱先吃青菜配排骨</a:t>
            </a:r>
          </a:p>
        </p:txBody>
      </p:sp>
      <p:sp xmlns:a="http://schemas.openxmlformats.org/drawingml/2006/main">
        <p:nvSpPr>
          <p:cNvPr id="36" name="TextBox 35"/>
          <p:cNvSpPr txBox="1"/>
          <p:nvPr/>
        </p:nvSpPr>
        <p:spPr>
          <a:xfrm>
            <a:off x="8763000" y="3098800"/>
            <a:ext cx="248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先吃 3 口青菜＋1 口排骨更順口</a:t>
            </a:r>
          </a:p>
        </p:txBody>
      </p:sp>
      <p:sp xmlns:a="http://schemas.openxmlformats.org/drawingml/2006/main">
        <p:nvSpPr>
          <p:cNvPr id="37" name="Rounded Rectangle 36"/>
          <p:cNvSpPr/>
          <p:nvPr/>
        </p:nvSpPr>
        <p:spPr>
          <a:xfrm>
            <a:off x="8636000" y="3429000"/>
            <a:ext cx="2692400" cy="533400"/>
          </a:xfrm>
          <a:prstGeom prst="roundRect">
            <a:avLst>
              <a:gd name="adj" fmla="val 12000"/>
            </a:avLst>
          </a:prstGeom>
          <a:solidFill>
            <a:srgbClr val="E6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8" name="TextBox 37"/>
          <p:cNvSpPr txBox="1"/>
          <p:nvPr/>
        </p:nvSpPr>
        <p:spPr>
          <a:xfrm>
            <a:off x="8763000" y="3467100"/>
            <a:ext cx="2489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策略 3｜吃不夠再添第二輪</a:t>
            </a:r>
          </a:p>
        </p:txBody>
      </p:sp>
      <p:sp xmlns:a="http://schemas.openxmlformats.org/drawingml/2006/main">
        <p:nvSpPr>
          <p:cNvPr id="39" name="TextBox 38"/>
          <p:cNvSpPr txBox="1"/>
          <p:nvPr/>
        </p:nvSpPr>
        <p:spPr>
          <a:xfrm>
            <a:off x="8763000" y="3708400"/>
            <a:ext cx="248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確保吃得飽、同時減少廚餘！</a:t>
            </a:r>
          </a:p>
        </p:txBody>
      </p:sp>
      <p:sp xmlns:a="http://schemas.openxmlformats.org/drawingml/2006/main">
        <p:nvSpPr>
          <p:cNvPr id="40" name="Rounded Rectangle 39"/>
          <p:cNvSpPr/>
          <p:nvPr/>
        </p:nvSpPr>
        <p:spPr>
          <a:xfrm>
            <a:off x="6705600" y="4165600"/>
            <a:ext cx="4622800" cy="838200"/>
          </a:xfrm>
          <a:prstGeom prst="roundRect">
            <a:avLst>
              <a:gd name="adj" fmla="val 8000"/>
            </a:avLst>
          </a:prstGeom>
          <a:solidFill>
            <a:srgbClr val="173E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41" name="TextBox 40"/>
          <p:cNvSpPr txBox="1"/>
          <p:nvPr/>
        </p:nvSpPr>
        <p:spPr>
          <a:xfrm>
            <a:off x="6832600" y="4267200"/>
            <a:ext cx="43688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2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💡 AI 個人化回饋：結合「餐盤影像辨識」與「飽足感」，</a:t>
            </a:r>
          </a:p>
          <a:p>
            <a:pPr algn="l">
              <a:lnSpc>
                <a:spcPct val="118000"/>
              </a:lnSpc>
            </a:pPr>
            <a:r>
              <a:rPr sz="132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每一餐自動調整最適合你的進食順序與份量！</a:t>
            </a:r>
          </a:p>
        </p:txBody>
      </p:sp>
      <p:sp xmlns:a="http://schemas.openxmlformats.org/drawingml/2006/main">
        <p:nvSpPr>
          <p:cNvPr id="42" name="Rounded Rectangle 41"/>
          <p:cNvSpPr/>
          <p:nvPr/>
        </p:nvSpPr>
        <p:spPr>
          <a:xfrm>
            <a:off x="660400" y="5334000"/>
            <a:ext cx="10871200" cy="685800"/>
          </a:xfrm>
          <a:prstGeom prst="roundRect">
            <a:avLst>
              <a:gd name="adj" fmla="val 15000"/>
            </a:avLst>
          </a:prstGeom>
          <a:solidFill>
            <a:srgbClr val="E6F4EB"/>
          </a:solidFill>
          <a:ln w="12700">
            <a:solidFill>
              <a:srgbClr val="CF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43" name="TextBox 42"/>
          <p:cNvSpPr txBox="1"/>
          <p:nvPr/>
        </p:nvSpPr>
        <p:spPr>
          <a:xfrm>
            <a:off x="889000" y="5334000"/>
            <a:ext cx="104140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AI 閉環流程：餐前看菜單配份量  ➔  餐後拍餐盤 AI 算各格剩食  ➔  自動生成下一餐吃飯策略</a:t>
            </a:r>
          </a:p>
        </p:txBody>
      </p:sp>
    </p:spTree>
    <p:extLst>
      <p:ext uri="{BB962C8B-B14F-4D97-AF65-F5344CB8AC3E}">
        <p14:creationId xmlns:p14="http://schemas.microsoft.com/office/powerpoint/2010/main" val="80508532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lide-heading">
            <a:extLst xmlns:a="http://schemas.openxmlformats.org/drawingml/2006/main">
              <a:ext uri="{FF2B5EF4-FFF2-40B4-BE49-F238E27FC236}">
                <a16:creationId xmlns:a16="http://schemas.microsoft.com/office/drawing/2014/main" id="{38B3ADEB-5212-480C-8A21-ABF8B1F1E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69596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6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pPr>
            <a:r>
              <a:rPr sz="232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真實兩餐對照：AI 策略讓剩食減少 91%</a:t>
            </a:r>
          </a:p>
        </p:txBody>
      </p:sp>
      <p:sp>
        <p:nvSpPr>
          <p:cNvPr id="2" name="食光偵探  食光追查隊">
            <a:extLst xmlns:a="http://schemas.openxmlformats.org/drawingml/2006/main">
              <a:ext uri="{FF2B5EF4-FFF2-40B4-BE49-F238E27FC236}">
                <a16:creationId xmlns:a16="http://schemas.microsoft.com/office/drawing/2014/main" id="{E45DB353-B312-492A-9442-0C3321204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食光偵探  食光追查隊</a:t>
            </a:r>
          </a:p>
        </p:txBody>
      </p:sp>
      <p:sp>
        <p:nvSpPr>
          <p:cNvPr id="3" name="06 / 10">
            <a:extLst xmlns:a="http://schemas.openxmlformats.org/drawingml/2006/main">
              <a:ext uri="{FF2B5EF4-FFF2-40B4-BE49-F238E27FC236}">
                <a16:creationId xmlns:a16="http://schemas.microsoft.com/office/drawing/2014/main" id="{71CA117D-CE7F-4E5D-9F89-DBDA2A002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3890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08 / 11</a:t>
            </a:r>
          </a:p>
        </p:txBody>
      </p:sp>
      <p:sp xmlns:a="http://schemas.openxmlformats.org/drawingml/2006/main">
        <p:nvSpPr>
          <p:cNvPr id="23" name="TextBox 22"/>
          <p:cNvSpPr txBox="1"/>
          <p:nvPr/>
        </p:nvSpPr>
        <p:spPr>
          <a:xfrm>
            <a:off x="7035800" y="825500"/>
            <a:ext cx="44958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300" b="1">
                <a:solidFill>
                  <a:srgbClr val="2E7154"/>
                </a:solidFill>
                <a:latin typeface="Heiti TC"/>
                <a:ea typeface="Heiti TC"/>
                <a:cs typeface="Heiti TC"/>
              </a:rPr>
              <a:t>從剩 162g 降到只剩 14g，吃得飽又不浪費</a:t>
            </a:r>
          </a:p>
        </p:txBody>
      </p:sp>
      <p:sp xmlns:a="http://schemas.openxmlformats.org/drawingml/2006/main">
        <p:nvSpPr>
          <p:cNvPr id="24" name="Rounded Rectangle 23"/>
          <p:cNvSpPr/>
          <p:nvPr/>
        </p:nvSpPr>
        <p:spPr>
          <a:xfrm>
            <a:off x="660400" y="1549400"/>
            <a:ext cx="3505200" cy="3632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5C3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5" name="Rounded Rectangle 24"/>
          <p:cNvSpPr/>
          <p:nvPr/>
        </p:nvSpPr>
        <p:spPr>
          <a:xfrm>
            <a:off x="838200" y="1727200"/>
            <a:ext cx="3149600" cy="355600"/>
          </a:xfrm>
          <a:prstGeom prst="roundRect">
            <a:avLst>
              <a:gd name="adj" fmla="val 45000"/>
            </a:avLst>
          </a:prstGeom>
          <a:solidFill>
            <a:srgbClr val="FF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6" name="TextBox 25"/>
          <p:cNvSpPr txBox="1"/>
          <p:nvPr/>
        </p:nvSpPr>
        <p:spPr>
          <a:xfrm>
            <a:off x="914400" y="1727200"/>
            <a:ext cx="2997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50" b="1">
                <a:solidFill>
                  <a:srgbClr val="B45309"/>
                </a:solidFill>
                <a:latin typeface="Heiti TC"/>
                <a:ea typeface="Heiti TC"/>
                <a:cs typeface="Heiti TC"/>
              </a:rPr>
              <a:t>第 1 餐（未用策略）：剩 162g</a:t>
            </a:r>
          </a:p>
        </p:txBody>
      </p:sp>
      <p:pic xmlns:a="http://schemas.openxmlformats.org/drawingml/2006/main" xmlns:r="http://schemas.openxmlformats.org/officeDocument/2006/relationships">
        <p:nvPicPr>
          <p:cNvPr id="27" name="Picture 26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8200" y="2184400"/>
            <a:ext cx="3149600" cy="1803400"/>
          </a:xfrm>
          <a:prstGeom prst="rect">
            <a:avLst/>
          </a:prstGeom>
          <a:ln w="12700">
            <a:solidFill>
              <a:srgbClr val="E5C3A6"/>
            </a:solidFill>
          </a:ln>
        </p:spPr>
      </p:pic>
      <p:sp xmlns:a="http://schemas.openxmlformats.org/drawingml/2006/main">
        <p:nvSpPr>
          <p:cNvPr id="28" name="TextBox 27"/>
          <p:cNvSpPr txBox="1"/>
          <p:nvPr/>
        </p:nvSpPr>
        <p:spPr>
          <a:xfrm>
            <a:off x="863600" y="4089400"/>
            <a:ext cx="3098800" cy="990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餐前盛約 430g，先大口吃白飯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結果：青菜剩 80g、滷排骨剩 72g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餐後感受：肚子太撐，菜卻沒吃完</a:t>
            </a:r>
          </a:p>
        </p:txBody>
      </p:sp>
      <p:sp xmlns:a="http://schemas.openxmlformats.org/drawingml/2006/main">
        <p:nvSpPr>
          <p:cNvPr id="29" name="Rounded Rectangle 28"/>
          <p:cNvSpPr/>
          <p:nvPr/>
        </p:nvSpPr>
        <p:spPr>
          <a:xfrm>
            <a:off x="4419600" y="1549400"/>
            <a:ext cx="3352800" cy="3632200"/>
          </a:xfrm>
          <a:prstGeom prst="roundRect">
            <a:avLst>
              <a:gd name="adj" fmla="val 6000"/>
            </a:avLst>
          </a:prstGeom>
          <a:solidFill>
            <a:srgbClr val="173E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0" name="Rounded Rectangle 29"/>
          <p:cNvSpPr/>
          <p:nvPr/>
        </p:nvSpPr>
        <p:spPr>
          <a:xfrm>
            <a:off x="4699000" y="1752600"/>
            <a:ext cx="2794000" cy="355600"/>
          </a:xfrm>
          <a:prstGeom prst="roundRect">
            <a:avLst>
              <a:gd name="adj" fmla="val 45000"/>
            </a:avLst>
          </a:prstGeom>
          <a:solidFill>
            <a:srgbClr val="2E7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1" name="TextBox 30"/>
          <p:cNvSpPr txBox="1"/>
          <p:nvPr/>
        </p:nvSpPr>
        <p:spPr>
          <a:xfrm>
            <a:off x="4775200" y="1752600"/>
            <a:ext cx="26416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AI 自動推薦吃飯策略</a:t>
            </a:r>
          </a:p>
        </p:txBody>
      </p:sp>
      <p:sp xmlns:a="http://schemas.openxmlformats.org/drawingml/2006/main">
        <p:nvSpPr>
          <p:cNvPr id="32" name="TextBox 31"/>
          <p:cNvSpPr txBox="1"/>
          <p:nvPr/>
        </p:nvSpPr>
        <p:spPr>
          <a:xfrm>
            <a:off x="4648200" y="2260600"/>
            <a:ext cx="2895600" cy="116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① 白飯先盛 3/4 碗（剛好飽）</a:t>
            </a:r>
          </a:p>
          <a:p>
            <a:pPr algn="l">
              <a:lnSpc>
                <a:spcPct val="132000"/>
              </a:lnSpc>
            </a:pPr>
            <a:r>
              <a:rPr sz="13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② 趁熱先吃 3 口青菜配主菜</a:t>
            </a:r>
          </a:p>
          <a:p>
            <a:pPr algn="l">
              <a:lnSpc>
                <a:spcPct val="132000"/>
              </a:lnSpc>
            </a:pPr>
            <a:r>
              <a:rPr sz="13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③ 吃完還餓再去添飯或加菜</a:t>
            </a:r>
          </a:p>
        </p:txBody>
      </p:sp>
      <p:sp xmlns:a="http://schemas.openxmlformats.org/drawingml/2006/main">
        <p:nvSpPr>
          <p:cNvPr id="33" name="Rounded Rectangle 32"/>
          <p:cNvSpPr/>
          <p:nvPr/>
        </p:nvSpPr>
        <p:spPr>
          <a:xfrm>
            <a:off x="4648200" y="3581400"/>
            <a:ext cx="2895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4" name="TextBox 33"/>
          <p:cNvSpPr txBox="1"/>
          <p:nvPr/>
        </p:nvSpPr>
        <p:spPr>
          <a:xfrm>
            <a:off x="4699000" y="3683000"/>
            <a:ext cx="279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800" b="1">
                <a:solidFill>
                  <a:srgbClr val="2E7154"/>
                </a:solidFill>
                <a:latin typeface="Heiti TC"/>
                <a:ea typeface="Heiti TC"/>
                <a:cs typeface="Heiti TC"/>
              </a:rPr>
              <a:t>162g ➔ 14g</a:t>
            </a:r>
          </a:p>
        </p:txBody>
      </p:sp>
      <p:sp xmlns:a="http://schemas.openxmlformats.org/drawingml/2006/main">
        <p:nvSpPr>
          <p:cNvPr id="35" name="TextBox 34"/>
          <p:cNvSpPr txBox="1"/>
          <p:nvPr/>
        </p:nvSpPr>
        <p:spPr>
          <a:xfrm>
            <a:off x="4699000" y="4292600"/>
            <a:ext cx="2794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35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減少 91% 剩食！</a:t>
            </a:r>
          </a:p>
          <a:p>
            <a:pPr algn="ctr">
              <a:lnSpc>
                <a:spcPct val="118000"/>
              </a:lnSpc>
            </a:pPr>
            <a:r>
              <a:rPr sz="135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每餐少浪費 148g 食物</a:t>
            </a:r>
          </a:p>
        </p:txBody>
      </p:sp>
      <p:sp xmlns:a="http://schemas.openxmlformats.org/drawingml/2006/main">
        <p:nvSpPr>
          <p:cNvPr id="36" name="Rounded Rectangle 35"/>
          <p:cNvSpPr/>
          <p:nvPr/>
        </p:nvSpPr>
        <p:spPr>
          <a:xfrm>
            <a:off x="8026400" y="1549400"/>
            <a:ext cx="3505200" cy="3632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2E71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7" name="Rounded Rectangle 36"/>
          <p:cNvSpPr/>
          <p:nvPr/>
        </p:nvSpPr>
        <p:spPr>
          <a:xfrm>
            <a:off x="8204200" y="1727200"/>
            <a:ext cx="3149600" cy="355600"/>
          </a:xfrm>
          <a:prstGeom prst="roundRect">
            <a:avLst>
              <a:gd name="adj" fmla="val 45000"/>
            </a:avLst>
          </a:prstGeom>
          <a:solidFill>
            <a:srgbClr val="E6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8" name="TextBox 37"/>
          <p:cNvSpPr txBox="1"/>
          <p:nvPr/>
        </p:nvSpPr>
        <p:spPr>
          <a:xfrm>
            <a:off x="8280400" y="1727200"/>
            <a:ext cx="2997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5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第 2 餐（採用 AI 策略）：僅剩 14g</a:t>
            </a:r>
          </a:p>
        </p:txBody>
      </p:sp>
      <p:pic xmlns:a="http://schemas.openxmlformats.org/drawingml/2006/main" xmlns:r="http://schemas.openxmlformats.org/officeDocument/2006/relationships">
        <p:nvPicPr>
          <p:cNvPr id="39" name="Picture 38" descr="image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04200" y="2184400"/>
            <a:ext cx="3149600" cy="1803400"/>
          </a:xfrm>
          <a:prstGeom prst="rect">
            <a:avLst/>
          </a:prstGeom>
          <a:ln w="12700">
            <a:solidFill>
              <a:srgbClr val="2E7154"/>
            </a:solidFill>
          </a:ln>
        </p:spPr>
      </p:pic>
      <p:sp xmlns:a="http://schemas.openxmlformats.org/drawingml/2006/main">
        <p:nvSpPr>
          <p:cNvPr id="40" name="TextBox 39"/>
          <p:cNvSpPr txBox="1"/>
          <p:nvPr/>
        </p:nvSpPr>
        <p:spPr>
          <a:xfrm>
            <a:off x="8229600" y="4089400"/>
            <a:ext cx="3098800" cy="990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依 AI 建議先盛適中份量（410g）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結果：主菜全部吃光，僅剩 14g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餐後感受：吃得剛剛好飽、零負擔！</a:t>
            </a:r>
          </a:p>
        </p:txBody>
      </p:sp>
      <p:sp xmlns:a="http://schemas.openxmlformats.org/drawingml/2006/main">
        <p:nvSpPr>
          <p:cNvPr id="41" name="Rounded Rectangle 40"/>
          <p:cNvSpPr/>
          <p:nvPr/>
        </p:nvSpPr>
        <p:spPr>
          <a:xfrm>
            <a:off x="660400" y="5334000"/>
            <a:ext cx="10871200" cy="685800"/>
          </a:xfrm>
          <a:prstGeom prst="roundRect">
            <a:avLst>
              <a:gd name="adj" fmla="val 15000"/>
            </a:avLst>
          </a:prstGeom>
          <a:solidFill>
            <a:srgbClr val="E6F4EB"/>
          </a:solidFill>
          <a:ln w="12700">
            <a:solidFill>
              <a:srgbClr val="CF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42" name="TextBox 41"/>
          <p:cNvSpPr txBox="1"/>
          <p:nvPr/>
        </p:nvSpPr>
        <p:spPr>
          <a:xfrm>
            <a:off x="863600" y="5334000"/>
            <a:ext cx="1046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48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實測證明：透過 AI 智慧判斷剩食原因並改變進食順序，不用勉強硬塞，就能把午餐吃得乾淨又均衡！</a:t>
            </a:r>
          </a:p>
        </p:txBody>
      </p:sp>
    </p:spTree>
    <p:extLst>
      <p:ext uri="{BB962C8B-B14F-4D97-AF65-F5344CB8AC3E}">
        <p14:creationId xmlns:p14="http://schemas.microsoft.com/office/powerpoint/2010/main" val="42413375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A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heading">
            <a:extLst xmlns:a="http://schemas.openxmlformats.org/drawingml/2006/main">
              <a:ext uri="{FF2B5EF4-FFF2-40B4-BE49-F238E27FC236}">
                <a16:creationId xmlns:a16="http://schemas.microsoft.com/office/drawing/2014/main" id="{ED7A6367-A044-4422-AC34-75633C0A8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69596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6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pPr>
            <a:r>
              <a:rPr sz="232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個人 → 班級 → 全校：預測喜好預防剩食</a:t>
            </a:r>
          </a:p>
        </p:txBody>
      </p:sp>
      <p:sp>
        <p:nvSpPr>
          <p:cNvPr id="2" name="食光偵探  食光追查隊">
            <a:extLst xmlns:a="http://schemas.openxmlformats.org/drawingml/2006/main">
              <a:ext uri="{FF2B5EF4-FFF2-40B4-BE49-F238E27FC236}">
                <a16:creationId xmlns:a16="http://schemas.microsoft.com/office/drawing/2014/main" id="{003F7F87-4FDF-4F82-84ED-BE27E4E74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食光偵探  食光追查隊</a:t>
            </a:r>
          </a:p>
        </p:txBody>
      </p:sp>
      <p:sp>
        <p:nvSpPr>
          <p:cNvPr id="3" name="05 / 10">
            <a:extLst xmlns:a="http://schemas.openxmlformats.org/drawingml/2006/main">
              <a:ext uri="{FF2B5EF4-FFF2-40B4-BE49-F238E27FC236}">
                <a16:creationId xmlns:a16="http://schemas.microsoft.com/office/drawing/2014/main" id="{572864A1-E983-4353-8D38-EC70EF810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3890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09 / 11</a:t>
            </a:r>
          </a:p>
        </p:txBody>
      </p:sp>
      <p:sp xmlns:a="http://schemas.openxmlformats.org/drawingml/2006/main">
        <p:nvSpPr>
          <p:cNvPr id="10" name="TextBox 9"/>
          <p:cNvSpPr txBox="1"/>
          <p:nvPr/>
        </p:nvSpPr>
        <p:spPr>
          <a:xfrm>
            <a:off x="7035800" y="825500"/>
            <a:ext cx="44958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300" b="1">
                <a:solidFill>
                  <a:srgbClr val="2E7154"/>
                </a:solidFill>
                <a:latin typeface="Heiti TC"/>
                <a:ea typeface="Heiti TC"/>
                <a:cs typeface="Heiti TC"/>
              </a:rPr>
              <a:t>從一盤餐盤擴展到全校口味雷達，提前預防剩食</a:t>
            </a:r>
          </a:p>
        </p:txBody>
      </p:sp>
      <p:sp xmlns:a="http://schemas.openxmlformats.org/drawingml/2006/main">
        <p:nvSpPr>
          <p:cNvPr id="11" name="Rounded Rectangle 10"/>
          <p:cNvSpPr/>
          <p:nvPr/>
        </p:nvSpPr>
        <p:spPr>
          <a:xfrm>
            <a:off x="660400" y="1524000"/>
            <a:ext cx="3454400" cy="449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F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2" name="Rounded Rectangle 11"/>
          <p:cNvSpPr/>
          <p:nvPr/>
        </p:nvSpPr>
        <p:spPr>
          <a:xfrm>
            <a:off x="812800" y="1676400"/>
            <a:ext cx="3149600" cy="355600"/>
          </a:xfrm>
          <a:prstGeom prst="roundRect">
            <a:avLst>
              <a:gd name="adj" fmla="val 45000"/>
            </a:avLst>
          </a:prstGeom>
          <a:solidFill>
            <a:srgbClr val="173E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3" name="TextBox 12"/>
          <p:cNvSpPr txBox="1"/>
          <p:nvPr/>
        </p:nvSpPr>
        <p:spPr>
          <a:xfrm>
            <a:off x="889000" y="1676400"/>
            <a:ext cx="2997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① 個人層級｜個人化吃飯策略</a:t>
            </a:r>
          </a:p>
        </p:txBody>
      </p:sp>
      <p:sp xmlns:a="http://schemas.openxmlformats.org/drawingml/2006/main">
        <p:nvSpPr>
          <p:cNvPr id="14" name="TextBox 13"/>
          <p:cNvSpPr txBox="1"/>
          <p:nvPr/>
        </p:nvSpPr>
        <p:spPr>
          <a:xfrm>
            <a:off x="838200" y="2082800"/>
            <a:ext cx="30988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依個人食量與喜好給每日建議</a:t>
            </a:r>
          </a:p>
        </p:txBody>
      </p:sp>
      <p:pic xmlns:a="http://schemas.openxmlformats.org/drawingml/2006/main" xmlns:r="http://schemas.openxmlformats.org/officeDocument/2006/relationships">
        <p:nvPicPr>
          <p:cNvPr id="15" name="Picture 14" descr="image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8200" y="2387600"/>
            <a:ext cx="3098800" cy="1549400"/>
          </a:xfrm>
          <a:prstGeom prst="rect">
            <a:avLst/>
          </a:prstGeom>
          <a:ln w="12700">
            <a:solidFill>
              <a:srgbClr val="CFE5D8"/>
            </a:solidFill>
          </a:ln>
        </p:spPr>
      </p:pic>
      <p:sp xmlns:a="http://schemas.openxmlformats.org/drawingml/2006/main">
        <p:nvSpPr>
          <p:cNvPr id="16" name="TextBox 15"/>
          <p:cNvSpPr txBox="1"/>
          <p:nvPr/>
        </p:nvSpPr>
        <p:spPr>
          <a:xfrm>
            <a:off x="838200" y="4038600"/>
            <a:ext cx="3098800" cy="116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記錄每餐各格剩食（g）與飽足感</a:t>
            </a:r>
          </a:p>
          <a:p>
            <a:pPr algn="l">
              <a:lnSpc>
                <a:spcPct val="122000"/>
              </a:lnSpc>
            </a:pPr>
            <a:r>
              <a:rPr sz="120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分析個人對蔬菜、魚肉、主食偏好</a:t>
            </a:r>
          </a:p>
          <a:p>
            <a:pPr algn="l">
              <a:lnSpc>
                <a:spcPct val="122000"/>
              </a:lnSpc>
            </a:pPr>
            <a:r>
              <a:rPr sz="120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餐前自動提醒：先盛多少、先吃哪道菜</a:t>
            </a:r>
          </a:p>
        </p:txBody>
      </p:sp>
      <p:sp xmlns:a="http://schemas.openxmlformats.org/drawingml/2006/main">
        <p:nvSpPr>
          <p:cNvPr id="17" name="Rounded Rectangle 16"/>
          <p:cNvSpPr/>
          <p:nvPr/>
        </p:nvSpPr>
        <p:spPr>
          <a:xfrm>
            <a:off x="812800" y="5283200"/>
            <a:ext cx="3149600" cy="584200"/>
          </a:xfrm>
          <a:prstGeom prst="roundRect">
            <a:avLst>
              <a:gd name="adj" fmla="val 10000"/>
            </a:avLst>
          </a:prstGeom>
          <a:solidFill>
            <a:srgbClr val="E6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8" name="TextBox 17"/>
          <p:cNvSpPr txBox="1"/>
          <p:nvPr/>
        </p:nvSpPr>
        <p:spPr>
          <a:xfrm>
            <a:off x="889000" y="5283200"/>
            <a:ext cx="2997200" cy="584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個人吃得剛好，不再因盛太多而剩食</a:t>
            </a:r>
          </a:p>
        </p:txBody>
      </p:sp>
      <p:cxnSp xmlns:a="http://schemas.openxmlformats.org/drawingml/2006/main">
        <p:nvCxnSpPr>
          <p:cNvPr id="19" name="Connector 18"/>
          <p:cNvCxnSpPr/>
          <p:nvPr/>
        </p:nvCxnSpPr>
        <p:spPr>
          <a:xfrm>
            <a:off x="4152900" y="3771900"/>
            <a:ext cx="177800" cy="0"/>
          </a:xfrm>
          <a:prstGeom prst="line">
            <a:avLst/>
          </a:prstGeom>
          <a:ln w="31750">
            <a:solidFill>
              <a:srgbClr val="2E715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 xmlns:a="http://schemas.openxmlformats.org/drawingml/2006/main">
        <p:nvSpPr>
          <p:cNvPr id="20" name="Rounded Rectangle 19"/>
          <p:cNvSpPr/>
          <p:nvPr/>
        </p:nvSpPr>
        <p:spPr>
          <a:xfrm>
            <a:off x="4368800" y="1524000"/>
            <a:ext cx="3454400" cy="449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F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1" name="Rounded Rectangle 20"/>
          <p:cNvSpPr/>
          <p:nvPr/>
        </p:nvSpPr>
        <p:spPr>
          <a:xfrm>
            <a:off x="4521200" y="1676400"/>
            <a:ext cx="3149600" cy="355600"/>
          </a:xfrm>
          <a:prstGeom prst="roundRect">
            <a:avLst>
              <a:gd name="adj" fmla="val 45000"/>
            </a:avLst>
          </a:prstGeom>
          <a:solidFill>
            <a:srgbClr val="173E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2" name="TextBox 21"/>
          <p:cNvSpPr txBox="1"/>
          <p:nvPr/>
        </p:nvSpPr>
        <p:spPr>
          <a:xfrm>
            <a:off x="4597400" y="1676400"/>
            <a:ext cx="2997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② 班級層級｜全班菜色喜好統計</a:t>
            </a:r>
          </a:p>
        </p:txBody>
      </p:sp>
      <p:sp xmlns:a="http://schemas.openxmlformats.org/drawingml/2006/main">
        <p:nvSpPr>
          <p:cNvPr id="23" name="TextBox 22"/>
          <p:cNvSpPr txBox="1"/>
          <p:nvPr/>
        </p:nvSpPr>
        <p:spPr>
          <a:xfrm>
            <a:off x="4546600" y="2082800"/>
            <a:ext cx="30988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彙整全班餐盤與回收餐桶數據</a:t>
            </a:r>
          </a:p>
        </p:txBody>
      </p:sp>
      <p:pic xmlns:a="http://schemas.openxmlformats.org/drawingml/2006/main" xmlns:r="http://schemas.openxmlformats.org/officeDocument/2006/relationships">
        <p:nvPicPr>
          <p:cNvPr id="24" name="Picture 23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46600" y="2387600"/>
            <a:ext cx="3098800" cy="1549400"/>
          </a:xfrm>
          <a:prstGeom prst="rect">
            <a:avLst/>
          </a:prstGeom>
          <a:ln w="12700">
            <a:solidFill>
              <a:srgbClr val="CFE5D8"/>
            </a:solidFill>
          </a:ln>
        </p:spPr>
      </p:pic>
      <p:sp xmlns:a="http://schemas.openxmlformats.org/drawingml/2006/main">
        <p:nvSpPr>
          <p:cNvPr id="25" name="TextBox 24"/>
          <p:cNvSpPr txBox="1"/>
          <p:nvPr/>
        </p:nvSpPr>
        <p:spPr>
          <a:xfrm>
            <a:off x="4546600" y="4038600"/>
            <a:ext cx="3098800" cy="116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統計全班每道菜平均剩食克數</a:t>
            </a:r>
          </a:p>
          <a:p>
            <a:pPr algn="l">
              <a:lnSpc>
                <a:spcPct val="122000"/>
              </a:lnSpc>
            </a:pPr>
            <a:r>
              <a:rPr sz="120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抓出「高風險常剩菜色」（如單炒苦瓜）</a:t>
            </a:r>
          </a:p>
          <a:p>
            <a:pPr algn="l">
              <a:lnSpc>
                <a:spcPct val="122000"/>
              </a:lnSpc>
            </a:pPr>
            <a:r>
              <a:rPr sz="120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發現「高接受度配法」（蒜炒、蛋炒、滷汁）</a:t>
            </a:r>
          </a:p>
        </p:txBody>
      </p:sp>
      <p:sp xmlns:a="http://schemas.openxmlformats.org/drawingml/2006/main">
        <p:nvSpPr>
          <p:cNvPr id="26" name="Rounded Rectangle 25"/>
          <p:cNvSpPr/>
          <p:nvPr/>
        </p:nvSpPr>
        <p:spPr>
          <a:xfrm>
            <a:off x="4521200" y="5283200"/>
            <a:ext cx="3149600" cy="584200"/>
          </a:xfrm>
          <a:prstGeom prst="roundRect">
            <a:avLst>
              <a:gd name="adj" fmla="val 10000"/>
            </a:avLst>
          </a:prstGeom>
          <a:solidFill>
            <a:srgbClr val="E6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7" name="TextBox 26"/>
          <p:cNvSpPr txBox="1"/>
          <p:nvPr/>
        </p:nvSpPr>
        <p:spPr>
          <a:xfrm>
            <a:off x="4597400" y="5283200"/>
            <a:ext cx="2997200" cy="584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導師掌握班級飲食習慣，引導同伴惜食</a:t>
            </a:r>
          </a:p>
        </p:txBody>
      </p:sp>
      <p:cxnSp xmlns:a="http://schemas.openxmlformats.org/drawingml/2006/main">
        <p:nvCxnSpPr>
          <p:cNvPr id="28" name="Connector 27"/>
          <p:cNvCxnSpPr/>
          <p:nvPr/>
        </p:nvCxnSpPr>
        <p:spPr>
          <a:xfrm>
            <a:off x="7861300" y="3771900"/>
            <a:ext cx="177800" cy="0"/>
          </a:xfrm>
          <a:prstGeom prst="line">
            <a:avLst/>
          </a:prstGeom>
          <a:ln w="31750">
            <a:solidFill>
              <a:srgbClr val="2E715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 xmlns:a="http://schemas.openxmlformats.org/drawingml/2006/main">
        <p:nvSpPr>
          <p:cNvPr id="29" name="Rounded Rectangle 28"/>
          <p:cNvSpPr/>
          <p:nvPr/>
        </p:nvSpPr>
        <p:spPr>
          <a:xfrm>
            <a:off x="8077200" y="1524000"/>
            <a:ext cx="3454400" cy="449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71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0" name="Rounded Rectangle 29"/>
          <p:cNvSpPr/>
          <p:nvPr/>
        </p:nvSpPr>
        <p:spPr>
          <a:xfrm>
            <a:off x="8229600" y="1676400"/>
            <a:ext cx="3149600" cy="355600"/>
          </a:xfrm>
          <a:prstGeom prst="roundRect">
            <a:avLst>
              <a:gd name="adj" fmla="val 45000"/>
            </a:avLst>
          </a:prstGeom>
          <a:solidFill>
            <a:srgbClr val="2E7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1" name="TextBox 30"/>
          <p:cNvSpPr txBox="1"/>
          <p:nvPr/>
        </p:nvSpPr>
        <p:spPr>
          <a:xfrm>
            <a:off x="8305800" y="1676400"/>
            <a:ext cx="2997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③ 全校層級｜預測口味預防剩食</a:t>
            </a:r>
          </a:p>
        </p:txBody>
      </p:sp>
      <p:sp xmlns:a="http://schemas.openxmlformats.org/drawingml/2006/main">
        <p:nvSpPr>
          <p:cNvPr id="32" name="TextBox 31"/>
          <p:cNvSpPr txBox="1"/>
          <p:nvPr/>
        </p:nvSpPr>
        <p:spPr>
          <a:xfrm>
            <a:off x="8255000" y="2082800"/>
            <a:ext cx="30988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結合教育部 23 天食材登錄平臺</a:t>
            </a:r>
          </a:p>
        </p:txBody>
      </p:sp>
      <p:pic xmlns:a="http://schemas.openxmlformats.org/drawingml/2006/main" xmlns:r="http://schemas.openxmlformats.org/officeDocument/2006/relationships">
        <p:nvPicPr>
          <p:cNvPr id="33" name="Picture 32" descr="image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55000" y="2387600"/>
            <a:ext cx="3098800" cy="1549400"/>
          </a:xfrm>
          <a:prstGeom prst="rect">
            <a:avLst/>
          </a:prstGeom>
          <a:ln w="12700">
            <a:solidFill>
              <a:srgbClr val="CFE5D8"/>
            </a:solidFill>
          </a:ln>
        </p:spPr>
      </p:pic>
      <p:sp xmlns:a="http://schemas.openxmlformats.org/drawingml/2006/main">
        <p:nvSpPr>
          <p:cNvPr id="34" name="TextBox 33"/>
          <p:cNvSpPr txBox="1"/>
          <p:nvPr/>
        </p:nvSpPr>
        <p:spPr>
          <a:xfrm>
            <a:off x="8255000" y="4038600"/>
            <a:ext cx="3098800" cy="116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對照全校每餐 707–905 kcal 與進貨重量</a:t>
            </a:r>
          </a:p>
          <a:p>
            <a:pPr algn="l">
              <a:lnSpc>
                <a:spcPct val="122000"/>
              </a:lnSpc>
            </a:pPr>
            <a:r>
              <a:rPr sz="120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預測全校師生對不同烹調口味的喜好度</a:t>
            </a:r>
          </a:p>
          <a:p>
            <a:pPr algn="l">
              <a:lnSpc>
                <a:spcPct val="122000"/>
              </a:lnSpc>
            </a:pPr>
            <a:r>
              <a:rPr sz="120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提前調整高剩食風險菜單與各班備餐量</a:t>
            </a:r>
          </a:p>
        </p:txBody>
      </p:sp>
      <p:sp xmlns:a="http://schemas.openxmlformats.org/drawingml/2006/main">
        <p:nvSpPr>
          <p:cNvPr id="35" name="Rounded Rectangle 34"/>
          <p:cNvSpPr/>
          <p:nvPr/>
        </p:nvSpPr>
        <p:spPr>
          <a:xfrm>
            <a:off x="8229600" y="5283200"/>
            <a:ext cx="3149600" cy="584200"/>
          </a:xfrm>
          <a:prstGeom prst="roundRect">
            <a:avLst>
              <a:gd name="adj" fmla="val 10000"/>
            </a:avLst>
          </a:prstGeom>
          <a:solidFill>
            <a:srgbClr val="E6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6" name="TextBox 35"/>
          <p:cNvSpPr txBox="1"/>
          <p:nvPr/>
        </p:nvSpPr>
        <p:spPr>
          <a:xfrm>
            <a:off x="8305800" y="5283200"/>
            <a:ext cx="2997200" cy="584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從源頭幫學校廚房精準備餐、預防剩食！</a:t>
            </a:r>
          </a:p>
        </p:txBody>
      </p:sp>
    </p:spTree>
    <p:extLst>
      <p:ext uri="{BB962C8B-B14F-4D97-AF65-F5344CB8AC3E}">
        <p14:creationId xmlns:p14="http://schemas.microsoft.com/office/powerpoint/2010/main" val="32678295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A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heading">
            <a:extLst xmlns:a="http://schemas.openxmlformats.org/drawingml/2006/main">
              <a:ext uri="{FF2B5EF4-FFF2-40B4-BE49-F238E27FC236}">
                <a16:creationId xmlns:a16="http://schemas.microsoft.com/office/drawing/2014/main" id="{012AE497-962D-481F-90EB-2D6CF2EFD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69596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6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pPr>
            <a:r>
              <a:rPr sz="232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累積校園午餐大數據：長期營養與惜食參照庫</a:t>
            </a:r>
          </a:p>
        </p:txBody>
      </p:sp>
      <p:sp>
        <p:nvSpPr>
          <p:cNvPr id="2" name="食光偵探  食光追查隊">
            <a:extLst xmlns:a="http://schemas.openxmlformats.org/drawingml/2006/main">
              <a:ext uri="{FF2B5EF4-FFF2-40B4-BE49-F238E27FC236}">
                <a16:creationId xmlns:a16="http://schemas.microsoft.com/office/drawing/2014/main" id="{5C147285-539D-467F-BF6C-046B4AC9C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食光偵探  食光追查隊</a:t>
            </a:r>
          </a:p>
        </p:txBody>
      </p:sp>
      <p:sp>
        <p:nvSpPr>
          <p:cNvPr id="3" name="09 / 10">
            <a:extLst xmlns:a="http://schemas.openxmlformats.org/drawingml/2006/main">
              <a:ext uri="{FF2B5EF4-FFF2-40B4-BE49-F238E27FC236}">
                <a16:creationId xmlns:a16="http://schemas.microsoft.com/office/drawing/2014/main" id="{DBE61460-1C57-4581-B455-02CD1EF67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3890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10 / 11</a:t>
            </a:r>
          </a:p>
        </p:txBody>
      </p:sp>
      <p:sp xmlns:a="http://schemas.openxmlformats.org/drawingml/2006/main">
        <p:nvSpPr>
          <p:cNvPr id="7" name="TextBox 6"/>
          <p:cNvSpPr txBox="1"/>
          <p:nvPr/>
        </p:nvSpPr>
        <p:spPr>
          <a:xfrm>
            <a:off x="7035800" y="825500"/>
            <a:ext cx="44958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300" b="1">
                <a:solidFill>
                  <a:srgbClr val="2E7154"/>
                </a:solidFill>
                <a:latin typeface="Heiti TC"/>
                <a:ea typeface="Heiti TC"/>
                <a:cs typeface="Heiti TC"/>
              </a:rPr>
              <a:t>資料累積越多，越能成為全校與跨學期的營養決策寶庫</a:t>
            </a:r>
          </a:p>
        </p:txBody>
      </p:sp>
      <p:sp xmlns:a="http://schemas.openxmlformats.org/drawingml/2006/main">
        <p:nvSpPr>
          <p:cNvPr id="8" name="Rounded Rectangle 7"/>
          <p:cNvSpPr/>
          <p:nvPr/>
        </p:nvSpPr>
        <p:spPr>
          <a:xfrm>
            <a:off x="660400" y="1498600"/>
            <a:ext cx="348742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F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9" name="Rounded Rectangle 8"/>
          <p:cNvSpPr/>
          <p:nvPr/>
        </p:nvSpPr>
        <p:spPr>
          <a:xfrm>
            <a:off x="812800" y="1625600"/>
            <a:ext cx="3182620" cy="330200"/>
          </a:xfrm>
          <a:prstGeom prst="roundRect">
            <a:avLst>
              <a:gd name="adj" fmla="val 45000"/>
            </a:avLst>
          </a:prstGeom>
          <a:solidFill>
            <a:srgbClr val="173E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0" name="TextBox 9"/>
          <p:cNvSpPr txBox="1"/>
          <p:nvPr/>
        </p:nvSpPr>
        <p:spPr>
          <a:xfrm>
            <a:off x="889000" y="1625600"/>
            <a:ext cx="303022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40 天菜單 × 23 天官方實登</a:t>
            </a:r>
          </a:p>
        </p:txBody>
      </p:sp>
      <p:sp xmlns:a="http://schemas.openxmlformats.org/drawingml/2006/main">
        <p:nvSpPr>
          <p:cNvPr id="11" name="TextBox 10"/>
          <p:cNvSpPr txBox="1"/>
          <p:nvPr/>
        </p:nvSpPr>
        <p:spPr>
          <a:xfrm>
            <a:off x="838200" y="2006600"/>
            <a:ext cx="313182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80" b="1">
                <a:solidFill>
                  <a:srgbClr val="2E7154"/>
                </a:solidFill>
                <a:latin typeface="Heiti TC"/>
                <a:ea typeface="Heiti TC"/>
                <a:cs typeface="Heiti TC"/>
              </a:rPr>
              <a:t>教育部校園食材登錄平臺串接</a:t>
            </a:r>
          </a:p>
        </p:txBody>
      </p:sp>
      <p:sp xmlns:a="http://schemas.openxmlformats.org/drawingml/2006/main">
        <p:nvSpPr>
          <p:cNvPr id="12" name="TextBox 11"/>
          <p:cNvSpPr txBox="1"/>
          <p:nvPr/>
        </p:nvSpPr>
        <p:spPr>
          <a:xfrm>
            <a:off x="838200" y="2286000"/>
            <a:ext cx="3131820" cy="71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完整收錄每餐 707–905 kcal 熱量、135 道真實供餐菜色照與 638 筆 CAS／產銷履歷食材進貨重量。</a:t>
            </a:r>
          </a:p>
        </p:txBody>
      </p:sp>
      <p:sp xmlns:a="http://schemas.openxmlformats.org/drawingml/2006/main">
        <p:nvSpPr>
          <p:cNvPr id="13" name="Rounded Rectangle 12"/>
          <p:cNvSpPr/>
          <p:nvPr/>
        </p:nvSpPr>
        <p:spPr>
          <a:xfrm>
            <a:off x="4351020" y="1498600"/>
            <a:ext cx="348742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F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4" name="Rounded Rectangle 13"/>
          <p:cNvSpPr/>
          <p:nvPr/>
        </p:nvSpPr>
        <p:spPr>
          <a:xfrm>
            <a:off x="4503420" y="1625600"/>
            <a:ext cx="3182620" cy="330200"/>
          </a:xfrm>
          <a:prstGeom prst="roundRect">
            <a:avLst>
              <a:gd name="adj" fmla="val 45000"/>
            </a:avLst>
          </a:prstGeom>
          <a:solidFill>
            <a:srgbClr val="2E7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5" name="TextBox 14"/>
          <p:cNvSpPr txBox="1"/>
          <p:nvPr/>
        </p:nvSpPr>
        <p:spPr>
          <a:xfrm>
            <a:off x="4579620" y="1625600"/>
            <a:ext cx="303022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AI 餐盤影像辨識大數據</a:t>
            </a:r>
          </a:p>
        </p:txBody>
      </p:sp>
      <p:sp xmlns:a="http://schemas.openxmlformats.org/drawingml/2006/main">
        <p:nvSpPr>
          <p:cNvPr id="16" name="TextBox 15"/>
          <p:cNvSpPr txBox="1"/>
          <p:nvPr/>
        </p:nvSpPr>
        <p:spPr>
          <a:xfrm>
            <a:off x="4528820" y="2006600"/>
            <a:ext cx="313182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80" b="1">
                <a:solidFill>
                  <a:srgbClr val="2E7154"/>
                </a:solidFill>
                <a:latin typeface="Heiti TC"/>
                <a:ea typeface="Heiti TC"/>
                <a:cs typeface="Heiti TC"/>
              </a:rPr>
              <a:t>17 張實拍餐盤與餐桶 × 各格克數</a:t>
            </a:r>
          </a:p>
        </p:txBody>
      </p:sp>
      <p:sp xmlns:a="http://schemas.openxmlformats.org/drawingml/2006/main">
        <p:nvSpPr>
          <p:cNvPr id="17" name="TextBox 16"/>
          <p:cNvSpPr txBox="1"/>
          <p:nvPr/>
        </p:nvSpPr>
        <p:spPr>
          <a:xfrm>
            <a:off x="4528820" y="2286000"/>
            <a:ext cx="3131820" cy="71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自動量化白飯、主菜、青菜與湯品剩食比例，建立真實可核對的校園剩食基線。</a:t>
            </a:r>
          </a:p>
        </p:txBody>
      </p:sp>
      <p:sp xmlns:a="http://schemas.openxmlformats.org/drawingml/2006/main">
        <p:nvSpPr>
          <p:cNvPr id="18" name="Rounded Rectangle 17"/>
          <p:cNvSpPr/>
          <p:nvPr/>
        </p:nvSpPr>
        <p:spPr>
          <a:xfrm>
            <a:off x="8041640" y="1498600"/>
            <a:ext cx="348742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F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9" name="Rounded Rectangle 18"/>
          <p:cNvSpPr/>
          <p:nvPr/>
        </p:nvSpPr>
        <p:spPr>
          <a:xfrm>
            <a:off x="8194040" y="1625600"/>
            <a:ext cx="3182620" cy="330200"/>
          </a:xfrm>
          <a:prstGeom prst="roundRect">
            <a:avLst>
              <a:gd name="adj" fmla="val 45000"/>
            </a:avLst>
          </a:prstGeom>
          <a:solidFill>
            <a:srgbClr val="173E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0" name="TextBox 19"/>
          <p:cNvSpPr txBox="1"/>
          <p:nvPr/>
        </p:nvSpPr>
        <p:spPr>
          <a:xfrm>
            <a:off x="8270240" y="1625600"/>
            <a:ext cx="303022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120 則情境 × 口味回饋庫</a:t>
            </a:r>
          </a:p>
        </p:txBody>
      </p:sp>
      <p:sp xmlns:a="http://schemas.openxmlformats.org/drawingml/2006/main">
        <p:nvSpPr>
          <p:cNvPr id="21" name="TextBox 20"/>
          <p:cNvSpPr txBox="1"/>
          <p:nvPr/>
        </p:nvSpPr>
        <p:spPr>
          <a:xfrm>
            <a:off x="8219440" y="2006600"/>
            <a:ext cx="313182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80" b="1">
                <a:solidFill>
                  <a:srgbClr val="2E7154"/>
                </a:solidFill>
                <a:latin typeface="Heiti TC"/>
                <a:ea typeface="Heiti TC"/>
                <a:cs typeface="Heiti TC"/>
              </a:rPr>
              <a:t>結合學生飽足感與口味喜好</a:t>
            </a:r>
          </a:p>
        </p:txBody>
      </p:sp>
      <p:sp xmlns:a="http://schemas.openxmlformats.org/drawingml/2006/main">
        <p:nvSpPr>
          <p:cNvPr id="22" name="TextBox 21"/>
          <p:cNvSpPr txBox="1"/>
          <p:nvPr/>
        </p:nvSpPr>
        <p:spPr>
          <a:xfrm>
            <a:off x="8219440" y="2286000"/>
            <a:ext cx="3131820" cy="71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累積「太撐／剛好／還餓」與菜色搭配成效，訓練更精準的校園惜食推薦模型。</a:t>
            </a:r>
          </a:p>
        </p:txBody>
      </p:sp>
      <p:sp xmlns:a="http://schemas.openxmlformats.org/drawingml/2006/main">
        <p:nvSpPr>
          <p:cNvPr id="23" name="Rounded Rectangle 22"/>
          <p:cNvSpPr/>
          <p:nvPr/>
        </p:nvSpPr>
        <p:spPr>
          <a:xfrm>
            <a:off x="660400" y="3276600"/>
            <a:ext cx="10871200" cy="457200"/>
          </a:xfrm>
          <a:prstGeom prst="roundRect">
            <a:avLst>
              <a:gd name="adj" fmla="val 6000"/>
            </a:avLst>
          </a:prstGeom>
          <a:solidFill>
            <a:srgbClr val="173E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4" name="TextBox 23"/>
          <p:cNvSpPr txBox="1"/>
          <p:nvPr/>
        </p:nvSpPr>
        <p:spPr>
          <a:xfrm>
            <a:off x="914400" y="3276600"/>
            <a:ext cx="2540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大數據使用對象</a:t>
            </a:r>
          </a:p>
        </p:txBody>
      </p:sp>
      <p:sp xmlns:a="http://schemas.openxmlformats.org/drawingml/2006/main">
        <p:nvSpPr>
          <p:cNvPr id="25" name="TextBox 24"/>
          <p:cNvSpPr txBox="1"/>
          <p:nvPr/>
        </p:nvSpPr>
        <p:spPr>
          <a:xfrm>
            <a:off x="3581400" y="3276600"/>
            <a:ext cx="3937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大數據提供的具體參照指標</a:t>
            </a:r>
          </a:p>
        </p:txBody>
      </p:sp>
      <p:sp xmlns:a="http://schemas.openxmlformats.org/drawingml/2006/main">
        <p:nvSpPr>
          <p:cNvPr id="26" name="TextBox 25"/>
          <p:cNvSpPr txBox="1"/>
          <p:nvPr/>
        </p:nvSpPr>
        <p:spPr>
          <a:xfrm>
            <a:off x="7645400" y="3276600"/>
            <a:ext cx="3683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帶來的真實改變與效益</a:t>
            </a:r>
          </a:p>
        </p:txBody>
      </p:sp>
      <p:sp xmlns:a="http://schemas.openxmlformats.org/drawingml/2006/main">
        <p:nvSpPr>
          <p:cNvPr id="27" name="Rounded Rectangle 26"/>
          <p:cNvSpPr/>
          <p:nvPr/>
        </p:nvSpPr>
        <p:spPr>
          <a:xfrm>
            <a:off x="660400" y="3784600"/>
            <a:ext cx="10871200" cy="533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8" name="TextBox 27"/>
          <p:cNvSpPr txBox="1"/>
          <p:nvPr/>
        </p:nvSpPr>
        <p:spPr>
          <a:xfrm>
            <a:off x="914400" y="3784600"/>
            <a:ext cx="2540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學生個人</a:t>
            </a:r>
          </a:p>
        </p:txBody>
      </p:sp>
      <p:sp xmlns:a="http://schemas.openxmlformats.org/drawingml/2006/main">
        <p:nvSpPr>
          <p:cNvPr id="29" name="TextBox 28"/>
          <p:cNvSpPr txBox="1"/>
          <p:nvPr/>
        </p:nvSpPr>
        <p:spPr>
          <a:xfrm>
            <a:off x="3581400" y="3784600"/>
            <a:ext cx="3937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每餐推薦盛飯比例、先吃哪道菜、個人營養攝取紀錄</a:t>
            </a:r>
          </a:p>
        </p:txBody>
      </p:sp>
      <p:sp xmlns:a="http://schemas.openxmlformats.org/drawingml/2006/main">
        <p:nvSpPr>
          <p:cNvPr id="30" name="TextBox 29"/>
          <p:cNvSpPr txBox="1"/>
          <p:nvPr/>
        </p:nvSpPr>
        <p:spPr>
          <a:xfrm>
            <a:off x="7645400" y="3784600"/>
            <a:ext cx="37592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2E7154"/>
                </a:solidFill>
                <a:latin typeface="Heiti TC"/>
                <a:ea typeface="Heiti TC"/>
                <a:cs typeface="Heiti TC"/>
              </a:rPr>
              <a:t>吃得剛剛好飽，養成不挑食、不剩食的好習慣</a:t>
            </a:r>
          </a:p>
        </p:txBody>
      </p:sp>
      <p:sp xmlns:a="http://schemas.openxmlformats.org/drawingml/2006/main">
        <p:nvSpPr>
          <p:cNvPr id="31" name="Rounded Rectangle 30"/>
          <p:cNvSpPr/>
          <p:nvPr/>
        </p:nvSpPr>
        <p:spPr>
          <a:xfrm>
            <a:off x="660400" y="4368800"/>
            <a:ext cx="10871200" cy="533400"/>
          </a:xfrm>
          <a:prstGeom prst="roundRect">
            <a:avLst>
              <a:gd name="adj" fmla="val 5000"/>
            </a:avLst>
          </a:prstGeom>
          <a:solidFill>
            <a:srgbClr val="E6F4EB"/>
          </a:solidFill>
          <a:ln w="12700">
            <a:solidFill>
              <a:srgbClr val="CF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2" name="TextBox 31"/>
          <p:cNvSpPr txBox="1"/>
          <p:nvPr/>
        </p:nvSpPr>
        <p:spPr>
          <a:xfrm>
            <a:off x="914400" y="4368800"/>
            <a:ext cx="2540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班級導師</a:t>
            </a:r>
          </a:p>
        </p:txBody>
      </p:sp>
      <p:sp xmlns:a="http://schemas.openxmlformats.org/drawingml/2006/main">
        <p:nvSpPr>
          <p:cNvPr id="33" name="TextBox 32"/>
          <p:cNvSpPr txBox="1"/>
          <p:nvPr/>
        </p:nvSpPr>
        <p:spPr>
          <a:xfrm>
            <a:off x="3581400" y="4368800"/>
            <a:ext cx="3937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全班各道菜平均剩食排行、班級回收桶減量趨勢</a:t>
            </a:r>
          </a:p>
        </p:txBody>
      </p:sp>
      <p:sp xmlns:a="http://schemas.openxmlformats.org/drawingml/2006/main">
        <p:nvSpPr>
          <p:cNvPr id="34" name="TextBox 33"/>
          <p:cNvSpPr txBox="1"/>
          <p:nvPr/>
        </p:nvSpPr>
        <p:spPr>
          <a:xfrm>
            <a:off x="7645400" y="4368800"/>
            <a:ext cx="37592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2E7154"/>
                </a:solidFill>
                <a:latin typeface="Heiti TC"/>
                <a:ea typeface="Heiti TC"/>
                <a:cs typeface="Heiti TC"/>
              </a:rPr>
              <a:t>掌握班上飲食狀況，用正向數據鼓勵全班惜食</a:t>
            </a:r>
          </a:p>
        </p:txBody>
      </p:sp>
      <p:sp xmlns:a="http://schemas.openxmlformats.org/drawingml/2006/main">
        <p:nvSpPr>
          <p:cNvPr id="35" name="Rounded Rectangle 34"/>
          <p:cNvSpPr/>
          <p:nvPr/>
        </p:nvSpPr>
        <p:spPr>
          <a:xfrm>
            <a:off x="660400" y="4953000"/>
            <a:ext cx="10871200" cy="533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6" name="TextBox 35"/>
          <p:cNvSpPr txBox="1"/>
          <p:nvPr/>
        </p:nvSpPr>
        <p:spPr>
          <a:xfrm>
            <a:off x="914400" y="4953000"/>
            <a:ext cx="2540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學校營養師與廚房</a:t>
            </a:r>
          </a:p>
        </p:txBody>
      </p:sp>
      <p:sp xmlns:a="http://schemas.openxmlformats.org/drawingml/2006/main">
        <p:nvSpPr>
          <p:cNvPr id="37" name="TextBox 36"/>
          <p:cNvSpPr txBox="1"/>
          <p:nvPr/>
        </p:nvSpPr>
        <p:spPr>
          <a:xfrm>
            <a:off x="3581400" y="4953000"/>
            <a:ext cx="3937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全校各年級口味喜好預測、高剩食菜色預警、備餐量參照</a:t>
            </a:r>
          </a:p>
        </p:txBody>
      </p:sp>
      <p:sp xmlns:a="http://schemas.openxmlformats.org/drawingml/2006/main">
        <p:nvSpPr>
          <p:cNvPr id="38" name="TextBox 37"/>
          <p:cNvSpPr txBox="1"/>
          <p:nvPr/>
        </p:nvSpPr>
        <p:spPr>
          <a:xfrm>
            <a:off x="7645400" y="4953000"/>
            <a:ext cx="37592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2E7154"/>
                </a:solidFill>
                <a:latin typeface="Heiti TC"/>
                <a:ea typeface="Heiti TC"/>
                <a:cs typeface="Heiti TC"/>
              </a:rPr>
              <a:t>優化烹調方式與食材採購量，從源頭大幅減少廚餘！</a:t>
            </a:r>
          </a:p>
        </p:txBody>
      </p:sp>
    </p:spTree>
    <p:extLst>
      <p:ext uri="{BB962C8B-B14F-4D97-AF65-F5344CB8AC3E}">
        <p14:creationId xmlns:p14="http://schemas.microsoft.com/office/powerpoint/2010/main" val="106697338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A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-heading">
            <a:extLst xmlns:a="http://schemas.openxmlformats.org/drawingml/2006/main">
              <a:ext uri="{FF2B5EF4-FFF2-40B4-BE49-F238E27FC236}">
                <a16:creationId xmlns:a16="http://schemas.microsoft.com/office/drawing/2014/main" id="{D33D4507-DAAE-4AC8-BB90-220021FE7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69596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6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pPr>
            <a:r>
              <a:rPr sz="232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總結與立即體驗：AI 惜食策略 × 午餐大數據</a:t>
            </a:r>
          </a:p>
        </p:txBody>
      </p:sp>
      <p:sp>
        <p:nvSpPr>
          <p:cNvPr id="2" name="食光偵探  食光追查隊">
            <a:extLst xmlns:a="http://schemas.openxmlformats.org/drawingml/2006/main">
              <a:ext uri="{FF2B5EF4-FFF2-40B4-BE49-F238E27FC236}">
                <a16:creationId xmlns:a16="http://schemas.microsoft.com/office/drawing/2014/main" id="{95A54289-4ED8-4F37-AA0B-3F6CCA1F4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食光偵探  食光追查隊</a:t>
            </a:r>
          </a:p>
        </p:txBody>
      </p:sp>
      <p:sp>
        <p:nvSpPr>
          <p:cNvPr id="3" name="10 / 10">
            <a:extLst xmlns:a="http://schemas.openxmlformats.org/drawingml/2006/main">
              <a:ext uri="{FF2B5EF4-FFF2-40B4-BE49-F238E27FC236}">
                <a16:creationId xmlns:a16="http://schemas.microsoft.com/office/drawing/2014/main" id="{FCE2C4A3-FFE0-499F-9B8E-6A1B50FF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3890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11 / 11</a:t>
            </a:r>
          </a:p>
        </p:txBody>
      </p:sp>
      <p:sp xmlns:a="http://schemas.openxmlformats.org/drawingml/2006/main">
        <p:nvSpPr>
          <p:cNvPr id="9" name="TextBox 8"/>
          <p:cNvSpPr txBox="1"/>
          <p:nvPr/>
        </p:nvSpPr>
        <p:spPr>
          <a:xfrm>
            <a:off x="7035800" y="825500"/>
            <a:ext cx="44958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300" b="1">
                <a:solidFill>
                  <a:srgbClr val="2E7154"/>
                </a:solidFill>
                <a:latin typeface="Heiti TC"/>
                <a:ea typeface="Heiti TC"/>
                <a:cs typeface="Heiti TC"/>
              </a:rPr>
              <a:t>掃描 QR Code 立即體驗食光偵探與探索總入口</a:t>
            </a:r>
          </a:p>
        </p:txBody>
      </p:sp>
      <p:sp xmlns:a="http://schemas.openxmlformats.org/drawingml/2006/main">
        <p:nvSpPr>
          <p:cNvPr id="10" name="Rounded Rectangle 9"/>
          <p:cNvSpPr/>
          <p:nvPr/>
        </p:nvSpPr>
        <p:spPr>
          <a:xfrm>
            <a:off x="660400" y="1498600"/>
            <a:ext cx="6400800" cy="1397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F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1" name="Rounded Rectangle 10"/>
          <p:cNvSpPr/>
          <p:nvPr/>
        </p:nvSpPr>
        <p:spPr>
          <a:xfrm>
            <a:off x="838200" y="1651000"/>
            <a:ext cx="6045200" cy="330200"/>
          </a:xfrm>
          <a:prstGeom prst="roundRect">
            <a:avLst>
              <a:gd name="adj" fmla="val 45000"/>
            </a:avLst>
          </a:prstGeom>
          <a:solidFill>
            <a:srgbClr val="173E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2" name="TextBox 11"/>
          <p:cNvSpPr txBox="1"/>
          <p:nvPr/>
        </p:nvSpPr>
        <p:spPr>
          <a:xfrm>
            <a:off x="914400" y="1651000"/>
            <a:ext cx="58928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成果 ①｜AI 智慧判斷剩食 × 自動推薦吃飯策略</a:t>
            </a:r>
          </a:p>
        </p:txBody>
      </p:sp>
      <p:sp xmlns:a="http://schemas.openxmlformats.org/drawingml/2006/main">
        <p:nvSpPr>
          <p:cNvPr id="13" name="TextBox 12"/>
          <p:cNvSpPr txBox="1"/>
          <p:nvPr/>
        </p:nvSpPr>
        <p:spPr>
          <a:xfrm>
            <a:off x="863600" y="2057400"/>
            <a:ext cx="5994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拍下餐盤自動辨識各格剩食克數，推薦「白飯先盛 3/4 碗、趁熱先吃青菜配主菜」，實測讓餐後剩食從 162g 降到 14g（減少 91%）！</a:t>
            </a:r>
          </a:p>
        </p:txBody>
      </p:sp>
      <p:sp xmlns:a="http://schemas.openxmlformats.org/drawingml/2006/main">
        <p:nvSpPr>
          <p:cNvPr id="14" name="Rounded Rectangle 13"/>
          <p:cNvSpPr/>
          <p:nvPr/>
        </p:nvSpPr>
        <p:spPr>
          <a:xfrm>
            <a:off x="660400" y="3048000"/>
            <a:ext cx="6400800" cy="1397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F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5" name="Rounded Rectangle 14"/>
          <p:cNvSpPr/>
          <p:nvPr/>
        </p:nvSpPr>
        <p:spPr>
          <a:xfrm>
            <a:off x="838200" y="3200400"/>
            <a:ext cx="6045200" cy="330200"/>
          </a:xfrm>
          <a:prstGeom prst="roundRect">
            <a:avLst>
              <a:gd name="adj" fmla="val 45000"/>
            </a:avLst>
          </a:prstGeom>
          <a:solidFill>
            <a:srgbClr val="2E7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6" name="TextBox 15"/>
          <p:cNvSpPr txBox="1"/>
          <p:nvPr/>
        </p:nvSpPr>
        <p:spPr>
          <a:xfrm>
            <a:off x="914400" y="3200400"/>
            <a:ext cx="58928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成果 ②｜個人 → 班級 → 全校口味喜好預測</a:t>
            </a:r>
          </a:p>
        </p:txBody>
      </p:sp>
      <p:sp xmlns:a="http://schemas.openxmlformats.org/drawingml/2006/main">
        <p:nvSpPr>
          <p:cNvPr id="17" name="TextBox 16"/>
          <p:cNvSpPr txBox="1"/>
          <p:nvPr/>
        </p:nvSpPr>
        <p:spPr>
          <a:xfrm>
            <a:off x="863600" y="3606800"/>
            <a:ext cx="5994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從個人配餐擴展到全班剩食排行，再結合教育部 23 天實登數據（每餐 707–905 kcal），預測全校口味接受度、提前調整菜單預防剩食！</a:t>
            </a:r>
          </a:p>
        </p:txBody>
      </p:sp>
      <p:sp xmlns:a="http://schemas.openxmlformats.org/drawingml/2006/main">
        <p:nvSpPr>
          <p:cNvPr id="18" name="Rounded Rectangle 17"/>
          <p:cNvSpPr/>
          <p:nvPr/>
        </p:nvSpPr>
        <p:spPr>
          <a:xfrm>
            <a:off x="660400" y="4597400"/>
            <a:ext cx="6400800" cy="1397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F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9" name="Rounded Rectangle 18"/>
          <p:cNvSpPr/>
          <p:nvPr/>
        </p:nvSpPr>
        <p:spPr>
          <a:xfrm>
            <a:off x="838200" y="4749800"/>
            <a:ext cx="6045200" cy="330200"/>
          </a:xfrm>
          <a:prstGeom prst="roundRect">
            <a:avLst>
              <a:gd name="adj" fmla="val 45000"/>
            </a:avLst>
          </a:prstGeom>
          <a:solidFill>
            <a:srgbClr val="173E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0" name="TextBox 19"/>
          <p:cNvSpPr txBox="1"/>
          <p:nvPr/>
        </p:nvSpPr>
        <p:spPr>
          <a:xfrm>
            <a:off x="914400" y="4749800"/>
            <a:ext cx="58928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成果 ③｜累積校園午餐大數據長期參照庫</a:t>
            </a:r>
          </a:p>
        </p:txBody>
      </p:sp>
      <p:sp xmlns:a="http://schemas.openxmlformats.org/drawingml/2006/main">
        <p:nvSpPr>
          <p:cNvPr id="21" name="TextBox 20"/>
          <p:cNvSpPr txBox="1"/>
          <p:nvPr/>
        </p:nvSpPr>
        <p:spPr>
          <a:xfrm>
            <a:off x="863600" y="5156200"/>
            <a:ext cx="5994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整合 40 天學校菜單、23 天官方食材登錄、17 張實拍餐盤與 120 則配餐情境，成為學生、導師與學校營養師的長期惜食決策寶庫！</a:t>
            </a:r>
          </a:p>
        </p:txBody>
      </p:sp>
      <p:sp xmlns:a="http://schemas.openxmlformats.org/drawingml/2006/main">
        <p:nvSpPr>
          <p:cNvPr id="22" name="Rounded Rectangle 21"/>
          <p:cNvSpPr/>
          <p:nvPr/>
        </p:nvSpPr>
        <p:spPr>
          <a:xfrm>
            <a:off x="7289800" y="1498600"/>
            <a:ext cx="4241800" cy="449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2E71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3" name="Rounded Rectangle 22"/>
          <p:cNvSpPr/>
          <p:nvPr/>
        </p:nvSpPr>
        <p:spPr>
          <a:xfrm>
            <a:off x="7467600" y="1651000"/>
            <a:ext cx="3886200" cy="355600"/>
          </a:xfrm>
          <a:prstGeom prst="roundRect">
            <a:avLst>
              <a:gd name="adj" fmla="val 45000"/>
            </a:avLst>
          </a:prstGeom>
          <a:solidFill>
            <a:srgbClr val="173E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4" name="TextBox 23"/>
          <p:cNvSpPr txBox="1"/>
          <p:nvPr/>
        </p:nvSpPr>
        <p:spPr>
          <a:xfrm>
            <a:off x="7543800" y="1651000"/>
            <a:ext cx="37338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📱 平板快速掃描立即體驗</a:t>
            </a:r>
          </a:p>
        </p:txBody>
      </p:sp>
      <p:pic xmlns:a="http://schemas.openxmlformats.org/drawingml/2006/main" xmlns:r="http://schemas.openxmlformats.org/officeDocument/2006/relationships">
        <p:nvPicPr>
          <p:cNvPr id="25" name="Picture 2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18400" y="2184400"/>
            <a:ext cx="1752600" cy="1752600"/>
          </a:xfrm>
          <a:prstGeom prst="rect">
            <a:avLst/>
          </a:prstGeom>
          <a:ln w="12700">
            <a:solidFill>
              <a:srgbClr val="CFE5D8"/>
            </a:solidFill>
          </a:ln>
        </p:spPr>
      </p:pic>
      <p:sp xmlns:a="http://schemas.openxmlformats.org/drawingml/2006/main">
        <p:nvSpPr>
          <p:cNvPr id="26" name="TextBox 25"/>
          <p:cNvSpPr txBox="1"/>
          <p:nvPr/>
        </p:nvSpPr>
        <p:spPr>
          <a:xfrm>
            <a:off x="7467600" y="4013200"/>
            <a:ext cx="18542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① 開啟食光偵探 App</a:t>
            </a:r>
          </a:p>
        </p:txBody>
      </p:sp>
      <p:sp xmlns:a="http://schemas.openxmlformats.org/drawingml/2006/main">
        <p:nvSpPr>
          <p:cNvPr id="27" name="TextBox 26"/>
          <p:cNvSpPr txBox="1"/>
          <p:nvPr/>
        </p:nvSpPr>
        <p:spPr>
          <a:xfrm>
            <a:off x="7467600" y="4318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080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AI 配餐・餐盤剩食辨識</a:t>
            </a:r>
          </a:p>
        </p:txBody>
      </p:sp>
      <p:pic xmlns:a="http://schemas.openxmlformats.org/drawingml/2006/main" xmlns:r="http://schemas.openxmlformats.org/officeDocument/2006/relationships">
        <p:nvPicPr>
          <p:cNvPr id="28" name="Picture 2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0400" y="2184400"/>
            <a:ext cx="1752600" cy="1752600"/>
          </a:xfrm>
          <a:prstGeom prst="rect">
            <a:avLst/>
          </a:prstGeom>
          <a:ln w="12700">
            <a:solidFill>
              <a:srgbClr val="CFE5D8"/>
            </a:solidFill>
          </a:ln>
        </p:spPr>
      </p:pic>
      <p:sp xmlns:a="http://schemas.openxmlformats.org/drawingml/2006/main">
        <p:nvSpPr>
          <p:cNvPr id="29" name="TextBox 28"/>
          <p:cNvSpPr txBox="1"/>
          <p:nvPr/>
        </p:nvSpPr>
        <p:spPr>
          <a:xfrm>
            <a:off x="9499600" y="4013200"/>
            <a:ext cx="18542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2E7154"/>
                </a:solidFill>
                <a:latin typeface="Heiti TC"/>
                <a:ea typeface="Heiti TC"/>
                <a:cs typeface="Heiti TC"/>
              </a:rPr>
              <a:t>② 探索總入口與問卷</a:t>
            </a:r>
          </a:p>
        </p:txBody>
      </p:sp>
      <p:sp xmlns:a="http://schemas.openxmlformats.org/drawingml/2006/main">
        <p:nvSpPr>
          <p:cNvPr id="30" name="TextBox 29"/>
          <p:cNvSpPr txBox="1"/>
          <p:nvPr/>
        </p:nvSpPr>
        <p:spPr>
          <a:xfrm>
            <a:off x="9499600" y="4318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080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兩隊簡報・午餐小問卷</a:t>
            </a:r>
          </a:p>
        </p:txBody>
      </p:sp>
      <p:sp xmlns:a="http://schemas.openxmlformats.org/drawingml/2006/main">
        <p:nvSpPr>
          <p:cNvPr id="31" name="Rounded Rectangle 30"/>
          <p:cNvSpPr/>
          <p:nvPr/>
        </p:nvSpPr>
        <p:spPr>
          <a:xfrm>
            <a:off x="7467600" y="4775200"/>
            <a:ext cx="3886200" cy="1041400"/>
          </a:xfrm>
          <a:prstGeom prst="roundRect">
            <a:avLst>
              <a:gd name="adj" fmla="val 8000"/>
            </a:avLst>
          </a:prstGeom>
          <a:solidFill>
            <a:srgbClr val="E6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2" name="TextBox 31"/>
          <p:cNvSpPr txBox="1"/>
          <p:nvPr/>
        </p:nvSpPr>
        <p:spPr>
          <a:xfrm>
            <a:off x="7569200" y="4876800"/>
            <a:ext cx="36830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✨ 邀請評審與同學一起試試看：</a:t>
            </a:r>
          </a:p>
          <a:p>
            <a:pPr algn="l">
              <a:lnSpc>
                <a:spcPct val="122000"/>
              </a:lnSpc>
            </a:pPr>
            <a:r>
              <a:rPr sz="120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掃描左方開啟 AI 智慧配餐與剩食辨識；</a:t>
            </a:r>
          </a:p>
          <a:p>
            <a:pPr algn="l">
              <a:lnSpc>
                <a:spcPct val="122000"/>
              </a:lnSpc>
            </a:pPr>
            <a:r>
              <a:rPr sz="120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掃描右方查看兩隊完整簡報與填寫問卷！</a:t>
            </a:r>
          </a:p>
        </p:txBody>
      </p:sp>
    </p:spTree>
    <p:extLst>
      <p:ext uri="{BB962C8B-B14F-4D97-AF65-F5344CB8AC3E}">
        <p14:creationId xmlns:p14="http://schemas.microsoft.com/office/powerpoint/2010/main" val="142286759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2E7154"/>
      </a:hlink>
      <a:folHlink>
        <a:srgbClr val="2E7154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2026-10-13T02:37:43.0760000Z</dcterms:created>
  <dcterms:modified xsi:type="dcterms:W3CDTF">2026-10-13T02:37:43.0760000Z</dcterms:modified>
</coreProperties>
</file>