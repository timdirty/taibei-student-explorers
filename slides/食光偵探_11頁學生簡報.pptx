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50bd339cd5c24b49" Type="http://schemas.openxmlformats.org/package/2006/relationships/metadata/core-properties" Target="docProps/core.xml"/><Relationship Id="Ra082d4386f4f42ec" Type="http://schemas.openxmlformats.org/officeDocument/2006/relationships/officeDocument" Target="ppt/presentation.xml"/><Relationship Id="Rc57abef743194722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c8e0d2dda0405c"/>
  </p:sldMasterIdLst>
  <p:notesMasterIdLst>
    <p:notesMasterId xmlns:r="http://schemas.openxmlformats.org/officeDocument/2006/relationships" r:id="R449ec65bf5854741"/>
  </p:notesMasterIdLst>
  <p:sldIdLst>
    <p:sldId xmlns:r="http://schemas.openxmlformats.org/officeDocument/2006/relationships" id="256" r:id="R5b55a701e60544c2"/>
    <p:sldId xmlns:r="http://schemas.openxmlformats.org/officeDocument/2006/relationships" id="257" r:id="R902e4b94434e4e96"/>
    <p:sldId xmlns:r="http://schemas.openxmlformats.org/officeDocument/2006/relationships" id="258" r:id="R6124bb3c12334ad0"/>
    <p:sldId xmlns:r="http://schemas.openxmlformats.org/officeDocument/2006/relationships" id="259" r:id="Rf8113b863dc544bd"/>
    <p:sldId xmlns:r="http://schemas.openxmlformats.org/officeDocument/2006/relationships" id="260" r:id="Rf29d3daf4a5c4291"/>
    <p:sldId xmlns:r="http://schemas.openxmlformats.org/officeDocument/2006/relationships" id="262" r:id="R94c11cd983c64e92"/>
    <p:sldId xmlns:r="http://schemas.openxmlformats.org/officeDocument/2006/relationships" id="263" r:id="R644e40dbc742474c"/>
    <p:sldId xmlns:r="http://schemas.openxmlformats.org/officeDocument/2006/relationships" id="261" r:id="R6dd35eeaccb047a3"/>
    <p:sldId xmlns:r="http://schemas.openxmlformats.org/officeDocument/2006/relationships" id="266" r:id="rId1"/>
    <p:sldId xmlns:r="http://schemas.openxmlformats.org/officeDocument/2006/relationships" id="264" r:id="R14744d8b7a4b42c0"/>
    <p:sldId xmlns:r="http://schemas.openxmlformats.org/officeDocument/2006/relationships" id="265" r:id="R6d98f9344d754a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eeaac1932dc4b5e" Type="http://schemas.openxmlformats.org/officeDocument/2006/relationships/tableStyles" Target="tableStyles.xml"/><Relationship Id="R1325b6185b3344f9" Type="http://schemas.openxmlformats.org/officeDocument/2006/relationships/presProps" Target="presProps.xml"/><Relationship Id="R14744d8b7a4b42c0" Type="http://schemas.openxmlformats.org/officeDocument/2006/relationships/slide" Target="slides/slide10.xml"/><Relationship Id="R449ec65bf5854741" Type="http://schemas.openxmlformats.org/officeDocument/2006/relationships/notesMaster" Target="notesMasters/notesMaster1.xml"/><Relationship Id="R5b55a701e60544c2" Type="http://schemas.openxmlformats.org/officeDocument/2006/relationships/slide" Target="slides/slide1.xml"/><Relationship Id="R6124bb3c12334ad0" Type="http://schemas.openxmlformats.org/officeDocument/2006/relationships/slide" Target="slides/slide3.xml"/><Relationship Id="R644e40dbc742474c" Type="http://schemas.openxmlformats.org/officeDocument/2006/relationships/slide" Target="slides/slide7.xml"/><Relationship Id="R6d98f9344d754af1" Type="http://schemas.openxmlformats.org/officeDocument/2006/relationships/slide" Target="slides/slide11.xml"/><Relationship Id="R6dd35eeaccb047a3" Type="http://schemas.openxmlformats.org/officeDocument/2006/relationships/slide" Target="slides/slide8.xml"/><Relationship Id="R6ec8e0d2dda0405c" Type="http://schemas.openxmlformats.org/officeDocument/2006/relationships/slideMaster" Target="slideMasters/slideMaster1.xml"/><Relationship Id="R902e4b94434e4e96" Type="http://schemas.openxmlformats.org/officeDocument/2006/relationships/slide" Target="slides/slide2.xml"/><Relationship Id="R94c11cd983c64e92" Type="http://schemas.openxmlformats.org/officeDocument/2006/relationships/slide" Target="slides/slide6.xml"/><Relationship Id="Rf0a6321199884222" Type="http://schemas.openxmlformats.org/officeDocument/2006/relationships/theme" Target="theme/theme1.xml"/><Relationship Id="Rf29d3daf4a5c4291" Type="http://schemas.openxmlformats.org/officeDocument/2006/relationships/slide" Target="slides/slide5.xml"/><Relationship Id="Rf8113b863dc544bd" Type="http://schemas.openxmlformats.org/officeDocument/2006/relationships/slide" Target="slides/slide4.xml"/><Relationship Id="rId1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dfcbb470185c4b7f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a0a1a61c770047db" Type="http://schemas.openxmlformats.org/officeDocument/2006/relationships/slide" Target="../slides/slide1.xml"/><Relationship Id="Re4a52ce3455049d3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58d60666ada14e95" Type="http://schemas.openxmlformats.org/officeDocument/2006/relationships/slide" Target="../slides/slide2.xml"/><Relationship Id="Rae4d7b471c8e4b6d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4523f6fcfa7746ec" Type="http://schemas.openxmlformats.org/officeDocument/2006/relationships/slide" Target="../slides/slide3.xml"/><Relationship Id="Re5a4c5d93d4d46c6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52db7e686e964062" Type="http://schemas.openxmlformats.org/officeDocument/2006/relationships/notesMaster" Target="../notesMasters/notesMaster1.xml"/><Relationship Id="Ra791c3b1675746f4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0b692c451ceb4e5d" Type="http://schemas.openxmlformats.org/officeDocument/2006/relationships/slide" Target="../slides/slide5.xml"/><Relationship Id="Rf683b1ae4fe548ea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ce4b6a2701544d66" Type="http://schemas.openxmlformats.org/officeDocument/2006/relationships/notesMaster" Target="../notesMasters/notesMaster1.xml"/><Relationship Id="Rd647a929b0684099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18a7dacdf6184612" Type="http://schemas.openxmlformats.org/officeDocument/2006/relationships/slide" Target="../slides/slide6.xml"/><Relationship Id="R556a53f009274ea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4fe47a64a4334425" Type="http://schemas.openxmlformats.org/officeDocument/2006/relationships/slide" Target="../slides/slide7.xml"/><Relationship Id="Ra4bf196f03ef4fa5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d3407a514e9a444b" Type="http://schemas.openxmlformats.org/officeDocument/2006/relationships/notesMaster" Target="../notesMasters/notesMaster1.xml"/><Relationship Id="Rf45868872ee2480a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006d9d3d9313405e" Type="http://schemas.openxmlformats.org/officeDocument/2006/relationships/slide" Target="../slides/slide11.xml"/><Relationship Id="Rd4d5837826f64426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大家好，我們是食光追查隊。我們想讓午餐剛剛好，吃得夠，也少一點浪費。食光偵探陪我們找一個下一餐能試的方法。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圖片與資料出處</a:t>
            </a:r>
          </a:p>
          <a:p xmlns:a="http://schemas.openxmlformats.org/drawingml/2006/main">
            <a:r>
              <a:t>封面：AI繪圖</a:t>
            </a:r>
          </a:p>
          <a:p xmlns:a="http://schemas.openxmlformats.org/drawingml/2006/main">
            <a:r>
              <a:t>泰北國際雙語學校-國小部，隊名與食光學生名單由家長確認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有時吃不完，有時還沒吃夠。我們先問自己的感受，再想辦法。照片看得到食物，卻不知道我為什麼留下它。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圖片與資料出處</a:t>
            </a:r>
          </a:p>
          <a:p xmlns:a="http://schemas.openxmlformats.org/drawingml/2006/main">
            <a:r>
              <a:t>https://foodlens-school.vercel.app/</a:t>
            </a:r>
          </a:p>
          <a:p xmlns:a="http://schemas.openxmlformats.org/drawingml/2006/main">
            <a:r>
              <a:t>餐盤照片：家長提供的原照。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份量適合我嗎？時間夠嗎？還餓能不能再添？我們畫下問題，每次先挑一個。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圖片與資料出處</a:t>
            </a:r>
          </a:p>
          <a:p xmlns:a="http://schemas.openxmlformats.org/drawingml/2006/main">
            <a:r>
              <a:t>https://foodlens-school.vercel.app/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這是學校給我們的九月和十月菜單。我看到十月十六日有香酥魚排和鐵板豬柳，先想要盛多少，再問 AI。吃飯前，也看看今天有沒有換菜。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圖片與資料出處</a:t>
            </a:r>
          </a:p>
          <a:p xmlns:a="http://schemas.openxmlformats.org/drawingml/2006/main">
            <a:r>
              <a:t>https://foodlens-school.vercel.app/menu-sources/taibei-lunch-115-09.pdf</a:t>
            </a:r>
          </a:p>
          <a:p xmlns:a="http://schemas.openxmlformats.org/drawingml/2006/main">
            <a:r>
              <a:t>/Users/apple/Downloads/115年9月菜單-泰北國小.pdf</a:t>
            </a:r>
          </a:p>
          <a:p xmlns:a="http://schemas.openxmlformats.org/drawingml/2006/main">
            <a:r>
              <a:t>原始公告頁圖：2026-10-12 原始 PDF 頁面轉圖</a:t>
            </a:r>
          </a:p>
          <a:p xmlns:a="http://schemas.openxmlformats.org/drawingml/2006/main">
            <a:r>
              <a:t>來源版本：7a68dcb 加上未提交的圖片操作與故事地圖改善，2026-10-12 至 10-13 本機截圖</a:t>
            </a:r>
          </a:p>
          <a:p xmlns:a="http://schemas.openxmlformats.org/drawingml/2006/main">
            <a:r>
              <a:t>使用者提供的原始官方菜單，原頁標題為115年8~9月，保留原圖全部內容。PDF SHA-256：6f8410ef43fa12c6207a58572afe7fb563a0c72ceb146c394d0b31f2e99e4853。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https://foodlens-school.vercel.app/menu-sources/taibei-lunch-115-10.pdf</a:t>
            </a:r>
          </a:p>
          <a:p xmlns:a="http://schemas.openxmlformats.org/drawingml/2006/main">
            <a:r>
              <a:t>/Users/apple/Downloads/115年10月菜單-泰北國小.pdf</a:t>
            </a:r>
          </a:p>
          <a:p xmlns:a="http://schemas.openxmlformats.org/drawingml/2006/main">
            <a:r>
              <a:t>原始公告頁圖：2026-10-12 原始 PDF 頁面轉圖</a:t>
            </a:r>
          </a:p>
          <a:p xmlns:a="http://schemas.openxmlformats.org/drawingml/2006/main">
            <a:r>
              <a:t>來源版本：7a68dcb 加上未提交的圖片操作與故事地圖改善，2026-10-12 至 10-13 本機截圖</a:t>
            </a:r>
          </a:p>
          <a:p xmlns:a="http://schemas.openxmlformats.org/drawingml/2006/main">
            <a:r>
              <a:t>使用者提供的原始官方115年10月菜單PDF完整頁面。PDF SHA-256：01850f0ffc0b42d5ef7b0152fa972b58c89d36ef5156ddbcdb24bd16fb4703ce。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https://foodlens-school.vercel.app/menu-sources/taibei-lunch-115-10.pdf</a:t>
            </a:r>
          </a:p>
          <a:p xmlns:a="http://schemas.openxmlformats.org/drawingml/2006/main">
            <a:r>
              <a:t>/Users/apple/Downloads/115年10月菜單-泰北國小.pdf</a:t>
            </a:r>
          </a:p>
          <a:p xmlns:a="http://schemas.openxmlformats.org/drawingml/2006/main">
            <a:r>
              <a:t>原始公告頁圖：2026-10-12 原始 PDF 頁面轉圖</a:t>
            </a:r>
          </a:p>
          <a:p xmlns:a="http://schemas.openxmlformats.org/drawingml/2006/main">
            <a:r>
              <a:t>來源版本：7a68dcb 加上未提交的圖片操作與故事地圖改善，2026-10-12 至 10-13 本機截圖</a:t>
            </a:r>
          </a:p>
          <a:p xmlns:a="http://schemas.openxmlformats.org/drawingml/2006/main">
            <a:r>
              <a:t>十月原始菜單10/16主菜香酥魚排與副菜一鐵板豬柳的原圖局部，保留原文字與食材說明。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我點一道菜，問 AI 可以怎麼吃。看畫面中的菜圖，挑一個想試的方法，也能追問。把回答保存，再帶去拍自己的餐盤。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圖片與資料出處</a:t>
            </a:r>
          </a:p>
          <a:p xmlns:a="http://schemas.openxmlformats.org/drawingml/2006/main">
            <a:r>
              <a:t>http://localhost:3000/coach?menu=2026-10-16&amp;dish=1</a:t>
            </a:r>
          </a:p>
          <a:p xmlns:a="http://schemas.openxmlformats.org/drawingml/2006/main">
            <a:r>
              <a:t>App 實際畫面：2026-10-12 約 17:08 Asia/Taipei</a:t>
            </a:r>
          </a:p>
          <a:p xmlns:a="http://schemas.openxmlformats.org/drawingml/2006/main">
            <a:r>
              <a:t>來源版本：7a68dcb 加上未提交的圖片操作與故事地圖改善，2026-10-12 至 10-13 本機截圖</a:t>
            </a:r>
          </a:p>
          <a:p xmlns:a="http://schemas.openxmlformats.org/drawingml/2006/main">
            <a:r>
              <a:t>新版介面的實際截圖。重開既有保存的真實 Gemini 回答（plan 5656eb63-e5a8-4e50-9aa2-646256d7a25c），含公告原菜單、已保存回答、帶去拍餐盤入口。模型回覆產生於前次發行，本次截圖沒有重新呼叫模型。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我們實際追蹤兩餐來驗證 AI 推薦的吃飯策略！第一餐還沒用策略時，餐後剩下 162 克；第二餐採用 AI 推薦的方法，白飯先盛剛好、先吃青菜配主菜，結果餐後只剩 14 克，剩食減少了 91%，而且肚子吃得剛剛好飽！</a:t>
            </a:r>
          </a:p>
          <a:p xmlns:a="http://schemas.openxmlformats.org/drawingml/2006/main"/>
          <a:p xmlns:a="http://schemas.openxmlformats.org/drawingml/2006/main">
            <a:r>
              <a:t>圖片與資料出處</a:t>
            </a:r>
          </a:p>
          <a:p xmlns:a="http://schemas.openxmlformats.org/drawingml/2006/main">
            <a:r>
              <a:t>餐盤實拍與 AI 估算：public/field-photos/plate-06.jpg（162g）與 plate-07.jpg（14g）。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我先選想盛多少，再想好還餓怎麼辦。玩完的小計畫可以帶去拍餐盤。每個人的食量不同，我們希望大家吃得夠。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圖片與資料出處</a:t>
            </a:r>
          </a:p>
          <a:p xmlns:a="http://schemas.openxmlformats.org/drawingml/2006/main">
            <a:r>
              <a:t>http://localhost:3000/game?menu=2026-10-16</a:t>
            </a:r>
          </a:p>
          <a:p xmlns:a="http://schemas.openxmlformats.org/drawingml/2006/main">
            <a:r>
              <a:t>App 實際畫面：2026-10-12 本機實際遊戲頁面截圖</a:t>
            </a:r>
          </a:p>
          <a:p xmlns:a="http://schemas.openxmlformats.org/drawingml/2006/main">
            <a:r>
              <a:t>來源版本：7a68dcb 加上未提交的圖片操作與故事地圖改善，2026-10-12 至 10-13 本機截圖</a:t>
            </a:r>
          </a:p>
          <a:p xmlns:a="http://schemas.openxmlformats.org/drawingml/2006/main">
            <a:r>
              <a:t>實際遊戲頁面，2026-10-16公告的六道菜與三種份量選項。截圖時未點份量、未保存或覆寫既有10/12小計畫，沒有呼叫AI，沒有新份量結果或實際用餐重量。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吃完午餐後，我們拍下餐盤，AI 會智慧辨識每一格剩下的克數，像這盤青菜剩 80 克、排骨剩 72 克，合計 162 克。AI 發現是因為先吃白飯太快飽，就會自動推薦下一餐的吃飯策略：白飯先盛四分之三碗、趁熱先吃三口青菜配排骨，還餓再去添飯。</a:t>
            </a:r>
          </a:p>
          <a:p xmlns:a="http://schemas.openxmlformats.org/drawingml/2006/main"/>
          <a:p xmlns:a="http://schemas.openxmlformats.org/drawingml/2006/main">
            <a:r>
              <a:t>圖片與資料出處</a:t>
            </a:r>
          </a:p>
          <a:p xmlns:a="http://schemas.openxmlformats.org/drawingml/2006/main">
            <a:r>
              <a:t>餐盤實拍與 AI 估算：public/field-photos/plate-06.jpg、plate-01.jpg 與 ai-estimates.json。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當我們累積越多筆紀錄，就會成為超有價值的校園午餐大數據參照庫！我們整合了 40 天公告菜單、23 天教育部實登熱量與進貨重量、17 張實拍餐盤 AI 克數辨識與 120 則配餐情境，不只幫同學吃得剛好，更能提供給導師、學校營養師與廚房作為長期開菜單與精準備餐的依據！</a:t>
            </a:r>
          </a:p>
          <a:p xmlns:a="http://schemas.openxmlformats.org/drawingml/2006/main"/>
          <a:p xmlns:a="http://schemas.openxmlformats.org/drawingml/2006/main">
            <a:r>
              <a:t>圖片與資料出處</a:t>
            </a:r>
          </a:p>
          <a:p xmlns:a="http://schemas.openxmlformats.org/drawingml/2006/main">
            <a:r>
              <a:t>學校 9–10 月菜單、教育部校園食材登錄平臺 23 天實測資料與 AI 餐盤辨識資料庫。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講稿</a:t>
            </a:r>
          </a:p>
          <a:p xmlns:a="http://schemas.openxmlformats.org/drawingml/2006/main">
            <a:r>
              <a:t>換你來做實驗！掃這個 QR code，選一道今天的菜問問 AI。餐後拍一下、記感受，下一餐帶著方法再拍一次，你也能湊齊一次兩餐實驗。分享頁有兩隊簡報、操作圖和問卷。</a:t>
            </a:r>
          </a:p>
          <a:p xmlns:a="http://schemas.openxmlformats.org/drawingml/2006/main"/>
          <a:p xmlns:a="http://schemas.openxmlformats.org/drawingml/2006/main">
            <a:r>
              <a:t>圖片與資料出處</a:t>
            </a:r>
          </a:p>
          <a:p xmlns:a="http://schemas.openxmlformats.org/drawingml/2006/main">
            <a:r>
              <a:t>QR code 連到 https://foodlens-school.vercel.app/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講稿</a:t>
            </a:r>
          </a:p>
          <a:p>
            <a:r>
              <a:t>食光偵探不只幫個人，還能擴展到班級和全校！第一層幫個人推薦每餐盛飯比例與吃菜策略；第二層統計全班各道菜平均剩食量，找出班上最愛與常剩的菜色；第三層結合全校 23 天教育部食材登錄平臺每餐 707 到 905 大卡資料，預測全校對不同口味的喜好度，提前調整菜單、從源頭預防剩食！</a:t>
            </a:r>
          </a:p>
          <a:p/>
          <a:p>
            <a:r>
              <a:t>圖片與資料出處</a:t>
            </a:r>
          </a:p>
          <a:p>
            <a:r>
              <a:t>個人餐盤 plate-09.jpg、班級餐桶 class-bin-01.jpg、教育部食材登錄平臺菜色照 dish-13507.jpg。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a71a3c40e9fd4220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0152adba99ee42ca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0dd206c2a23043c0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4af8c2c84652455d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c1b17e2536cd4958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ed998ce805e94fb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F79DA6-3591-455C-8D7E-595411C685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D2B2A66-81CF-46A3-BF01-7F51E913CEC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CD5C2C2-EA63-45D3-BE46-2725BF9760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4A5FAC-5373-416C-B238-20954AE06B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C7EDD08-D8E8-4B56-9145-AB7480C2D3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7FB6E1D-853E-46DF-B342-9612DF7277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67FF499-2F8A-41C4-988E-B29CED5473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E27E04B-9DB0-42D4-9B7A-A2DF7AD8C8F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6E9196-2859-44BA-80FA-E4CE28E7F7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6672E95-8F85-43BF-81DC-C636B20749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f9e1217b9a64586" Type="http://schemas.openxmlformats.org/officeDocument/2006/relationships/theme" Target="theme/theme2.xml"/><Relationship Id="R36592bf577214957" Type="http://schemas.openxmlformats.org/officeDocument/2006/relationships/slideLayout" Target="../slideLayouts/slideLayout4.xml"/><Relationship Id="R581910597fd44194" Type="http://schemas.openxmlformats.org/officeDocument/2006/relationships/slideLayout" Target="../slideLayouts/slideLayout6.xml"/><Relationship Id="R5c9c507b1ff84c43" Type="http://schemas.openxmlformats.org/officeDocument/2006/relationships/slideLayout" Target="../slideLayouts/slideLayout2.xml"/><Relationship Id="R98064ee8395b42b8" Type="http://schemas.openxmlformats.org/officeDocument/2006/relationships/slideLayout" Target="../slideLayouts/slideLayout5.xml"/><Relationship Id="Raf900dde119c4e5e" Type="http://schemas.openxmlformats.org/officeDocument/2006/relationships/slideLayout" Target="../slideLayouts/slideLayout3.xml"/><Relationship Id="Rd3bc29198b6b44ce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bc29198b6b44ce"/>
    <p:sldLayoutId xmlns:r="http://schemas.openxmlformats.org/officeDocument/2006/relationships" id="2147483650" r:id="R5c9c507b1ff84c43"/>
    <p:sldLayoutId xmlns:r="http://schemas.openxmlformats.org/officeDocument/2006/relationships" id="2147483651" r:id="Raf900dde119c4e5e"/>
    <p:sldLayoutId xmlns:r="http://schemas.openxmlformats.org/officeDocument/2006/relationships" id="2147483652" r:id="R36592bf577214957"/>
    <p:sldLayoutId xmlns:r="http://schemas.openxmlformats.org/officeDocument/2006/relationships" id="2147483653" r:id="R98064ee8395b42b8"/>
    <p:sldLayoutId xmlns:r="http://schemas.openxmlformats.org/officeDocument/2006/relationships" id="2147483654" r:id="R581910597fd441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55f80f4c44b34d4a" Type="http://schemas.openxmlformats.org/officeDocument/2006/relationships/notesSlide" Target="../notesSlides/notesSlide1.xml"/><Relationship Id="R69f369b98dae4bb3" Type="http://schemas.openxmlformats.org/officeDocument/2006/relationships/slideLayout" Target="../slideLayouts/slideLayout6.xml"/><Relationship Id="R71a10e21779a4b97" Type="http://schemas.openxmlformats.org/officeDocument/2006/relationships/image" Target="../media/image.png"/></Relationships>
</file>

<file path=ppt/slides/_rels/slide2.xml.rels><?xml version='1.0' encoding='UTF-8' standalone='yes'?>
<Relationships xmlns="http://schemas.openxmlformats.org/package/2006/relationships"><Relationship Id="R3b36a7519f9b41a7" Type="http://schemas.openxmlformats.org/officeDocument/2006/relationships/notesSlide" Target="../notesSlides/notesSlide2.xml"/><Relationship Id="R51273acb13af4b7b" Type="http://schemas.openxmlformats.org/officeDocument/2006/relationships/image" Target="../media/image.jpeg"/><Relationship Id="Redec5149fbfb42c5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31230afe52ec4733" Type="http://schemas.openxmlformats.org/officeDocument/2006/relationships/slideLayout" Target="../slideLayouts/slideLayout6.xml"/><Relationship Id="R9ead4edf7075447e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6ac731b1bc04491b" Type="http://schemas.openxmlformats.org/officeDocument/2006/relationships/image" Target="../media/image3.png"/><Relationship Id="R85810d39844a4a9c" Type="http://schemas.openxmlformats.org/officeDocument/2006/relationships/image" Target="../media/image2.png"/><Relationship Id="Ra63ac310654d468e" Type="http://schemas.openxmlformats.org/officeDocument/2006/relationships/image" Target="../media/image4.png"/><Relationship Id="Rc5aa1465f99a4bee" Type="http://schemas.openxmlformats.org/officeDocument/2006/relationships/slideLayout" Target="../slideLayouts/slideLayout6.xml"/><Relationship Id="Rff4325357cbc4aa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6ff9950174b44d2a" Type="http://schemas.openxmlformats.org/officeDocument/2006/relationships/slideLayout" Target="../slideLayouts/slideLayout6.xml"/><Relationship Id="Raa145d6f819641a6" Type="http://schemas.openxmlformats.org/officeDocument/2006/relationships/notesSlide" Target="../notesSlides/notesSlide5.xml"/><Relationship Id="Rc0491984917b468a" Type="http://schemas.openxmlformats.org/officeDocument/2006/relationships/image" Target="../media/image2.jpeg"/></Relationships>
</file>

<file path=ppt/slides/_rels/slide6.xml.rels><?xml version='1.0' encoding='UTF-8' standalone='yes'?>
<Relationships xmlns="http://schemas.openxmlformats.org/package/2006/relationships"><Relationship Id="Re64d935a824f47f8" Type="http://schemas.openxmlformats.org/officeDocument/2006/relationships/image" Target="../media/image3.jpeg"/><Relationship Id="Rfa36faabc1594fb5" Type="http://schemas.openxmlformats.org/officeDocument/2006/relationships/notesSlide" Target="../notesSlides/notesSlide7.xml"/><Relationship Id="Rfce3ccac8d014f77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7f6d0a89bb214164" Type="http://schemas.openxmlformats.org/officeDocument/2006/relationships/slideLayout" Target="../slideLayouts/slideLayout6.xml"/><Relationship Id="Rfda5cbaf9a5f4dd1" Type="http://schemas.openxmlformats.org/officeDocument/2006/relationships/notesSlide" Target="../notesSlides/notesSlide8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8.xml.rels><?xml version='1.0' encoding='UTF-8' standalone='yes'?>
<Relationships xmlns="http://schemas.openxmlformats.org/package/2006/relationships"><Relationship Id="R3b82bf10eddb4fc3" Type="http://schemas.openxmlformats.org/officeDocument/2006/relationships/notesSlide" Target="../notesSlides/notesSlide6.xml"/><Relationship Id="R88303fc2f371447e" Type="http://schemas.openxmlformats.org/officeDocument/2006/relationships/slideLayout" Target="../slideLayouts/slideLayout6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5.jpg"/><Relationship Id="rId8" Type="http://schemas.openxmlformats.org/officeDocument/2006/relationships/image" Target="../media/image16.jpg"/></Relationships>
</file>

<file path=ppt/slides/_rels/slide9.xml.rels><?xml version='1.0' encoding='UTF-8' standalone='yes'?>
<Relationships xmlns="http://schemas.openxmlformats.org/package/2006/relationships"><Relationship Id="R6ff9950174b44d2a" Type="http://schemas.openxmlformats.org/officeDocument/2006/relationships/slideLayout" Target="../slideLayouts/slideLayout6.xml"/><Relationship Id="Rc0491984917b468a" Type="http://schemas.openxmlformats.org/officeDocument/2006/relationships/image" Target="../media/image2.jpe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11.xml"/><Relationship Id="rId6" Type="http://schemas.openxmlformats.org/officeDocument/2006/relationships/image" Target="../media/image17.jpg"/><Relationship Id="rId7" Type="http://schemas.openxmlformats.org/officeDocument/2006/relationships/image" Target="../media/image18.jpg"/><Relationship Id="rId8" Type="http://schemas.openxmlformats.org/officeDocument/2006/relationships/image" Target="../media/image19.jpg"/><Relationship Id="rId9" Type="http://schemas.openxmlformats.org/officeDocument/2006/relationships/image" Target="../media/image20.jpg"/></Relationships>
</file>

<file path=ppt/slides/_rels/slide10.xml.rels><?xml version='1.0' encoding='UTF-8' standalone='yes'?>
<Relationships xmlns="http://schemas.openxmlformats.org/package/2006/relationships"><Relationship Id="R30d64914766c4e22" Type="http://schemas.openxmlformats.org/officeDocument/2006/relationships/notesSlide" Target="../notesSlides/notesSlide9.xml"/><Relationship Id="R3fbe0fc1dfa9420e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28fbecb343c24c04" Type="http://schemas.openxmlformats.org/officeDocument/2006/relationships/hyperlink" Target="https://foodlens-school.vercel.app/" TargetMode="External"/><Relationship Id="R37b78fff208b4799" Type="http://schemas.openxmlformats.org/officeDocument/2006/relationships/notesSlide" Target="../notesSlides/notesSlide10.xml"/><Relationship Id="R7815e7378b4b44c3" Type="http://schemas.openxmlformats.org/officeDocument/2006/relationships/hyperlink" Target="https://foodlens-school.vercel.app/students" TargetMode="External"/><Relationship Id="Ra36a478fb42a4435" Type="http://schemas.openxmlformats.org/officeDocument/2006/relationships/hyperlink" Target="https://foodlens-school.vercel.app/" TargetMode="External"/><Relationship Id="Rd622c82c050b4854" Type="http://schemas.openxmlformats.org/officeDocument/2006/relationships/slideLayout" Target="../slideLayouts/slideLayout6.xml"/><Relationship Id="rId6" Type="http://schemas.openxmlformats.org/officeDocument/2006/relationships/image" Target="../media/image12.pn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53FCEA-599F-4D84-9513-1E512AB344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10e21779a4b9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食光偵探">
            <a:extLst xmlns:a="http://schemas.openxmlformats.org/drawingml/2006/main">
              <a:ext uri="{FF2B5EF4-FFF2-40B4-BE49-F238E27FC236}">
                <a16:creationId xmlns:a16="http://schemas.microsoft.com/office/drawing/2014/main" id="{59A99A74-5BB4-46E4-A440-4AB8BAFA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900" b="1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6900" b="1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pPr>
            <a:r>
              <a:rPr sz="6900" b="1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食光偵探</a:t>
            </a:r>
          </a:p>
        </p:txBody>
      </p:sp>
      <p:sp>
        <p:nvSpPr>
          <p:cNvPr id="3" name="讓午餐剛剛好">
            <a:extLst xmlns:a="http://schemas.openxmlformats.org/drawingml/2006/main">
              <a:ext uri="{FF2B5EF4-FFF2-40B4-BE49-F238E27FC236}">
                <a16:creationId xmlns:a16="http://schemas.microsoft.com/office/drawing/2014/main" id="{EEF5F020-CE6C-4409-8BF7-7C7FDB3A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E7154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E7154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2E7154"/>
                </a:solidFill>
                <a:latin typeface="Heiti TC"/>
                <a:ea typeface="Heiti TC"/>
                <a:cs typeface="Heiti TC"/>
              </a:rPr>
              <a:t>讓午餐剛剛好</a:t>
            </a:r>
          </a:p>
        </p:txBody>
      </p:sp>
      <p:sp>
        <p:nvSpPr>
          <p:cNvPr id="4" name="食光追查隊">
            <a:extLst xmlns:a="http://schemas.openxmlformats.org/drawingml/2006/main">
              <a:ext uri="{FF2B5EF4-FFF2-40B4-BE49-F238E27FC236}">
                <a16:creationId xmlns:a16="http://schemas.microsoft.com/office/drawing/2014/main" id="{C5CB0650-E492-4487-8E3F-11CEE9AA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食光追查隊</a:t>
            </a:r>
          </a:p>
        </p:txBody>
      </p:sp>
      <p:sp>
        <p:nvSpPr>
          <p:cNvPr id="5" name="泰北國際雙語學校-國小部">
            <a:extLst xmlns:a="http://schemas.openxmlformats.org/drawingml/2006/main">
              <a:ext uri="{FF2B5EF4-FFF2-40B4-BE49-F238E27FC236}">
                <a16:creationId xmlns:a16="http://schemas.microsoft.com/office/drawing/2014/main" id="{5EC1BDC7-B63A-4D59-B5DD-51420391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62475"/>
            <a:ext cx="547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泰北國際雙語學校-國小部</a:t>
            </a:r>
          </a:p>
        </p:txBody>
      </p:sp>
      <p:sp>
        <p:nvSpPr>
          <p:cNvPr id="6" name="501 黃苙璇、陳品妤、宋佩瑈&#10;502 ">
            <a:extLst xmlns:a="http://schemas.openxmlformats.org/drawingml/2006/main">
              <a:ext uri="{FF2B5EF4-FFF2-40B4-BE49-F238E27FC236}">
                <a16:creationId xmlns:a16="http://schemas.microsoft.com/office/drawing/2014/main" id="{AF3BE086-0AEF-4F43-B0AC-C08173D5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523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576D62"/>
                </a:solidFill>
                <a:latin typeface="Heiti TC"/>
                <a:ea typeface="Heiti TC"/>
                <a:cs typeface="Heiti TC"/>
              </a:rPr>
              <a:t>501 黃苙璇、陳品妤、宋佩瑈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576D62"/>
                </a:solidFill>
                <a:latin typeface="Heiti TC"/>
                <a:ea typeface="Heiti TC"/>
                <a:cs typeface="Heiti TC"/>
              </a:rPr>
              <a:t>502 陳巧恩</a:t>
            </a:r>
          </a:p>
        </p:txBody>
      </p:sp>
      <p:sp>
        <p:nvSpPr>
          <p:cNvPr id="7" name="AI 概念插畫">
            <a:extLst xmlns:a="http://schemas.openxmlformats.org/drawingml/2006/main">
              <a:ext uri="{FF2B5EF4-FFF2-40B4-BE49-F238E27FC236}">
                <a16:creationId xmlns:a16="http://schemas.microsoft.com/office/drawing/2014/main" id="{56E10267-DBAA-4AB8-A44A-BF859436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76D62"/>
                </a:solidFill>
                <a:latin typeface="Heiti TC"/>
                <a:ea typeface="Heiti TC"/>
                <a:cs typeface="Heiti TC"/>
              </a:rPr>
              <a:t>AI 概念插畫</a:t>
            </a:r>
          </a:p>
        </p:txBody>
      </p:sp>
    </p:spTree>
    <p:extLst>
      <p:ext uri="{BB962C8B-B14F-4D97-AF65-F5344CB8AC3E}">
        <p14:creationId xmlns:p14="http://schemas.microsoft.com/office/powerpoint/2010/main" val="15143285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heading">
            <a:extLst xmlns:a="http://schemas.openxmlformats.org/drawingml/2006/main">
              <a:ext uri="{FF2B5EF4-FFF2-40B4-BE49-F238E27FC236}">
                <a16:creationId xmlns:a16="http://schemas.microsoft.com/office/drawing/2014/main" id="{980043FE-EB20-4A96-9555-5CF8E69D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午餐的兩種困擾</a:t>
            </a:r>
          </a:p>
        </p:txBody>
      </p:sp>
      <p:sp>
        <p:nvSpPr>
          <p:cNvPr id="2" name="食光偵探  食光追查隊">
            <a:extLst xmlns:a="http://schemas.openxmlformats.org/drawingml/2006/main">
              <a:ext uri="{FF2B5EF4-FFF2-40B4-BE49-F238E27FC236}">
                <a16:creationId xmlns:a16="http://schemas.microsoft.com/office/drawing/2014/main" id="{BDE47929-7AE2-4BAD-8D79-2FE205A7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576D62"/>
                </a:solidFill>
                <a:latin typeface="Heiti TC"/>
                <a:ea typeface="Heiti TC"/>
                <a:cs typeface="Heiti TC"/>
              </a:rPr>
              <a:t>食光偵探  食光追查隊</a:t>
            </a:r>
          </a:p>
        </p:txBody>
      </p:sp>
      <p:sp>
        <p:nvSpPr>
          <p:cNvPr id="3" name="02 / 10">
            <a:extLst xmlns:a="http://schemas.openxmlformats.org/drawingml/2006/main">
              <a:ext uri="{FF2B5EF4-FFF2-40B4-BE49-F238E27FC236}">
                <a16:creationId xmlns:a16="http://schemas.microsoft.com/office/drawing/2014/main" id="{FA01EB9F-8092-4DEA-A6F5-3E7798AE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576D62"/>
                </a:solidFill>
                <a:latin typeface="Heiti TC"/>
                <a:ea typeface="Heiti TC"/>
                <a:cs typeface="Heiti TC"/>
              </a:rPr>
              <a:t>02 / 11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B58A2-5CDA-4ED4-B734-99626344E1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273acb13af4b7b"/>
          <a:srcRect xmlns:a="http://schemas.openxmlformats.org/drawingml/2006/main" l="0" t="21901" r="0" b="219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809750"/>
            <a:ext cx="5505450" cy="4124325"/>
          </a:xfrm>
          <a:prstGeom xmlns:a="http://schemas.openxmlformats.org/drawingml/2006/main" prst="rect">
            <a:avLst/>
          </a:prstGeom>
        </p:spPr>
      </p:pic>
      <p:sp>
        <p:nvSpPr>
          <p:cNvPr id="5" name="吃不完？&#10;還沒吃夠？">
            <a:extLst xmlns:a="http://schemas.openxmlformats.org/drawingml/2006/main">
              <a:ext uri="{FF2B5EF4-FFF2-40B4-BE49-F238E27FC236}">
                <a16:creationId xmlns:a16="http://schemas.microsoft.com/office/drawing/2014/main" id="{99B1CF5E-0003-4B49-9FC2-D98F0C82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71675"/>
            <a:ext cx="47625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75" b="1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975" b="1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pPr>
            <a:r>
              <a:rPr sz="3975" b="1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吃不完？</a:t>
            </a:r>
          </a:p>
          <a:p xmlns:a="http://schemas.openxmlformats.org/drawingml/2006/main">
            <a:pPr algn="l">
              <a:buNone/>
              <a:defRPr sz="3975" b="1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pPr>
            <a:r>
              <a:rPr sz="3975" b="1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還沒吃夠？</a:t>
            </a:r>
          </a:p>
        </p:txBody>
      </p:sp>
      <p:sp>
        <p:nvSpPr>
          <p:cNvPr id="6" name="先問自己的感受，&#10;再找一個能試的方法">
            <a:extLst xmlns:a="http://schemas.openxmlformats.org/drawingml/2006/main">
              <a:ext uri="{FF2B5EF4-FFF2-40B4-BE49-F238E27FC236}">
                <a16:creationId xmlns:a16="http://schemas.microsoft.com/office/drawing/2014/main" id="{9A1AC0B1-1F10-45E3-ADB3-901EC3A3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962400"/>
            <a:ext cx="454342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E7154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2E7154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2E7154"/>
                </a:solidFill>
                <a:latin typeface="Heiti TC"/>
                <a:ea typeface="Heiti TC"/>
                <a:cs typeface="Heiti TC"/>
              </a:rPr>
              <a:t>先問自己的感受，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2E7154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2E7154"/>
                </a:solidFill>
                <a:latin typeface="Heiti TC"/>
                <a:ea typeface="Heiti TC"/>
                <a:cs typeface="Heiti TC"/>
              </a:rPr>
              <a:t>再找一個能試的方法</a:t>
            </a:r>
          </a:p>
        </p:txBody>
      </p:sp>
      <p:sp>
        <p:nvSpPr>
          <p:cNvPr id="7" name="照片能看食物，原因要自己說">
            <a:extLst xmlns:a="http://schemas.openxmlformats.org/drawingml/2006/main">
              <a:ext uri="{FF2B5EF4-FFF2-40B4-BE49-F238E27FC236}">
                <a16:creationId xmlns:a16="http://schemas.microsoft.com/office/drawing/2014/main" id="{1FCAD851-CE51-48A8-89D8-BCB33368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5457825"/>
            <a:ext cx="46196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576D62"/>
                </a:solidFill>
                <a:latin typeface="Heiti TC"/>
                <a:ea typeface="Heiti TC"/>
                <a:cs typeface="Heiti TC"/>
              </a:rPr>
              <a:t>照片能看食物，原因要自己說</a:t>
            </a:r>
          </a:p>
        </p:txBody>
      </p:sp>
    </p:spTree>
    <p:extLst>
      <p:ext uri="{BB962C8B-B14F-4D97-AF65-F5344CB8AC3E}">
        <p14:creationId xmlns:p14="http://schemas.microsoft.com/office/powerpoint/2010/main" val="14134171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75EDBF-BFC2-4FE4-BD4C-9EDA3DDC149B}"/>
              </a:ext>
            </a:extLst>
          </p:cNvPr>
          <p:cNvCxnSpPr/>
          <p:nvPr/>
        </p:nvCxnSpPr>
        <p:spPr>
          <a:xfrm xmlns:a="http://schemas.openxmlformats.org/drawingml/2006/main">
            <a:off x="8048625" y="3257550"/>
            <a:ext cx="504825" cy="1343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7154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E1ECF5-4965-4716-A9BD-E71B2C2D856D}"/>
              </a:ext>
            </a:extLst>
          </p:cNvPr>
          <p:cNvCxnSpPr/>
          <p:nvPr/>
        </p:nvCxnSpPr>
        <p:spPr>
          <a:xfrm xmlns:a="http://schemas.openxmlformats.org/drawingml/2006/main" flipV="1">
            <a:off x="8048625" y="2466975"/>
            <a:ext cx="504825" cy="790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7154"/>
            </a:solidFill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EE2F9-63B3-4BCD-B63B-41BB5A6EE05F}"/>
              </a:ext>
            </a:extLst>
          </p:cNvPr>
          <p:cNvCxnSpPr/>
          <p:nvPr/>
        </p:nvCxnSpPr>
        <p:spPr>
          <a:xfrm xmlns:a="http://schemas.openxmlformats.org/drawingml/2006/main" flipH="1">
            <a:off x="3743325" y="3257550"/>
            <a:ext cx="400050" cy="1343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7154"/>
            </a:solidFill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EFAEE-36E9-44F3-855B-4E8E2906DFF8}"/>
              </a:ext>
            </a:extLst>
          </p:cNvPr>
          <p:cNvCxnSpPr/>
          <p:nvPr/>
        </p:nvCxnSpPr>
        <p:spPr>
          <a:xfrm xmlns:a="http://schemas.openxmlformats.org/drawingml/2006/main" flipH="1" flipV="1">
            <a:off x="3743325" y="2466975"/>
            <a:ext cx="400050" cy="790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7154"/>
            </a:solidFill>
          </a:ln>
        </p:spPr>
      </p:cxnSp>
      <p:sp>
        <p:nvSpPr>
          <p:cNvPr id="14" name="slide-heading">
            <a:extLst xmlns:a="http://schemas.openxmlformats.org/drawingml/2006/main">
              <a:ext uri="{FF2B5EF4-FFF2-40B4-BE49-F238E27FC236}">
                <a16:creationId xmlns:a16="http://schemas.microsoft.com/office/drawing/2014/main" id="{FC32E0CC-80B9-482B-956A-C737694B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午餐，我想問</a:t>
            </a:r>
          </a:p>
        </p:txBody>
      </p:sp>
      <p:sp>
        <p:nvSpPr>
          <p:cNvPr id="2" name="食光偵探  食光追查隊">
            <a:extLst xmlns:a="http://schemas.openxmlformats.org/drawingml/2006/main">
              <a:ext uri="{FF2B5EF4-FFF2-40B4-BE49-F238E27FC236}">
                <a16:creationId xmlns:a16="http://schemas.microsoft.com/office/drawing/2014/main" id="{E6DCEDD0-96DC-4A98-A8C6-F49AB7E7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576D62"/>
                </a:solidFill>
                <a:latin typeface="Heiti TC"/>
                <a:ea typeface="Heiti TC"/>
                <a:cs typeface="Heiti TC"/>
              </a:rPr>
              <a:t>食光偵探  食光追查隊</a:t>
            </a:r>
          </a:p>
        </p:txBody>
      </p:sp>
      <p:sp>
        <p:nvSpPr>
          <p:cNvPr id="3" name="03 / 10">
            <a:extLst xmlns:a="http://schemas.openxmlformats.org/drawingml/2006/main">
              <a:ext uri="{FF2B5EF4-FFF2-40B4-BE49-F238E27FC236}">
                <a16:creationId xmlns:a16="http://schemas.microsoft.com/office/drawing/2014/main" id="{7365EB69-229A-4C65-8232-32484547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576D62"/>
                </a:solidFill>
                <a:latin typeface="Heiti TC"/>
                <a:ea typeface="Heiti TC"/>
                <a:cs typeface="Heiti TC"/>
              </a:rPr>
              <a:t>03 / 11</a:t>
            </a:r>
          </a:p>
        </p:txBody>
      </p:sp>
      <p:sp>
        <p:nvSpPr>
          <p:cNvPr id="4" name="mindmap-center">
            <a:extLst xmlns:a="http://schemas.openxmlformats.org/drawingml/2006/main">
              <a:ext uri="{FF2B5EF4-FFF2-40B4-BE49-F238E27FC236}">
                <a16:creationId xmlns:a16="http://schemas.microsoft.com/office/drawing/2014/main" id="{F73C1BDE-A2CC-4053-93DE-F47A8C32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38425"/>
            <a:ext cx="3905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225" b="1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buNone/>
              <a:defRPr sz="3225" b="1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pPr>
            <a:r>
              <a:rPr sz="3225" b="1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午餐怎麼</a:t>
            </a:r>
          </a:p>
          <a:p xmlns:a="http://schemas.openxmlformats.org/drawingml/2006/main">
            <a:pPr algn="ctr">
              <a:buNone/>
              <a:defRPr sz="3225" b="1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pPr>
            <a:r>
              <a:rPr sz="3225" b="1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剛剛好？</a:t>
            </a:r>
          </a:p>
        </p:txBody>
      </p:sp>
      <p:sp>
        <p:nvSpPr>
          <p:cNvPr id="5" name="mindmap-branch-0">
            <a:extLst xmlns:a="http://schemas.openxmlformats.org/drawingml/2006/main">
              <a:ext uri="{FF2B5EF4-FFF2-40B4-BE49-F238E27FC236}">
                <a16:creationId xmlns:a16="http://schemas.microsoft.com/office/drawing/2014/main" id="{5AFB495A-DB9A-4A33-9183-D402451F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3000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2E7154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buNone/>
              <a:defRPr sz="2325" b="1">
                <a:solidFill>
                  <a:srgbClr val="2E7154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2E7154"/>
                </a:solidFill>
                <a:latin typeface="Heiti TC"/>
                <a:ea typeface="Heiti TC"/>
                <a:cs typeface="Heiti TC"/>
              </a:rPr>
              <a:t>份量適合我嗎？</a:t>
            </a:r>
          </a:p>
        </p:txBody>
      </p:sp>
      <p:sp>
        <p:nvSpPr>
          <p:cNvPr id="7" name="mindmap-branch-1">
            <a:extLst xmlns:a="http://schemas.openxmlformats.org/drawingml/2006/main">
              <a:ext uri="{FF2B5EF4-FFF2-40B4-BE49-F238E27FC236}">
                <a16:creationId xmlns:a16="http://schemas.microsoft.com/office/drawing/2014/main" id="{AD6A14A5-52D7-4861-A1DE-EB2D3C72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3000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2E7154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buNone/>
              <a:defRPr sz="2325" b="1">
                <a:solidFill>
                  <a:srgbClr val="2E7154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2E7154"/>
                </a:solidFill>
                <a:latin typeface="Heiti TC"/>
                <a:ea typeface="Heiti TC"/>
                <a:cs typeface="Heiti TC"/>
              </a:rPr>
              <a:t>吃飯時間夠嗎？</a:t>
            </a:r>
          </a:p>
        </p:txBody>
      </p:sp>
      <p:sp>
        <p:nvSpPr>
          <p:cNvPr id="9" name="mindmap-branch-2">
            <a:extLst xmlns:a="http://schemas.openxmlformats.org/drawingml/2006/main">
              <a:ext uri="{FF2B5EF4-FFF2-40B4-BE49-F238E27FC236}">
                <a16:creationId xmlns:a16="http://schemas.microsoft.com/office/drawing/2014/main" id="{CC0A110C-CA5D-4E22-B388-16F5D971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76450"/>
            <a:ext cx="3000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2E7154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buNone/>
              <a:defRPr sz="2325" b="1">
                <a:solidFill>
                  <a:srgbClr val="2E7154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2E7154"/>
                </a:solidFill>
                <a:latin typeface="Heiti TC"/>
                <a:ea typeface="Heiti TC"/>
                <a:cs typeface="Heiti TC"/>
              </a:rPr>
              <a:t>還餓可以再添嗎？</a:t>
            </a:r>
          </a:p>
        </p:txBody>
      </p:sp>
      <p:sp>
        <p:nvSpPr>
          <p:cNvPr id="11" name="mindmap-branch-3">
            <a:extLst xmlns:a="http://schemas.openxmlformats.org/drawingml/2006/main">
              <a:ext uri="{FF2B5EF4-FFF2-40B4-BE49-F238E27FC236}">
                <a16:creationId xmlns:a16="http://schemas.microsoft.com/office/drawing/2014/main" id="{1C4DE315-B4DD-4895-AE4C-0C82D240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10050"/>
            <a:ext cx="3000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2E7154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buNone/>
              <a:defRPr sz="2325" b="1">
                <a:solidFill>
                  <a:srgbClr val="2E7154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2E7154"/>
                </a:solidFill>
                <a:latin typeface="Heiti TC"/>
                <a:ea typeface="Heiti TC"/>
                <a:cs typeface="Heiti TC"/>
              </a:rPr>
              <a:t>下一餐想試什麼？</a:t>
            </a:r>
          </a:p>
        </p:txBody>
      </p:sp>
      <p:sp>
        <p:nvSpPr>
          <p:cNvPr id="13" name="依既有手寫方向整理，每次先挑一個小問題">
            <a:extLst xmlns:a="http://schemas.openxmlformats.org/drawingml/2006/main">
              <a:ext uri="{FF2B5EF4-FFF2-40B4-BE49-F238E27FC236}">
                <a16:creationId xmlns:a16="http://schemas.microsoft.com/office/drawing/2014/main" id="{65AEF735-A6EC-4CD0-98F1-CF0CF38B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769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buNone/>
              <a:defRPr sz="217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576D62"/>
                </a:solidFill>
                <a:latin typeface="Heiti TC"/>
                <a:ea typeface="Heiti TC"/>
                <a:cs typeface="Heiti TC"/>
              </a:rPr>
              <a:t>每次先挑一個問題</a:t>
            </a:r>
          </a:p>
        </p:txBody>
      </p:sp>
    </p:spTree>
    <p:extLst>
      <p:ext uri="{BB962C8B-B14F-4D97-AF65-F5344CB8AC3E}">
        <p14:creationId xmlns:p14="http://schemas.microsoft.com/office/powerpoint/2010/main" val="14549807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heading">
            <a:extLst xmlns:a="http://schemas.openxmlformats.org/drawingml/2006/main">
              <a:ext uri="{FF2B5EF4-FFF2-40B4-BE49-F238E27FC236}">
                <a16:creationId xmlns:a16="http://schemas.microsoft.com/office/drawing/2014/main" id="{BC62A438-599B-4630-ABDE-800099CA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學校的 9、10 月菜單</a:t>
            </a:r>
          </a:p>
        </p:txBody>
      </p:sp>
      <p:sp>
        <p:nvSpPr>
          <p:cNvPr id="2" name="食光偵探  食光追查隊">
            <a:extLst xmlns:a="http://schemas.openxmlformats.org/drawingml/2006/main">
              <a:ext uri="{FF2B5EF4-FFF2-40B4-BE49-F238E27FC236}">
                <a16:creationId xmlns:a16="http://schemas.microsoft.com/office/drawing/2014/main" id="{332B27C3-520B-48C6-9238-EBB7DD03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576D62"/>
                </a:solidFill>
                <a:latin typeface="Heiti TC"/>
                <a:ea typeface="Heiti TC"/>
                <a:cs typeface="Heiti TC"/>
              </a:rPr>
              <a:t>食光偵探  食光追查隊</a:t>
            </a:r>
          </a:p>
        </p:txBody>
      </p:sp>
      <p:sp>
        <p:nvSpPr>
          <p:cNvPr id="3" name="04 / 10">
            <a:extLst xmlns:a="http://schemas.openxmlformats.org/drawingml/2006/main">
              <a:ext uri="{FF2B5EF4-FFF2-40B4-BE49-F238E27FC236}">
                <a16:creationId xmlns:a16="http://schemas.microsoft.com/office/drawing/2014/main" id="{3C177019-AB70-4D30-9136-672D668E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576D62"/>
                </a:solidFill>
                <a:latin typeface="Heiti TC"/>
                <a:ea typeface="Heiti TC"/>
                <a:cs typeface="Heiti TC"/>
              </a:rPr>
              <a:t>04 / 11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0B14D3-0D5F-4FD0-B03F-D52F2FD8D1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810d39844a4a9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11053" y="1562100"/>
            <a:ext cx="3140345" cy="443865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BD2E8F-A97E-4C3E-9FF2-D19B2D8075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731b1bc04491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078153" y="1562100"/>
            <a:ext cx="3140345" cy="4438650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4E30BE-BBB6-4275-83B8-F2565C61A0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3ac310654d468e"/>
          <a:srcRect xmlns:a="http://schemas.openxmlformats.org/drawingml/2006/main" l="21400" t="51550" r="44100" b="44500"/>
          <a:stretch xmlns:a="http://schemas.openxmlformats.org/drawingml/2006/main"/>
        </p:blipFill>
        <p:spPr>
          <a:xfrm xmlns:a="http://schemas.openxmlformats.org/drawingml/2006/main">
            <a:off x="7686675" y="2712053"/>
            <a:ext cx="3857625" cy="624269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19813E-A05D-4312-9907-B837ADC9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790700"/>
            <a:ext cx="3857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325" b="1">
                <a:solidFill>
                  <a:srgbClr val="2E7154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E7154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2E7154"/>
                </a:solidFill>
                <a:latin typeface="Heiti TC"/>
                <a:ea typeface="Heiti TC"/>
                <a:cs typeface="Heiti TC"/>
              </a:rPr>
              <a:t>10/16 公告菜單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3B39B7-FB62-469C-97D0-4E828125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133850"/>
            <a:ext cx="3857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400" b="0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先看今天吃什麼，</a:t>
            </a:r>
          </a:p>
          <a:p xmlns:a="http://schemas.openxmlformats.org/drawingml/2006/main">
            <a:pPr>
              <a:defRPr sz="2400" b="0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再想要盛多少。</a:t>
            </a:r>
          </a:p>
        </p:txBody>
      </p:sp>
    </p:spTree>
    <p:extLst>
      <p:ext uri="{BB962C8B-B14F-4D97-AF65-F5344CB8AC3E}">
        <p14:creationId xmlns:p14="http://schemas.microsoft.com/office/powerpoint/2010/main" val="9123121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heading">
            <a:extLst xmlns:a="http://schemas.openxmlformats.org/drawingml/2006/main">
              <a:ext uri="{FF2B5EF4-FFF2-40B4-BE49-F238E27FC236}">
                <a16:creationId xmlns:a16="http://schemas.microsoft.com/office/drawing/2014/main" id="{ED7A6367-A044-4422-AC34-75633C0A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這道菜，我想問 AI</a:t>
            </a:r>
          </a:p>
        </p:txBody>
      </p:sp>
      <p:sp>
        <p:nvSpPr>
          <p:cNvPr id="2" name="食光偵探  食光追查隊">
            <a:extLst xmlns:a="http://schemas.openxmlformats.org/drawingml/2006/main">
              <a:ext uri="{FF2B5EF4-FFF2-40B4-BE49-F238E27FC236}">
                <a16:creationId xmlns:a16="http://schemas.microsoft.com/office/drawing/2014/main" id="{003F7F87-4FDF-4F82-84ED-BE27E4E7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576D62"/>
                </a:solidFill>
                <a:latin typeface="Heiti TC"/>
                <a:ea typeface="Heiti TC"/>
                <a:cs typeface="Heiti TC"/>
              </a:rPr>
              <a:t>食光偵探  食光追查隊</a:t>
            </a:r>
          </a:p>
        </p:txBody>
      </p:sp>
      <p:sp>
        <p:nvSpPr>
          <p:cNvPr id="3" name="05 / 10">
            <a:extLst xmlns:a="http://schemas.openxmlformats.org/drawingml/2006/main">
              <a:ext uri="{FF2B5EF4-FFF2-40B4-BE49-F238E27FC236}">
                <a16:creationId xmlns:a16="http://schemas.microsoft.com/office/drawing/2014/main" id="{572864A1-E983-4353-8D38-EC70EF81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576D62"/>
                </a:solidFill>
                <a:latin typeface="Heiti TC"/>
                <a:ea typeface="Heiti TC"/>
                <a:cs typeface="Heiti TC"/>
              </a:rPr>
              <a:t>05 / 11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E9710-9F78-499E-98AB-B99DB3BB0F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491984917b468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9600" y="1720435"/>
            <a:ext cx="7286625" cy="3969579"/>
          </a:xfrm>
          <a:prstGeom xmlns:a="http://schemas.openxmlformats.org/drawingml/2006/main" prst="rect">
            <a:avLst/>
          </a:prstGeom>
        </p:spPr>
      </p:pic>
      <p:sp>
        <p:nvSpPr>
          <p:cNvPr id="5" name="餐前找方法">
            <a:extLst xmlns:a="http://schemas.openxmlformats.org/drawingml/2006/main">
              <a:ext uri="{FF2B5EF4-FFF2-40B4-BE49-F238E27FC236}">
                <a16:creationId xmlns:a16="http://schemas.microsoft.com/office/drawing/2014/main" id="{E52F6239-8776-4224-A631-A301481A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24050"/>
            <a:ext cx="3143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E7154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2E7154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2E7154"/>
                </a:solidFill>
                <a:latin typeface="Heiti TC"/>
                <a:ea typeface="Heiti TC"/>
                <a:cs typeface="Heiti TC"/>
              </a:rPr>
              <a:t>點一道菜，問問看</a:t>
            </a:r>
          </a:p>
        </p:txBody>
      </p:sp>
      <p:sp>
        <p:nvSpPr>
          <p:cNvPr id="6" name="「我可以先少盛，&#10;不夠再添嗎？」">
            <a:extLst xmlns:a="http://schemas.openxmlformats.org/drawingml/2006/main">
              <a:ext uri="{FF2B5EF4-FFF2-40B4-BE49-F238E27FC236}">
                <a16:creationId xmlns:a16="http://schemas.microsoft.com/office/drawing/2014/main" id="{160A3FF2-B2F2-49E2-BDCD-55E2DA47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19450"/>
            <a:ext cx="314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看圖選方法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我來試一口</a:t>
            </a:r>
          </a:p>
        </p:txBody>
      </p:sp>
      <p:sp>
        <p:nvSpPr>
          <p:cNvPr id="7" name="餐後看照片&#10;AI 估量，我核對">
            <a:extLst xmlns:a="http://schemas.openxmlformats.org/drawingml/2006/main">
              <a:ext uri="{FF2B5EF4-FFF2-40B4-BE49-F238E27FC236}">
                <a16:creationId xmlns:a16="http://schemas.microsoft.com/office/drawing/2014/main" id="{E2E7C87D-18DA-484D-B8C5-104840E3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91050"/>
            <a:ext cx="314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把小計畫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帶去拍餐盤</a:t>
            </a:r>
          </a:p>
        </p:txBody>
      </p:sp>
    </p:spTree>
    <p:extLst>
      <p:ext uri="{BB962C8B-B14F-4D97-AF65-F5344CB8AC3E}">
        <p14:creationId xmlns:p14="http://schemas.microsoft.com/office/powerpoint/2010/main" val="3267829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heading">
            <a:extLst xmlns:a="http://schemas.openxmlformats.org/drawingml/2006/main">
              <a:ext uri="{FF2B5EF4-FFF2-40B4-BE49-F238E27FC236}">
                <a16:creationId xmlns:a16="http://schemas.microsoft.com/office/drawing/2014/main" id="{0DC08278-B853-4947-8D32-B2CBCE95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份量小遊戲</a:t>
            </a:r>
          </a:p>
        </p:txBody>
      </p:sp>
      <p:sp>
        <p:nvSpPr>
          <p:cNvPr id="2" name="食光偵探  食光追查隊">
            <a:extLst xmlns:a="http://schemas.openxmlformats.org/drawingml/2006/main">
              <a:ext uri="{FF2B5EF4-FFF2-40B4-BE49-F238E27FC236}">
                <a16:creationId xmlns:a16="http://schemas.microsoft.com/office/drawing/2014/main" id="{DD9927EC-4C36-4300-BFF0-1AABB591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576D62"/>
                </a:solidFill>
                <a:latin typeface="Heiti TC"/>
                <a:ea typeface="Heiti TC"/>
                <a:cs typeface="Heiti TC"/>
              </a:rPr>
              <a:t>食光偵探  食光追查隊</a:t>
            </a:r>
          </a:p>
        </p:txBody>
      </p:sp>
      <p:sp>
        <p:nvSpPr>
          <p:cNvPr id="3" name="07 / 10">
            <a:extLst xmlns:a="http://schemas.openxmlformats.org/drawingml/2006/main">
              <a:ext uri="{FF2B5EF4-FFF2-40B4-BE49-F238E27FC236}">
                <a16:creationId xmlns:a16="http://schemas.microsoft.com/office/drawing/2014/main" id="{C5CF73DF-F835-4E5A-B8F7-ACAA55F6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576D62"/>
                </a:solidFill>
                <a:latin typeface="Heiti TC"/>
                <a:ea typeface="Heiti TC"/>
                <a:cs typeface="Heiti TC"/>
              </a:rPr>
              <a:t>06 / 11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BD814-106C-4090-B6DA-19010FD071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4d935a824f47f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9600" y="2249805"/>
            <a:ext cx="7048500" cy="3101340"/>
          </a:xfrm>
          <a:prstGeom xmlns:a="http://schemas.openxmlformats.org/drawingml/2006/main" prst="rect">
            <a:avLst/>
          </a:prstGeom>
        </p:spPr>
      </p:pic>
      <p:sp>
        <p:nvSpPr>
          <p:cNvPr id="5" name="先盛多少？">
            <a:extLst xmlns:a="http://schemas.openxmlformats.org/drawingml/2006/main">
              <a:ext uri="{FF2B5EF4-FFF2-40B4-BE49-F238E27FC236}">
                <a16:creationId xmlns:a16="http://schemas.microsoft.com/office/drawing/2014/main" id="{05A8E738-4DAB-4072-AE72-4DB0F082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62150"/>
            <a:ext cx="3524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先盛多少？</a:t>
            </a:r>
          </a:p>
        </p:txBody>
      </p:sp>
      <p:sp>
        <p:nvSpPr>
          <p:cNvPr id="6" name="小份、剛好，或多些">
            <a:extLst xmlns:a="http://schemas.openxmlformats.org/drawingml/2006/main">
              <a:ext uri="{FF2B5EF4-FFF2-40B4-BE49-F238E27FC236}">
                <a16:creationId xmlns:a16="http://schemas.microsoft.com/office/drawing/2014/main" id="{B4D510F5-F237-43F6-A3A7-DC5A02EA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33675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E7154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2E7154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2E7154"/>
                </a:solidFill>
                <a:latin typeface="Heiti TC"/>
                <a:ea typeface="Heiti TC"/>
                <a:cs typeface="Heiti TC"/>
              </a:rPr>
              <a:t>小份、剛好，或多些</a:t>
            </a:r>
          </a:p>
        </p:txBody>
      </p:sp>
      <p:sp>
        <p:nvSpPr>
          <p:cNvPr id="7" name="如果還餓呢？">
            <a:extLst xmlns:a="http://schemas.openxmlformats.org/drawingml/2006/main">
              <a:ext uri="{FF2B5EF4-FFF2-40B4-BE49-F238E27FC236}">
                <a16:creationId xmlns:a16="http://schemas.microsoft.com/office/drawing/2014/main" id="{4E2377BC-750D-453E-A5A5-6C9021F3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76675"/>
            <a:ext cx="3524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如果還餓呢？</a:t>
            </a:r>
          </a:p>
        </p:txBody>
      </p:sp>
      <p:sp>
        <p:nvSpPr>
          <p:cNvPr id="8" name="先想好再添的方法">
            <a:extLst xmlns:a="http://schemas.openxmlformats.org/drawingml/2006/main">
              <a:ext uri="{FF2B5EF4-FFF2-40B4-BE49-F238E27FC236}">
                <a16:creationId xmlns:a16="http://schemas.microsoft.com/office/drawing/2014/main" id="{A7D8A7DF-F4F5-4BB6-9580-26A05051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48200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E7154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2E7154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2E7154"/>
                </a:solidFill>
                <a:latin typeface="Heiti TC"/>
                <a:ea typeface="Heiti TC"/>
                <a:cs typeface="Heiti TC"/>
              </a:rPr>
              <a:t>先想好再添的方法</a:t>
            </a:r>
          </a:p>
        </p:txBody>
      </p:sp>
      <p:sp>
        <p:nvSpPr>
          <p:cNvPr id="9" name="我的練習計畫會接到餐盤入口">
            <a:extLst xmlns:a="http://schemas.openxmlformats.org/drawingml/2006/main">
              <a:ext uri="{FF2B5EF4-FFF2-40B4-BE49-F238E27FC236}">
                <a16:creationId xmlns:a16="http://schemas.microsoft.com/office/drawing/2014/main" id="{10520EEE-8474-46EB-B2CC-00175643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53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576D62"/>
                </a:solidFill>
                <a:latin typeface="Heiti TC"/>
                <a:ea typeface="Heiti TC"/>
                <a:cs typeface="Heiti TC"/>
              </a:rPr>
              <a:t>玩完的小計畫，可以帶去拍餐盤</a:t>
            </a:r>
          </a:p>
        </p:txBody>
      </p:sp>
    </p:spTree>
    <p:extLst>
      <p:ext uri="{BB962C8B-B14F-4D97-AF65-F5344CB8AC3E}">
        <p14:creationId xmlns:p14="http://schemas.microsoft.com/office/powerpoint/2010/main" val="19386818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heading">
            <a:extLst xmlns:a="http://schemas.openxmlformats.org/drawingml/2006/main">
              <a:ext uri="{FF2B5EF4-FFF2-40B4-BE49-F238E27FC236}">
                <a16:creationId xmlns:a16="http://schemas.microsoft.com/office/drawing/2014/main" id="{C6E2645D-D021-4095-9426-C01CC287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17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pPr>
            <a:r>
              <a:rPr sz="2450" b="1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AI 智慧判斷剩食 × 自動推薦吃飯策略</a:t>
            </a:r>
          </a:p>
        </p:txBody>
      </p:sp>
      <p:sp>
        <p:nvSpPr>
          <p:cNvPr id="2" name="食光偵探  食光追查隊">
            <a:extLst xmlns:a="http://schemas.openxmlformats.org/drawingml/2006/main">
              <a:ext uri="{FF2B5EF4-FFF2-40B4-BE49-F238E27FC236}">
                <a16:creationId xmlns:a16="http://schemas.microsoft.com/office/drawing/2014/main" id="{2C5F4C27-F890-4F87-A752-868EAB2B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576D62"/>
                </a:solidFill>
                <a:latin typeface="Heiti TC"/>
                <a:ea typeface="Heiti TC"/>
                <a:cs typeface="Heiti TC"/>
              </a:rPr>
              <a:t>食光偵探  食光追查隊</a:t>
            </a:r>
          </a:p>
        </p:txBody>
      </p:sp>
      <p:sp>
        <p:nvSpPr>
          <p:cNvPr id="3" name="08 / 10">
            <a:extLst xmlns:a="http://schemas.openxmlformats.org/drawingml/2006/main">
              <a:ext uri="{FF2B5EF4-FFF2-40B4-BE49-F238E27FC236}">
                <a16:creationId xmlns:a16="http://schemas.microsoft.com/office/drawing/2014/main" id="{C0A60B15-3919-44EC-9A82-B489B17A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576D62"/>
                </a:solidFill>
                <a:latin typeface="Heiti TC"/>
                <a:ea typeface="Heiti TC"/>
                <a:cs typeface="Heiti TC"/>
              </a:rPr>
              <a:t>07 / 11</a:t>
            </a:r>
          </a:p>
        </p:txBody>
      </p:sp>
      <p:sp xmlns:a="http://schemas.openxmlformats.org/drawingml/2006/main">
        <p:nvSpPr>
          <p:cNvPr id="15" name="TextBox 14"/>
          <p:cNvSpPr txBox="1"/>
          <p:nvPr/>
        </p:nvSpPr>
        <p:spPr>
          <a:xfrm>
            <a:off x="7112000" y="812800"/>
            <a:ext cx="44196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20" b="1">
                <a:solidFill>
                  <a:srgbClr val="2E7154"/>
                </a:solidFill>
                <a:latin typeface="Heiti TC"/>
                <a:ea typeface="Heiti TC"/>
                <a:cs typeface="Heiti TC"/>
              </a:rPr>
              <a:t>拍餐盤算克數，自動給你下一餐吃飯方法</a:t>
            </a:r>
          </a:p>
        </p:txBody>
      </p:sp>
      <p:sp xmlns:a="http://schemas.openxmlformats.org/drawingml/2006/main">
        <p:nvSpPr>
          <p:cNvPr id="16" name="Rounded Rectangle 15"/>
          <p:cNvSpPr/>
          <p:nvPr/>
        </p:nvSpPr>
        <p:spPr>
          <a:xfrm>
            <a:off x="660400" y="1549400"/>
            <a:ext cx="5029200" cy="3632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FE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ounded Rectangle 16"/>
          <p:cNvSpPr/>
          <p:nvPr/>
        </p:nvSpPr>
        <p:spPr>
          <a:xfrm>
            <a:off x="863600" y="1727200"/>
            <a:ext cx="3124200" cy="355600"/>
          </a:xfrm>
          <a:prstGeom prst="roundRect">
            <a:avLst>
              <a:gd name="adj" fmla="val 45000"/>
            </a:avLst>
          </a:prstGeom>
          <a:solidFill>
            <a:srgbClr val="173E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TextBox 17"/>
          <p:cNvSpPr txBox="1"/>
          <p:nvPr/>
        </p:nvSpPr>
        <p:spPr>
          <a:xfrm>
            <a:off x="939800" y="1727200"/>
            <a:ext cx="29718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STEP 1｜餐後拍照・AI 智慧算剩食</a:t>
            </a:r>
          </a:p>
        </p:txBody>
      </p:sp>
      <p:pic xmlns:a="http://schemas.openxmlformats.org/drawingml/2006/main" xmlns:r="http://schemas.openxmlformats.org/officeDocument/2006/relationships">
        <p:nvPicPr>
          <p:cNvPr id="19" name="Picture 1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2209800"/>
            <a:ext cx="2184400" cy="1803400"/>
          </a:xfrm>
          <a:prstGeom prst="rect">
            <a:avLst/>
          </a:prstGeom>
          <a:ln w="12700">
            <a:solidFill>
              <a:srgbClr val="CFE5D8"/>
            </a:solidFill>
          </a:ln>
        </p:spPr>
      </p:pic>
      <p:sp xmlns:a="http://schemas.openxmlformats.org/drawingml/2006/main">
        <p:nvSpPr>
          <p:cNvPr id="20" name="TextBox 19"/>
          <p:cNvSpPr txBox="1"/>
          <p:nvPr/>
        </p:nvSpPr>
        <p:spPr>
          <a:xfrm>
            <a:off x="3175000" y="2209800"/>
            <a:ext cx="23368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AI 各格剩食辨識結果</a:t>
            </a:r>
          </a:p>
        </p:txBody>
      </p:sp>
      <p:sp xmlns:a="http://schemas.openxmlformats.org/drawingml/2006/main">
        <p:nvSpPr>
          <p:cNvPr id="21" name="Rounded Rectangle 20"/>
          <p:cNvSpPr/>
          <p:nvPr/>
        </p:nvSpPr>
        <p:spPr>
          <a:xfrm>
            <a:off x="3175000" y="2590800"/>
            <a:ext cx="2260600" cy="355600"/>
          </a:xfrm>
          <a:prstGeom prst="roundRect">
            <a:avLst>
              <a:gd name="adj" fmla="val 45000"/>
            </a:avLst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TextBox 21"/>
          <p:cNvSpPr txBox="1"/>
          <p:nvPr/>
        </p:nvSpPr>
        <p:spPr>
          <a:xfrm>
            <a:off x="3251200" y="2590800"/>
            <a:ext cx="21082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B45309"/>
                </a:solidFill>
                <a:latin typeface="Heiti TC"/>
                <a:ea typeface="Heiti TC"/>
                <a:cs typeface="Heiti TC"/>
              </a:rPr>
              <a:t>餐後剩食合計：162g</a:t>
            </a:r>
          </a:p>
        </p:txBody>
      </p:sp>
      <p:sp xmlns:a="http://schemas.openxmlformats.org/drawingml/2006/main">
        <p:nvSpPr>
          <p:cNvPr id="23" name="TextBox 22"/>
          <p:cNvSpPr txBox="1"/>
          <p:nvPr/>
        </p:nvSpPr>
        <p:spPr>
          <a:xfrm>
            <a:off x="3175000" y="3022600"/>
            <a:ext cx="2362200" cy="1041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80" b="0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• 青菜格：剩 80g（最多）</a:t>
            </a:r>
          </a:p>
          <a:p>
            <a:pPr algn="l">
              <a:lnSpc>
                <a:spcPct val="120000"/>
              </a:lnSpc>
            </a:pPr>
            <a:r>
              <a:rPr sz="1280" b="0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• 滷排骨：剩 72g</a:t>
            </a:r>
          </a:p>
          <a:p>
            <a:pPr algn="l">
              <a:lnSpc>
                <a:spcPct val="120000"/>
              </a:lnSpc>
            </a:pPr>
            <a:r>
              <a:rPr sz="1280" b="0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• 白飯格：剩 8g（吃完）</a:t>
            </a:r>
          </a:p>
          <a:p>
            <a:pPr algn="l">
              <a:lnSpc>
                <a:spcPct val="120000"/>
              </a:lnSpc>
            </a:pPr>
            <a:r>
              <a:rPr sz="1280" b="0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• 湯品格：剩 2g</a:t>
            </a:r>
          </a:p>
        </p:txBody>
      </p:sp>
      <p:sp xmlns:a="http://schemas.openxmlformats.org/drawingml/2006/main">
        <p:nvSpPr>
          <p:cNvPr id="24" name="Rounded Rectangle 23"/>
          <p:cNvSpPr/>
          <p:nvPr/>
        </p:nvSpPr>
        <p:spPr>
          <a:xfrm>
            <a:off x="863600" y="4165600"/>
            <a:ext cx="4622800" cy="838200"/>
          </a:xfrm>
          <a:prstGeom prst="roundRect">
            <a:avLst>
              <a:gd name="adj" fmla="val 8000"/>
            </a:avLst>
          </a:prstGeom>
          <a:solidFill>
            <a:srgbClr val="E6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TextBox 24"/>
          <p:cNvSpPr txBox="1"/>
          <p:nvPr/>
        </p:nvSpPr>
        <p:spPr>
          <a:xfrm>
            <a:off x="990600" y="4267200"/>
            <a:ext cx="43688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🔍 AI 原因診斷：先吃白飯容易太快飽，</a:t>
            </a:r>
          </a:p>
          <a:p>
            <a:pPr algn="l">
              <a:lnSpc>
                <a:spcPct val="118000"/>
              </a:lnSpc>
            </a:pPr>
            <a:r>
              <a:rPr sz="1350" b="1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導致青菜（80g）與排骨（72g）來不及吃完。</a:t>
            </a:r>
          </a:p>
        </p:txBody>
      </p:sp>
      <p:cxnSp xmlns:a="http://schemas.openxmlformats.org/drawingml/2006/main">
        <p:nvCxnSpPr>
          <p:cNvPr id="26" name="Connector 25"/>
          <p:cNvCxnSpPr/>
          <p:nvPr/>
        </p:nvCxnSpPr>
        <p:spPr>
          <a:xfrm>
            <a:off x="5791200" y="3365500"/>
            <a:ext cx="457200" cy="0"/>
          </a:xfrm>
          <a:prstGeom prst="line">
            <a:avLst/>
          </a:prstGeom>
          <a:ln w="38100">
            <a:solidFill>
              <a:srgbClr val="2E71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xmlns:a="http://schemas.openxmlformats.org/drawingml/2006/main">
        <p:nvSpPr>
          <p:cNvPr id="27" name="Rounded Rectangle 26"/>
          <p:cNvSpPr/>
          <p:nvPr/>
        </p:nvSpPr>
        <p:spPr>
          <a:xfrm>
            <a:off x="6350000" y="1549400"/>
            <a:ext cx="5181600" cy="3632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2E71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Rounded Rectangle 27"/>
          <p:cNvSpPr/>
          <p:nvPr/>
        </p:nvSpPr>
        <p:spPr>
          <a:xfrm>
            <a:off x="6553200" y="1727200"/>
            <a:ext cx="3149600" cy="355600"/>
          </a:xfrm>
          <a:prstGeom prst="roundRect">
            <a:avLst>
              <a:gd name="adj" fmla="val 45000"/>
            </a:avLst>
          </a:prstGeom>
          <a:solidFill>
            <a:srgbClr val="2E7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9" name="TextBox 28"/>
          <p:cNvSpPr txBox="1"/>
          <p:nvPr/>
        </p:nvSpPr>
        <p:spPr>
          <a:xfrm>
            <a:off x="6629400" y="1727200"/>
            <a:ext cx="29972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STEP 2｜AI 自動推薦下一餐策略</a:t>
            </a:r>
          </a:p>
        </p:txBody>
      </p:sp>
      <p:pic xmlns:a="http://schemas.openxmlformats.org/drawingml/2006/main" xmlns:r="http://schemas.openxmlformats.org/officeDocument/2006/relationships">
        <p:nvPicPr>
          <p:cNvPr id="30" name="Picture 29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2209800"/>
            <a:ext cx="1981200" cy="1625600"/>
          </a:xfrm>
          <a:prstGeom prst="rect">
            <a:avLst/>
          </a:prstGeom>
          <a:ln w="12700">
            <a:solidFill>
              <a:srgbClr val="CFE5D8"/>
            </a:solidFill>
          </a:ln>
        </p:spPr>
      </p:pic>
      <p:sp xmlns:a="http://schemas.openxmlformats.org/drawingml/2006/main">
        <p:nvSpPr>
          <p:cNvPr id="31" name="TextBox 30"/>
          <p:cNvSpPr txBox="1"/>
          <p:nvPr/>
        </p:nvSpPr>
        <p:spPr>
          <a:xfrm>
            <a:off x="8661400" y="2209800"/>
            <a:ext cx="2692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2E7154"/>
                </a:solidFill>
                <a:latin typeface="Heiti TC"/>
                <a:ea typeface="Heiti TC"/>
                <a:cs typeface="Heiti TC"/>
              </a:rPr>
              <a:t>個人化配餐與吃飯順序</a:t>
            </a:r>
          </a:p>
        </p:txBody>
      </p:sp>
      <p:sp xmlns:a="http://schemas.openxmlformats.org/drawingml/2006/main">
        <p:nvSpPr>
          <p:cNvPr id="32" name="Rounded Rectangle 31"/>
          <p:cNvSpPr/>
          <p:nvPr/>
        </p:nvSpPr>
        <p:spPr>
          <a:xfrm>
            <a:off x="8661400" y="2565400"/>
            <a:ext cx="2667000" cy="482600"/>
          </a:xfrm>
          <a:prstGeom prst="roundRect">
            <a:avLst>
              <a:gd name="adj" fmla="val 12000"/>
            </a:avLst>
          </a:prstGeom>
          <a:solidFill>
            <a:srgbClr val="E6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3" name="TextBox 32"/>
          <p:cNvSpPr txBox="1"/>
          <p:nvPr/>
        </p:nvSpPr>
        <p:spPr>
          <a:xfrm>
            <a:off x="8763000" y="2603500"/>
            <a:ext cx="2489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策略 1｜調整打菜份量</a:t>
            </a:r>
          </a:p>
        </p:txBody>
      </p:sp>
      <p:sp xmlns:a="http://schemas.openxmlformats.org/drawingml/2006/main">
        <p:nvSpPr>
          <p:cNvPr id="34" name="TextBox 33"/>
          <p:cNvSpPr txBox="1"/>
          <p:nvPr/>
        </p:nvSpPr>
        <p:spPr>
          <a:xfrm>
            <a:off x="8763000" y="2806700"/>
            <a:ext cx="2489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576D62"/>
                </a:solidFill>
                <a:latin typeface="Heiti TC"/>
                <a:ea typeface="Heiti TC"/>
                <a:cs typeface="Heiti TC"/>
              </a:rPr>
              <a:t>白飯先盛 3/4 碗，留空間給配菜</a:t>
            </a:r>
          </a:p>
        </p:txBody>
      </p:sp>
      <p:sp xmlns:a="http://schemas.openxmlformats.org/drawingml/2006/main">
        <p:nvSpPr>
          <p:cNvPr id="35" name="Rounded Rectangle 34"/>
          <p:cNvSpPr/>
          <p:nvPr/>
        </p:nvSpPr>
        <p:spPr>
          <a:xfrm>
            <a:off x="8661400" y="3124200"/>
            <a:ext cx="2667000" cy="482600"/>
          </a:xfrm>
          <a:prstGeom prst="roundRect">
            <a:avLst>
              <a:gd name="adj" fmla="val 12000"/>
            </a:avLst>
          </a:prstGeom>
          <a:solidFill>
            <a:srgbClr val="E6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TextBox 35"/>
          <p:cNvSpPr txBox="1"/>
          <p:nvPr/>
        </p:nvSpPr>
        <p:spPr>
          <a:xfrm>
            <a:off x="8763000" y="3162300"/>
            <a:ext cx="2489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策略 2｜改變吃飯順序</a:t>
            </a:r>
          </a:p>
        </p:txBody>
      </p:sp>
      <p:sp xmlns:a="http://schemas.openxmlformats.org/drawingml/2006/main">
        <p:nvSpPr>
          <p:cNvPr id="37" name="TextBox 36"/>
          <p:cNvSpPr txBox="1"/>
          <p:nvPr/>
        </p:nvSpPr>
        <p:spPr>
          <a:xfrm>
            <a:off x="8763000" y="3365500"/>
            <a:ext cx="2489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576D62"/>
                </a:solidFill>
                <a:latin typeface="Heiti TC"/>
                <a:ea typeface="Heiti TC"/>
                <a:cs typeface="Heiti TC"/>
              </a:rPr>
              <a:t>趁熱先吃青菜，再配滷排骨一起吃</a:t>
            </a:r>
          </a:p>
        </p:txBody>
      </p:sp>
      <p:sp xmlns:a="http://schemas.openxmlformats.org/drawingml/2006/main">
        <p:nvSpPr>
          <p:cNvPr id="38" name="Rounded Rectangle 37"/>
          <p:cNvSpPr/>
          <p:nvPr/>
        </p:nvSpPr>
        <p:spPr>
          <a:xfrm>
            <a:off x="8661400" y="3683000"/>
            <a:ext cx="2667000" cy="482600"/>
          </a:xfrm>
          <a:prstGeom prst="roundRect">
            <a:avLst>
              <a:gd name="adj" fmla="val 12000"/>
            </a:avLst>
          </a:prstGeom>
          <a:solidFill>
            <a:srgbClr val="E6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TextBox 38"/>
          <p:cNvSpPr txBox="1"/>
          <p:nvPr/>
        </p:nvSpPr>
        <p:spPr>
          <a:xfrm>
            <a:off x="8763000" y="3721100"/>
            <a:ext cx="2489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策略 3｜吃不夠再添飯</a:t>
            </a:r>
          </a:p>
        </p:txBody>
      </p:sp>
      <p:sp xmlns:a="http://schemas.openxmlformats.org/drawingml/2006/main">
        <p:nvSpPr>
          <p:cNvPr id="40" name="TextBox 39"/>
          <p:cNvSpPr txBox="1"/>
          <p:nvPr/>
        </p:nvSpPr>
        <p:spPr>
          <a:xfrm>
            <a:off x="8763000" y="3924300"/>
            <a:ext cx="2489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576D62"/>
                </a:solidFill>
                <a:latin typeface="Heiti TC"/>
                <a:ea typeface="Heiti TC"/>
                <a:cs typeface="Heiti TC"/>
              </a:rPr>
              <a:t>先吃剛好的量，還餓再去添第二次</a:t>
            </a:r>
          </a:p>
        </p:txBody>
      </p:sp>
      <p:sp xmlns:a="http://schemas.openxmlformats.org/drawingml/2006/main">
        <p:nvSpPr>
          <p:cNvPr id="41" name="Rounded Rectangle 40"/>
          <p:cNvSpPr/>
          <p:nvPr/>
        </p:nvSpPr>
        <p:spPr>
          <a:xfrm>
            <a:off x="6553200" y="4267200"/>
            <a:ext cx="4775200" cy="736600"/>
          </a:xfrm>
          <a:prstGeom prst="roundRect">
            <a:avLst>
              <a:gd name="adj" fmla="val 8000"/>
            </a:avLst>
          </a:prstGeom>
          <a:solidFill>
            <a:srgbClr val="173E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2" name="TextBox 41"/>
          <p:cNvSpPr txBox="1"/>
          <p:nvPr/>
        </p:nvSpPr>
        <p:spPr>
          <a:xfrm>
            <a:off x="6680200" y="4368800"/>
            <a:ext cx="45212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💡 AI 智慧小教練：依你的食量與剩食紀錄，</a:t>
            </a:r>
          </a:p>
          <a:p>
            <a:pPr algn="l">
              <a:lnSpc>
                <a:spcPct val="118000"/>
              </a:lnSpc>
            </a:pPr>
            <a:r>
              <a:rPr sz="13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每餐自動推薦最容易吃完、又吃得飽的方法！</a:t>
            </a:r>
          </a:p>
        </p:txBody>
      </p:sp>
      <p:sp xmlns:a="http://schemas.openxmlformats.org/drawingml/2006/main">
        <p:nvSpPr>
          <p:cNvPr id="43" name="Rounded Rectangle 42"/>
          <p:cNvSpPr/>
          <p:nvPr/>
        </p:nvSpPr>
        <p:spPr>
          <a:xfrm>
            <a:off x="660400" y="5359400"/>
            <a:ext cx="10871200" cy="685800"/>
          </a:xfrm>
          <a:prstGeom prst="roundRect">
            <a:avLst>
              <a:gd name="adj" fmla="val 12000"/>
            </a:avLst>
          </a:prstGeom>
          <a:solidFill>
            <a:srgbClr val="E6F4EB"/>
          </a:solidFill>
          <a:ln w="15875">
            <a:solidFill>
              <a:srgbClr val="B8D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4" name="TextBox 43"/>
          <p:cNvSpPr txBox="1"/>
          <p:nvPr/>
        </p:nvSpPr>
        <p:spPr>
          <a:xfrm>
            <a:off x="889000" y="5359400"/>
            <a:ext cx="10414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AI 惜食閉環：餐前看菜單熱量與配餐建議 → 餐後拍照由 AI 算出各格剩食克數 → 自動推薦下一餐吃飯策略</a:t>
            </a:r>
          </a:p>
        </p:txBody>
      </p:sp>
    </p:spTree>
    <p:extLst>
      <p:ext uri="{BB962C8B-B14F-4D97-AF65-F5344CB8AC3E}">
        <p14:creationId xmlns:p14="http://schemas.microsoft.com/office/powerpoint/2010/main" val="8050853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heading">
            <a:extLst xmlns:a="http://schemas.openxmlformats.org/drawingml/2006/main">
              <a:ext uri="{FF2B5EF4-FFF2-40B4-BE49-F238E27FC236}">
                <a16:creationId xmlns:a16="http://schemas.microsoft.com/office/drawing/2014/main" id="{38B3ADEB-5212-480C-8A21-ABF8B1F1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17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pPr>
            <a:r>
              <a:rPr sz="2450" b="1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真實兩餐對照：AI 策略讓剩食減少 91%</a:t>
            </a:r>
          </a:p>
        </p:txBody>
      </p:sp>
      <p:sp>
        <p:nvSpPr>
          <p:cNvPr id="2" name="食光偵探  食光追查隊">
            <a:extLst xmlns:a="http://schemas.openxmlformats.org/drawingml/2006/main">
              <a:ext uri="{FF2B5EF4-FFF2-40B4-BE49-F238E27FC236}">
                <a16:creationId xmlns:a16="http://schemas.microsoft.com/office/drawing/2014/main" id="{E45DB353-B312-492A-9442-0C332120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576D62"/>
                </a:solidFill>
                <a:latin typeface="Heiti TC"/>
                <a:ea typeface="Heiti TC"/>
                <a:cs typeface="Heiti TC"/>
              </a:rPr>
              <a:t>食光偵探  食光追查隊</a:t>
            </a:r>
          </a:p>
        </p:txBody>
      </p:sp>
      <p:sp>
        <p:nvSpPr>
          <p:cNvPr id="3" name="06 / 10">
            <a:extLst xmlns:a="http://schemas.openxmlformats.org/drawingml/2006/main">
              <a:ext uri="{FF2B5EF4-FFF2-40B4-BE49-F238E27FC236}">
                <a16:creationId xmlns:a16="http://schemas.microsoft.com/office/drawing/2014/main" id="{71CA117D-CE7F-4E5D-9F89-DBDA2A00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576D62"/>
                </a:solidFill>
                <a:latin typeface="Heiti TC"/>
                <a:ea typeface="Heiti TC"/>
                <a:cs typeface="Heiti TC"/>
              </a:rPr>
              <a:t>08 / 11</a:t>
            </a:r>
          </a:p>
        </p:txBody>
      </p:sp>
      <p:sp xmlns:a="http://schemas.openxmlformats.org/drawingml/2006/main">
        <p:nvSpPr>
          <p:cNvPr id="23" name="TextBox 22"/>
          <p:cNvSpPr txBox="1"/>
          <p:nvPr/>
        </p:nvSpPr>
        <p:spPr>
          <a:xfrm>
            <a:off x="7112000" y="812800"/>
            <a:ext cx="44196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20" b="1">
                <a:solidFill>
                  <a:srgbClr val="2E7154"/>
                </a:solidFill>
                <a:latin typeface="Heiti TC"/>
                <a:ea typeface="Heiti TC"/>
                <a:cs typeface="Heiti TC"/>
              </a:rPr>
              <a:t>162g → 14g！吃得飽又幾乎零浪費</a:t>
            </a:r>
          </a:p>
        </p:txBody>
      </p:sp>
      <p:sp xmlns:a="http://schemas.openxmlformats.org/drawingml/2006/main">
        <p:nvSpPr>
          <p:cNvPr id="24" name="Rounded Rectangle 23"/>
          <p:cNvSpPr/>
          <p:nvPr/>
        </p:nvSpPr>
        <p:spPr>
          <a:xfrm>
            <a:off x="660400" y="1524000"/>
            <a:ext cx="4013200" cy="3632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5C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ounded Rectangle 24"/>
          <p:cNvSpPr/>
          <p:nvPr/>
        </p:nvSpPr>
        <p:spPr>
          <a:xfrm>
            <a:off x="863600" y="1701800"/>
            <a:ext cx="2489200" cy="355600"/>
          </a:xfrm>
          <a:prstGeom prst="roundRect">
            <a:avLst>
              <a:gd name="adj" fmla="val 45000"/>
            </a:avLst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TextBox 25"/>
          <p:cNvSpPr txBox="1"/>
          <p:nvPr/>
        </p:nvSpPr>
        <p:spPr>
          <a:xfrm>
            <a:off x="939800" y="1701800"/>
            <a:ext cx="23368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B45309"/>
                </a:solidFill>
                <a:latin typeface="Heiti TC"/>
                <a:ea typeface="Heiti TC"/>
                <a:cs typeface="Heiti TC"/>
              </a:rPr>
              <a:t>改善前｜第一餐（未用策略）</a:t>
            </a:r>
          </a:p>
        </p:txBody>
      </p:sp>
      <p:sp xmlns:a="http://schemas.openxmlformats.org/drawingml/2006/main">
        <p:nvSpPr>
          <p:cNvPr id="27" name="Rounded Rectangle 26"/>
          <p:cNvSpPr/>
          <p:nvPr/>
        </p:nvSpPr>
        <p:spPr>
          <a:xfrm>
            <a:off x="3429000" y="1701800"/>
            <a:ext cx="1041400" cy="355600"/>
          </a:xfrm>
          <a:prstGeom prst="roundRect">
            <a:avLst>
              <a:gd name="adj" fmla="val 45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TextBox 27"/>
          <p:cNvSpPr txBox="1"/>
          <p:nvPr/>
        </p:nvSpPr>
        <p:spPr>
          <a:xfrm>
            <a:off x="3505200" y="1701800"/>
            <a:ext cx="889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剩 162g</a:t>
            </a:r>
          </a:p>
        </p:txBody>
      </p:sp>
      <p:pic xmlns:a="http://schemas.openxmlformats.org/drawingml/2006/main" xmlns:r="http://schemas.openxmlformats.org/officeDocument/2006/relationships">
        <p:nvPicPr>
          <p:cNvPr id="29" name="Picture 2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600" y="2159000"/>
            <a:ext cx="3606800" cy="1930400"/>
          </a:xfrm>
          <a:prstGeom prst="rect">
            <a:avLst/>
          </a:prstGeom>
          <a:ln w="12700">
            <a:solidFill>
              <a:srgbClr val="E5C3A6"/>
            </a:solidFill>
          </a:ln>
        </p:spPr>
      </p:pic>
      <p:sp xmlns:a="http://schemas.openxmlformats.org/drawingml/2006/main">
        <p:nvSpPr>
          <p:cNvPr id="30" name="TextBox 29"/>
          <p:cNvSpPr txBox="1"/>
          <p:nvPr/>
        </p:nvSpPr>
        <p:spPr>
          <a:xfrm>
            <a:off x="863600" y="4191000"/>
            <a:ext cx="36068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• AI 辨識：青菜剩 80g、排骨剩 72g</a:t>
            </a:r>
          </a:p>
          <a:p>
            <a:pPr algn="l">
              <a:lnSpc>
                <a:spcPct val="122000"/>
              </a:lnSpc>
            </a:pPr>
            <a:r>
              <a:rPr sz="1300" b="0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• 用餐痛點：一開始白飯盛太滿，吃到最後</a:t>
            </a:r>
          </a:p>
          <a:p>
            <a:pPr algn="l">
              <a:lnSpc>
                <a:spcPct val="122000"/>
              </a:lnSpc>
            </a:pPr>
            <a:r>
              <a:rPr sz="1300" b="0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  肚子太撐、打掃鐘響，只好倒掉配菜。</a:t>
            </a:r>
          </a:p>
        </p:txBody>
      </p:sp>
      <p:sp xmlns:a="http://schemas.openxmlformats.org/drawingml/2006/main">
        <p:nvSpPr>
          <p:cNvPr id="31" name="Rounded Rectangle 30"/>
          <p:cNvSpPr/>
          <p:nvPr/>
        </p:nvSpPr>
        <p:spPr>
          <a:xfrm>
            <a:off x="4851400" y="1524000"/>
            <a:ext cx="2489200" cy="3632200"/>
          </a:xfrm>
          <a:prstGeom prst="roundRect">
            <a:avLst>
              <a:gd name="adj" fmla="val 8000"/>
            </a:avLst>
          </a:prstGeom>
          <a:solidFill>
            <a:srgbClr val="173E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2" name="TextBox 31"/>
          <p:cNvSpPr txBox="1"/>
          <p:nvPr/>
        </p:nvSpPr>
        <p:spPr>
          <a:xfrm>
            <a:off x="5003800" y="1727200"/>
            <a:ext cx="2184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A7F3D0"/>
                </a:solidFill>
                <a:latin typeface="Heiti TC"/>
                <a:ea typeface="Heiti TC"/>
                <a:cs typeface="Heiti TC"/>
              </a:rPr>
              <a:t>AI 自動推薦策略</a:t>
            </a:r>
          </a:p>
        </p:txBody>
      </p:sp>
      <p:sp xmlns:a="http://schemas.openxmlformats.org/drawingml/2006/main">
        <p:nvSpPr>
          <p:cNvPr id="33" name="TextBox 32"/>
          <p:cNvSpPr txBox="1"/>
          <p:nvPr/>
        </p:nvSpPr>
        <p:spPr>
          <a:xfrm>
            <a:off x="5003800" y="2082800"/>
            <a:ext cx="21844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60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162g → 14g</a:t>
            </a:r>
          </a:p>
        </p:txBody>
      </p:sp>
      <p:sp xmlns:a="http://schemas.openxmlformats.org/drawingml/2006/main">
        <p:nvSpPr>
          <p:cNvPr id="34" name="Rounded Rectangle 33"/>
          <p:cNvSpPr/>
          <p:nvPr/>
        </p:nvSpPr>
        <p:spPr>
          <a:xfrm>
            <a:off x="5207000" y="2641600"/>
            <a:ext cx="1778000" cy="330200"/>
          </a:xfrm>
          <a:prstGeom prst="roundRect">
            <a:avLst>
              <a:gd name="adj" fmla="val 45000"/>
            </a:avLst>
          </a:prstGeom>
          <a:solidFill>
            <a:srgbClr val="2E7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TextBox 34"/>
          <p:cNvSpPr txBox="1"/>
          <p:nvPr/>
        </p:nvSpPr>
        <p:spPr>
          <a:xfrm>
            <a:off x="5283200" y="2641600"/>
            <a:ext cx="16256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減少 91% 剩食</a:t>
            </a:r>
          </a:p>
        </p:txBody>
      </p:sp>
      <p:sp xmlns:a="http://schemas.openxmlformats.org/drawingml/2006/main">
        <p:nvSpPr>
          <p:cNvPr id="36" name="Rounded Rectangle 35"/>
          <p:cNvSpPr/>
          <p:nvPr/>
        </p:nvSpPr>
        <p:spPr>
          <a:xfrm>
            <a:off x="5029200" y="3149600"/>
            <a:ext cx="2133600" cy="355600"/>
          </a:xfrm>
          <a:prstGeom prst="roundRect">
            <a:avLst>
              <a:gd name="adj" fmla="val 20000"/>
            </a:avLst>
          </a:prstGeom>
          <a:solidFill>
            <a:srgbClr val="2454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7" name="TextBox 36"/>
          <p:cNvSpPr txBox="1"/>
          <p:nvPr/>
        </p:nvSpPr>
        <p:spPr>
          <a:xfrm>
            <a:off x="5105400" y="3149600"/>
            <a:ext cx="19812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1. 白飯先盛 3/4 碗</a:t>
            </a:r>
          </a:p>
        </p:txBody>
      </p:sp>
      <p:sp xmlns:a="http://schemas.openxmlformats.org/drawingml/2006/main">
        <p:nvSpPr>
          <p:cNvPr id="38" name="Rounded Rectangle 37"/>
          <p:cNvSpPr/>
          <p:nvPr/>
        </p:nvSpPr>
        <p:spPr>
          <a:xfrm>
            <a:off x="5029200" y="3581400"/>
            <a:ext cx="2133600" cy="355600"/>
          </a:xfrm>
          <a:prstGeom prst="roundRect">
            <a:avLst>
              <a:gd name="adj" fmla="val 20000"/>
            </a:avLst>
          </a:prstGeom>
          <a:solidFill>
            <a:srgbClr val="2454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TextBox 38"/>
          <p:cNvSpPr txBox="1"/>
          <p:nvPr/>
        </p:nvSpPr>
        <p:spPr>
          <a:xfrm>
            <a:off x="5105400" y="3581400"/>
            <a:ext cx="19812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2. 前 10 分鐘先吃青菜</a:t>
            </a:r>
          </a:p>
        </p:txBody>
      </p:sp>
      <p:sp xmlns:a="http://schemas.openxmlformats.org/drawingml/2006/main">
        <p:nvSpPr>
          <p:cNvPr id="40" name="Rounded Rectangle 39"/>
          <p:cNvSpPr/>
          <p:nvPr/>
        </p:nvSpPr>
        <p:spPr>
          <a:xfrm>
            <a:off x="5029200" y="4013200"/>
            <a:ext cx="2133600" cy="355600"/>
          </a:xfrm>
          <a:prstGeom prst="roundRect">
            <a:avLst>
              <a:gd name="adj" fmla="val 20000"/>
            </a:avLst>
          </a:prstGeom>
          <a:solidFill>
            <a:srgbClr val="2454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1" name="TextBox 40"/>
          <p:cNvSpPr txBox="1"/>
          <p:nvPr/>
        </p:nvSpPr>
        <p:spPr>
          <a:xfrm>
            <a:off x="5105400" y="4013200"/>
            <a:ext cx="19812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3. 主菜搭著青菜一起吃</a:t>
            </a:r>
          </a:p>
        </p:txBody>
      </p:sp>
      <p:sp xmlns:a="http://schemas.openxmlformats.org/drawingml/2006/main">
        <p:nvSpPr>
          <p:cNvPr id="42" name="Rounded Rectangle 41"/>
          <p:cNvSpPr/>
          <p:nvPr/>
        </p:nvSpPr>
        <p:spPr>
          <a:xfrm>
            <a:off x="5029200" y="4445000"/>
            <a:ext cx="2133600" cy="355600"/>
          </a:xfrm>
          <a:prstGeom prst="roundRect">
            <a:avLst>
              <a:gd name="adj" fmla="val 20000"/>
            </a:avLst>
          </a:prstGeom>
          <a:solidFill>
            <a:srgbClr val="2454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3" name="TextBox 42"/>
          <p:cNvSpPr txBox="1"/>
          <p:nvPr/>
        </p:nvSpPr>
        <p:spPr>
          <a:xfrm>
            <a:off x="5105400" y="4445000"/>
            <a:ext cx="19812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4. 吃完還餓再去添飯</a:t>
            </a:r>
          </a:p>
        </p:txBody>
      </p:sp>
      <p:sp xmlns:a="http://schemas.openxmlformats.org/drawingml/2006/main">
        <p:nvSpPr>
          <p:cNvPr id="44" name="Rounded Rectangle 43"/>
          <p:cNvSpPr/>
          <p:nvPr/>
        </p:nvSpPr>
        <p:spPr>
          <a:xfrm>
            <a:off x="7518400" y="1524000"/>
            <a:ext cx="4013200" cy="3632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2E71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5" name="Rounded Rectangle 44"/>
          <p:cNvSpPr/>
          <p:nvPr/>
        </p:nvSpPr>
        <p:spPr>
          <a:xfrm>
            <a:off x="7721600" y="1701800"/>
            <a:ext cx="2489200" cy="355600"/>
          </a:xfrm>
          <a:prstGeom prst="roundRect">
            <a:avLst>
              <a:gd name="adj" fmla="val 45000"/>
            </a:avLst>
          </a:prstGeom>
          <a:solidFill>
            <a:srgbClr val="E6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6" name="TextBox 45"/>
          <p:cNvSpPr txBox="1"/>
          <p:nvPr/>
        </p:nvSpPr>
        <p:spPr>
          <a:xfrm>
            <a:off x="7797800" y="1701800"/>
            <a:ext cx="23368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改善後｜第二餐（採用策略）</a:t>
            </a:r>
          </a:p>
        </p:txBody>
      </p:sp>
      <p:sp xmlns:a="http://schemas.openxmlformats.org/drawingml/2006/main">
        <p:nvSpPr>
          <p:cNvPr id="47" name="Rounded Rectangle 46"/>
          <p:cNvSpPr/>
          <p:nvPr/>
        </p:nvSpPr>
        <p:spPr>
          <a:xfrm>
            <a:off x="10287000" y="1701800"/>
            <a:ext cx="1041400" cy="355600"/>
          </a:xfrm>
          <a:prstGeom prst="roundRect">
            <a:avLst>
              <a:gd name="adj" fmla="val 45000"/>
            </a:avLst>
          </a:prstGeom>
          <a:solidFill>
            <a:srgbClr val="2E7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8" name="TextBox 47"/>
          <p:cNvSpPr txBox="1"/>
          <p:nvPr/>
        </p:nvSpPr>
        <p:spPr>
          <a:xfrm>
            <a:off x="10363200" y="1701800"/>
            <a:ext cx="889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僅剩 14g</a:t>
            </a:r>
          </a:p>
        </p:txBody>
      </p:sp>
      <p:pic xmlns:a="http://schemas.openxmlformats.org/drawingml/2006/main" xmlns:r="http://schemas.openxmlformats.org/officeDocument/2006/relationships"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1600" y="2159000"/>
            <a:ext cx="3606800" cy="1930400"/>
          </a:xfrm>
          <a:prstGeom prst="rect">
            <a:avLst/>
          </a:prstGeom>
          <a:ln w="12700">
            <a:solidFill>
              <a:srgbClr val="2E7154"/>
            </a:solidFill>
          </a:ln>
        </p:spPr>
      </p:pic>
      <p:sp xmlns:a="http://schemas.openxmlformats.org/drawingml/2006/main">
        <p:nvSpPr>
          <p:cNvPr id="50" name="TextBox 49"/>
          <p:cNvSpPr txBox="1"/>
          <p:nvPr/>
        </p:nvSpPr>
        <p:spPr>
          <a:xfrm>
            <a:off x="7721600" y="4191000"/>
            <a:ext cx="36068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• AI 辨識：白飯 4g、青菜 5g、醬汁 5g</a:t>
            </a:r>
          </a:p>
          <a:p>
            <a:pPr algn="l">
              <a:lnSpc>
                <a:spcPct val="122000"/>
              </a:lnSpc>
            </a:pPr>
            <a:r>
              <a:rPr sz="1300" b="0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• 實測成效：照著 AI 策略先吃青菜配主菜，</a:t>
            </a:r>
          </a:p>
          <a:p>
            <a:pPr algn="l">
              <a:lnSpc>
                <a:spcPct val="122000"/>
              </a:lnSpc>
            </a:pPr>
            <a:r>
              <a:rPr sz="1300" b="0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  時間充裕、肚子剛好飽，幾乎全部吃光！</a:t>
            </a:r>
          </a:p>
        </p:txBody>
      </p:sp>
      <p:sp xmlns:a="http://schemas.openxmlformats.org/drawingml/2006/main">
        <p:nvSpPr>
          <p:cNvPr id="51" name="Rounded Rectangle 50"/>
          <p:cNvSpPr/>
          <p:nvPr/>
        </p:nvSpPr>
        <p:spPr>
          <a:xfrm>
            <a:off x="660400" y="5334000"/>
            <a:ext cx="10871200" cy="711200"/>
          </a:xfrm>
          <a:prstGeom prst="roundRect">
            <a:avLst>
              <a:gd name="adj" fmla="val 12000"/>
            </a:avLst>
          </a:prstGeom>
          <a:solidFill>
            <a:srgbClr val="E6F4EB"/>
          </a:solidFill>
          <a:ln w="15875">
            <a:solidFill>
              <a:srgbClr val="B8D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2" name="TextBox 51"/>
          <p:cNvSpPr txBox="1"/>
          <p:nvPr/>
        </p:nvSpPr>
        <p:spPr>
          <a:xfrm>
            <a:off x="863600" y="5334000"/>
            <a:ext cx="104648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實測證明：不靠勉強硬塞，而是用 AI 智慧判斷剩食原因、推薦個人吃飯策略，讓午餐吃得飽又減少浪費！</a:t>
            </a:r>
          </a:p>
        </p:txBody>
      </p:sp>
    </p:spTree>
    <p:extLst>
      <p:ext uri="{BB962C8B-B14F-4D97-AF65-F5344CB8AC3E}">
        <p14:creationId xmlns:p14="http://schemas.microsoft.com/office/powerpoint/2010/main" val="4241337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heading">
            <a:extLst xmlns:a="http://schemas.openxmlformats.org/drawingml/2006/main">
              <a:ext uri="{FF2B5EF4-FFF2-40B4-BE49-F238E27FC236}">
                <a16:creationId xmlns:a16="http://schemas.microsoft.com/office/drawing/2014/main" id="{ED7A6367-A044-4422-AC34-75633C0A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17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pPr>
            <a:r>
              <a:rPr sz="2450" b="1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個人 → 班級 → 全校：預測喜好預防剩食</a:t>
            </a:r>
          </a:p>
        </p:txBody>
      </p:sp>
      <p:sp>
        <p:nvSpPr>
          <p:cNvPr id="2" name="食光偵探  食光追查隊">
            <a:extLst xmlns:a="http://schemas.openxmlformats.org/drawingml/2006/main">
              <a:ext uri="{FF2B5EF4-FFF2-40B4-BE49-F238E27FC236}">
                <a16:creationId xmlns:a16="http://schemas.microsoft.com/office/drawing/2014/main" id="{003F7F87-4FDF-4F82-84ED-BE27E4E7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576D62"/>
                </a:solidFill>
                <a:latin typeface="Heiti TC"/>
                <a:ea typeface="Heiti TC"/>
                <a:cs typeface="Heiti TC"/>
              </a:rPr>
              <a:t>食光偵探  食光追查隊</a:t>
            </a:r>
          </a:p>
        </p:txBody>
      </p:sp>
      <p:sp>
        <p:nvSpPr>
          <p:cNvPr id="3" name="05 / 10">
            <a:extLst xmlns:a="http://schemas.openxmlformats.org/drawingml/2006/main">
              <a:ext uri="{FF2B5EF4-FFF2-40B4-BE49-F238E27FC236}">
                <a16:creationId xmlns:a16="http://schemas.microsoft.com/office/drawing/2014/main" id="{572864A1-E983-4353-8D38-EC70EF81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576D62"/>
                </a:solidFill>
                <a:latin typeface="Heiti TC"/>
                <a:ea typeface="Heiti TC"/>
                <a:cs typeface="Heiti TC"/>
              </a:rPr>
              <a:t>09 / 11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7112000" y="812800"/>
            <a:ext cx="44196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20" b="1">
                <a:solidFill>
                  <a:srgbClr val="2E7154"/>
                </a:solidFill>
                <a:latin typeface="Heiti TC"/>
                <a:ea typeface="Heiti TC"/>
                <a:cs typeface="Heiti TC"/>
              </a:rPr>
              <a:t>從一張餐盤到全校菜單，提前預測口味喜好</a:t>
            </a:r>
          </a:p>
        </p:txBody>
      </p:sp>
      <p:sp xmlns:a="http://schemas.openxmlformats.org/drawingml/2006/main">
        <p:nvSpPr>
          <p:cNvPr id="11" name="Rounded Rectangle 10"/>
          <p:cNvSpPr/>
          <p:nvPr/>
        </p:nvSpPr>
        <p:spPr>
          <a:xfrm>
            <a:off x="660400" y="1524000"/>
            <a:ext cx="3454400" cy="368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FE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Rounded Rectangle 11"/>
          <p:cNvSpPr/>
          <p:nvPr/>
        </p:nvSpPr>
        <p:spPr>
          <a:xfrm>
            <a:off x="812800" y="1676400"/>
            <a:ext cx="3149600" cy="355600"/>
          </a:xfrm>
          <a:prstGeom prst="roundRect">
            <a:avLst>
              <a:gd name="adj" fmla="val 45000"/>
            </a:avLst>
          </a:prstGeom>
          <a:solidFill>
            <a:srgbClr val="2E7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TextBox 12"/>
          <p:cNvSpPr txBox="1"/>
          <p:nvPr/>
        </p:nvSpPr>
        <p:spPr>
          <a:xfrm>
            <a:off x="889000" y="1676400"/>
            <a:ext cx="29972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① 個人層級｜專屬配餐教練</a:t>
            </a:r>
          </a:p>
        </p:txBody>
      </p:sp>
      <p:sp xmlns:a="http://schemas.openxmlformats.org/drawingml/2006/main">
        <p:nvSpPr>
          <p:cNvPr id="14" name="TextBox 13"/>
          <p:cNvSpPr txBox="1"/>
          <p:nvPr/>
        </p:nvSpPr>
        <p:spPr>
          <a:xfrm>
            <a:off x="838200" y="2082800"/>
            <a:ext cx="3098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576D62"/>
                </a:solidFill>
                <a:latin typeface="Heiti TC"/>
                <a:ea typeface="Heiti TC"/>
                <a:cs typeface="Heiti TC"/>
              </a:rPr>
              <a:t>記住個人食量與口味偏好</a:t>
            </a:r>
          </a:p>
        </p:txBody>
      </p:sp>
      <p:pic xmlns:a="http://schemas.openxmlformats.org/drawingml/2006/main" xmlns:r="http://schemas.openxmlformats.org/officeDocument/2006/relationships">
        <p:nvPicPr>
          <p:cNvPr id="15" name="Picture 1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2387600"/>
            <a:ext cx="3098800" cy="1371600"/>
          </a:xfrm>
          <a:prstGeom prst="rect">
            <a:avLst/>
          </a:prstGeom>
          <a:ln w="12700">
            <a:solidFill>
              <a:srgbClr val="CFE5D8"/>
            </a:solidFill>
          </a:ln>
        </p:spPr>
      </p:pic>
      <p:sp xmlns:a="http://schemas.openxmlformats.org/drawingml/2006/main">
        <p:nvSpPr>
          <p:cNvPr id="16" name="TextBox 15"/>
          <p:cNvSpPr txBox="1"/>
          <p:nvPr/>
        </p:nvSpPr>
        <p:spPr>
          <a:xfrm>
            <a:off x="838200" y="3835400"/>
            <a:ext cx="3098800" cy="86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20" b="0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• 追蹤每餐各格剩食克數與飽足感</a:t>
            </a:r>
          </a:p>
          <a:p>
            <a:pPr algn="l">
              <a:lnSpc>
                <a:spcPct val="120000"/>
              </a:lnSpc>
            </a:pPr>
            <a:r>
              <a:rPr sz="1220" b="0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• AI 針對個人不熟菜色推薦搭配吃法</a:t>
            </a:r>
          </a:p>
          <a:p>
            <a:pPr algn="l">
              <a:lnSpc>
                <a:spcPct val="120000"/>
              </a:lnSpc>
            </a:pPr>
            <a:r>
              <a:rPr sz="1220" b="0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• 自動建議盛飯比例（1/2、3/4、1 碗）</a:t>
            </a:r>
          </a:p>
        </p:txBody>
      </p:sp>
      <p:sp xmlns:a="http://schemas.openxmlformats.org/drawingml/2006/main">
        <p:nvSpPr>
          <p:cNvPr id="17" name="Rounded Rectangle 16"/>
          <p:cNvSpPr/>
          <p:nvPr/>
        </p:nvSpPr>
        <p:spPr>
          <a:xfrm>
            <a:off x="812800" y="4724400"/>
            <a:ext cx="3149600" cy="355600"/>
          </a:xfrm>
          <a:prstGeom prst="roundRect">
            <a:avLst>
              <a:gd name="adj" fmla="val 18000"/>
            </a:avLst>
          </a:prstGeom>
          <a:solidFill>
            <a:srgbClr val="E6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TextBox 17"/>
          <p:cNvSpPr txBox="1"/>
          <p:nvPr/>
        </p:nvSpPr>
        <p:spPr>
          <a:xfrm>
            <a:off x="863600" y="47244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個人成果：找到最適合自己的份量</a:t>
            </a:r>
          </a:p>
        </p:txBody>
      </p:sp>
      <p:cxnSp xmlns:a="http://schemas.openxmlformats.org/drawingml/2006/main">
        <p:nvCxnSpPr>
          <p:cNvPr id="19" name="Connector 18"/>
          <p:cNvCxnSpPr/>
          <p:nvPr/>
        </p:nvCxnSpPr>
        <p:spPr>
          <a:xfrm>
            <a:off x="4140200" y="3365500"/>
            <a:ext cx="203200" cy="0"/>
          </a:xfrm>
          <a:prstGeom prst="line">
            <a:avLst/>
          </a:prstGeom>
          <a:ln w="27940">
            <a:solidFill>
              <a:srgbClr val="2E71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xmlns:a="http://schemas.openxmlformats.org/drawingml/2006/main">
        <p:nvSpPr>
          <p:cNvPr id="20" name="Rounded Rectangle 19"/>
          <p:cNvSpPr/>
          <p:nvPr/>
        </p:nvSpPr>
        <p:spPr>
          <a:xfrm>
            <a:off x="4368800" y="1524000"/>
            <a:ext cx="3454400" cy="368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FE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ounded Rectangle 20"/>
          <p:cNvSpPr/>
          <p:nvPr/>
        </p:nvSpPr>
        <p:spPr>
          <a:xfrm>
            <a:off x="4521200" y="1676400"/>
            <a:ext cx="3149600" cy="355600"/>
          </a:xfrm>
          <a:prstGeom prst="roundRect">
            <a:avLst>
              <a:gd name="adj" fmla="val 45000"/>
            </a:avLst>
          </a:prstGeom>
          <a:solidFill>
            <a:srgbClr val="2E7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TextBox 21"/>
          <p:cNvSpPr txBox="1"/>
          <p:nvPr/>
        </p:nvSpPr>
        <p:spPr>
          <a:xfrm>
            <a:off x="4597400" y="1676400"/>
            <a:ext cx="29972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② 班級層級｜全班菜色喜好排行</a:t>
            </a:r>
          </a:p>
        </p:txBody>
      </p:sp>
      <p:sp xmlns:a="http://schemas.openxmlformats.org/drawingml/2006/main">
        <p:nvSpPr>
          <p:cNvPr id="23" name="TextBox 22"/>
          <p:cNvSpPr txBox="1"/>
          <p:nvPr/>
        </p:nvSpPr>
        <p:spPr>
          <a:xfrm>
            <a:off x="4546600" y="2082800"/>
            <a:ext cx="3098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576D62"/>
                </a:solidFill>
                <a:latin typeface="Heiti TC"/>
                <a:ea typeface="Heiti TC"/>
                <a:cs typeface="Heiti TC"/>
              </a:rPr>
              <a:t>統計全班各道菜平均剩食量</a:t>
            </a:r>
          </a:p>
        </p:txBody>
      </p:sp>
      <p:pic xmlns:a="http://schemas.openxmlformats.org/drawingml/2006/main" xmlns:r="http://schemas.openxmlformats.org/officeDocument/2006/relationships">
        <p:nvPicPr>
          <p:cNvPr id="24" name="Picture 23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6600" y="2387600"/>
            <a:ext cx="3098800" cy="1371600"/>
          </a:xfrm>
          <a:prstGeom prst="rect">
            <a:avLst/>
          </a:prstGeom>
          <a:ln w="12700">
            <a:solidFill>
              <a:srgbClr val="CFE5D8"/>
            </a:solidFill>
          </a:ln>
        </p:spPr>
      </p:pic>
      <p:sp xmlns:a="http://schemas.openxmlformats.org/drawingml/2006/main">
        <p:nvSpPr>
          <p:cNvPr id="25" name="TextBox 24"/>
          <p:cNvSpPr txBox="1"/>
          <p:nvPr/>
        </p:nvSpPr>
        <p:spPr>
          <a:xfrm>
            <a:off x="4546600" y="3835400"/>
            <a:ext cx="3098800" cy="86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20" b="0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• 彙整全班餐盤與餐桶（如白飯、蔬菜量）</a:t>
            </a:r>
          </a:p>
          <a:p>
            <a:pPr algn="l">
              <a:lnSpc>
                <a:spcPct val="120000"/>
              </a:lnSpc>
            </a:pPr>
            <a:r>
              <a:rPr sz="1220" b="0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• 找出班上最受歡迎與最常剩下的菜色</a:t>
            </a:r>
          </a:p>
          <a:p>
            <a:pPr algn="l">
              <a:lnSpc>
                <a:spcPct val="120000"/>
              </a:lnSpc>
            </a:pPr>
            <a:r>
              <a:rPr sz="1220" b="0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• 導師與同學打菜前先看班級惜食提醒</a:t>
            </a:r>
          </a:p>
        </p:txBody>
      </p:sp>
      <p:sp xmlns:a="http://schemas.openxmlformats.org/drawingml/2006/main">
        <p:nvSpPr>
          <p:cNvPr id="26" name="Rounded Rectangle 25"/>
          <p:cNvSpPr/>
          <p:nvPr/>
        </p:nvSpPr>
        <p:spPr>
          <a:xfrm>
            <a:off x="4521200" y="4724400"/>
            <a:ext cx="3149600" cy="355600"/>
          </a:xfrm>
          <a:prstGeom prst="roundRect">
            <a:avLst>
              <a:gd name="adj" fmla="val 18000"/>
            </a:avLst>
          </a:prstGeom>
          <a:solidFill>
            <a:srgbClr val="E6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TextBox 26"/>
          <p:cNvSpPr txBox="1"/>
          <p:nvPr/>
        </p:nvSpPr>
        <p:spPr>
          <a:xfrm>
            <a:off x="4572000" y="47244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班級成果：熱門菜不搶光、青菜少剩下</a:t>
            </a:r>
          </a:p>
        </p:txBody>
      </p:sp>
      <p:cxnSp xmlns:a="http://schemas.openxmlformats.org/drawingml/2006/main">
        <p:nvCxnSpPr>
          <p:cNvPr id="28" name="Connector 27"/>
          <p:cNvCxnSpPr/>
          <p:nvPr/>
        </p:nvCxnSpPr>
        <p:spPr>
          <a:xfrm>
            <a:off x="7848600" y="3365500"/>
            <a:ext cx="203200" cy="0"/>
          </a:xfrm>
          <a:prstGeom prst="line">
            <a:avLst/>
          </a:prstGeom>
          <a:ln w="27940">
            <a:solidFill>
              <a:srgbClr val="2E71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xmlns:a="http://schemas.openxmlformats.org/drawingml/2006/main">
        <p:nvSpPr>
          <p:cNvPr id="29" name="Rounded Rectangle 28"/>
          <p:cNvSpPr/>
          <p:nvPr/>
        </p:nvSpPr>
        <p:spPr>
          <a:xfrm>
            <a:off x="8077200" y="1524000"/>
            <a:ext cx="3454400" cy="368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71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0" name="Rounded Rectangle 29"/>
          <p:cNvSpPr/>
          <p:nvPr/>
        </p:nvSpPr>
        <p:spPr>
          <a:xfrm>
            <a:off x="8229600" y="1676400"/>
            <a:ext cx="3149600" cy="355600"/>
          </a:xfrm>
          <a:prstGeom prst="roundRect">
            <a:avLst>
              <a:gd name="adj" fmla="val 45000"/>
            </a:avLst>
          </a:prstGeom>
          <a:solidFill>
            <a:srgbClr val="173E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1" name="TextBox 30"/>
          <p:cNvSpPr txBox="1"/>
          <p:nvPr/>
        </p:nvSpPr>
        <p:spPr>
          <a:xfrm>
            <a:off x="8305800" y="1676400"/>
            <a:ext cx="29972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③ 全校層級｜全校口味預測與備餐</a:t>
            </a:r>
          </a:p>
        </p:txBody>
      </p:sp>
      <p:sp xmlns:a="http://schemas.openxmlformats.org/drawingml/2006/main">
        <p:nvSpPr>
          <p:cNvPr id="32" name="TextBox 31"/>
          <p:cNvSpPr txBox="1"/>
          <p:nvPr/>
        </p:nvSpPr>
        <p:spPr>
          <a:xfrm>
            <a:off x="8255000" y="2082800"/>
            <a:ext cx="3098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576D62"/>
                </a:solidFill>
                <a:latin typeface="Heiti TC"/>
                <a:ea typeface="Heiti TC"/>
                <a:cs typeface="Heiti TC"/>
              </a:rPr>
              <a:t>整合教育部 23 天食材大數據</a:t>
            </a:r>
          </a:p>
        </p:txBody>
      </p:sp>
      <p:pic xmlns:a="http://schemas.openxmlformats.org/drawingml/2006/main" xmlns:r="http://schemas.openxmlformats.org/officeDocument/2006/relationships">
        <p:nvPicPr>
          <p:cNvPr id="33" name="Picture 32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55000" y="2387600"/>
            <a:ext cx="3098800" cy="1371600"/>
          </a:xfrm>
          <a:prstGeom prst="rect">
            <a:avLst/>
          </a:prstGeom>
          <a:ln w="12700">
            <a:solidFill>
              <a:srgbClr val="CFE5D8"/>
            </a:solidFill>
          </a:ln>
        </p:spPr>
      </p:pic>
      <p:sp xmlns:a="http://schemas.openxmlformats.org/drawingml/2006/main">
        <p:nvSpPr>
          <p:cNvPr id="34" name="TextBox 33"/>
          <p:cNvSpPr txBox="1"/>
          <p:nvPr/>
        </p:nvSpPr>
        <p:spPr>
          <a:xfrm>
            <a:off x="8255000" y="3835400"/>
            <a:ext cx="3098800" cy="86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20" b="0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• 串接教育部平臺每餐 707–905 大卡數據</a:t>
            </a:r>
          </a:p>
          <a:p>
            <a:pPr algn="l">
              <a:lnSpc>
                <a:spcPct val="120000"/>
              </a:lnSpc>
            </a:pPr>
            <a:r>
              <a:rPr sz="1220" b="0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• 分析全校對炸物、滷味、炒青菜喜好度</a:t>
            </a:r>
          </a:p>
          <a:p>
            <a:pPr algn="l">
              <a:lnSpc>
                <a:spcPct val="120000"/>
              </a:lnSpc>
            </a:pPr>
            <a:r>
              <a:rPr sz="1220" b="0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• 預測高剩食風險菜色，提前調整烹調方式</a:t>
            </a:r>
          </a:p>
        </p:txBody>
      </p:sp>
      <p:sp xmlns:a="http://schemas.openxmlformats.org/drawingml/2006/main">
        <p:nvSpPr>
          <p:cNvPr id="35" name="Rounded Rectangle 34"/>
          <p:cNvSpPr/>
          <p:nvPr/>
        </p:nvSpPr>
        <p:spPr>
          <a:xfrm>
            <a:off x="8229600" y="4724400"/>
            <a:ext cx="3149600" cy="355600"/>
          </a:xfrm>
          <a:prstGeom prst="roundRect">
            <a:avLst>
              <a:gd name="adj" fmla="val 18000"/>
            </a:avLst>
          </a:prstGeom>
          <a:solidFill>
            <a:srgbClr val="E6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TextBox 35"/>
          <p:cNvSpPr txBox="1"/>
          <p:nvPr/>
        </p:nvSpPr>
        <p:spPr>
          <a:xfrm>
            <a:off x="8280400" y="47244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全校成果：從源頭調整菜單、預防剩食</a:t>
            </a:r>
          </a:p>
        </p:txBody>
      </p:sp>
      <p:sp xmlns:a="http://schemas.openxmlformats.org/drawingml/2006/main">
        <p:nvSpPr>
          <p:cNvPr id="37" name="Rounded Rectangle 36"/>
          <p:cNvSpPr/>
          <p:nvPr/>
        </p:nvSpPr>
        <p:spPr>
          <a:xfrm>
            <a:off x="660400" y="5359400"/>
            <a:ext cx="10871200" cy="685800"/>
          </a:xfrm>
          <a:prstGeom prst="roundRect">
            <a:avLst>
              <a:gd name="adj" fmla="val 12000"/>
            </a:avLst>
          </a:prstGeom>
          <a:solidFill>
            <a:srgbClr val="173E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TextBox 37"/>
          <p:cNvSpPr txBox="1"/>
          <p:nvPr/>
        </p:nvSpPr>
        <p:spPr>
          <a:xfrm>
            <a:off x="863600" y="5359400"/>
            <a:ext cx="1046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不只是算今天剩多少！從「個人策略 → 班級排行 → 全校口味預測」，讓學校午餐在煮之前就能預防剩食！</a:t>
            </a:r>
          </a:p>
        </p:txBody>
      </p:sp>
    </p:spTree>
    <p:extLst>
      <p:ext uri="{BB962C8B-B14F-4D97-AF65-F5344CB8AC3E}">
        <p14:creationId xmlns:p14="http://schemas.microsoft.com/office/powerpoint/2010/main" val="3267829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heading">
            <a:extLst xmlns:a="http://schemas.openxmlformats.org/drawingml/2006/main">
              <a:ext uri="{FF2B5EF4-FFF2-40B4-BE49-F238E27FC236}">
                <a16:creationId xmlns:a16="http://schemas.microsoft.com/office/drawing/2014/main" id="{012AE497-962D-481F-90EB-2D6CF2EF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17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pPr>
            <a:r>
              <a:rPr sz="2450" b="1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累積校園午餐大數據：長期營養與惜食參照庫</a:t>
            </a:r>
          </a:p>
        </p:txBody>
      </p:sp>
      <p:sp>
        <p:nvSpPr>
          <p:cNvPr id="2" name="食光偵探  食光追查隊">
            <a:extLst xmlns:a="http://schemas.openxmlformats.org/drawingml/2006/main">
              <a:ext uri="{FF2B5EF4-FFF2-40B4-BE49-F238E27FC236}">
                <a16:creationId xmlns:a16="http://schemas.microsoft.com/office/drawing/2014/main" id="{5C147285-539D-467F-BF6C-046B4AC9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576D62"/>
                </a:solidFill>
                <a:latin typeface="Heiti TC"/>
                <a:ea typeface="Heiti TC"/>
                <a:cs typeface="Heiti TC"/>
              </a:rPr>
              <a:t>食光偵探  食光追查隊</a:t>
            </a:r>
          </a:p>
        </p:txBody>
      </p:sp>
      <p:sp>
        <p:nvSpPr>
          <p:cNvPr id="3" name="09 / 10">
            <a:extLst xmlns:a="http://schemas.openxmlformats.org/drawingml/2006/main">
              <a:ext uri="{FF2B5EF4-FFF2-40B4-BE49-F238E27FC236}">
                <a16:creationId xmlns:a16="http://schemas.microsoft.com/office/drawing/2014/main" id="{DBE61460-1C57-4581-B455-02CD1EF6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576D62"/>
                </a:solidFill>
                <a:latin typeface="Heiti TC"/>
                <a:ea typeface="Heiti TC"/>
                <a:cs typeface="Heiti TC"/>
              </a:rPr>
              <a:t>10 / 11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7112000" y="812800"/>
            <a:ext cx="44196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20" b="1">
                <a:solidFill>
                  <a:srgbClr val="2E7154"/>
                </a:solidFill>
                <a:latin typeface="Heiti TC"/>
                <a:ea typeface="Heiti TC"/>
                <a:cs typeface="Heiti TC"/>
              </a:rPr>
              <a:t>累積越多筆數據，全校配餐與備餐就越精準</a:t>
            </a:r>
          </a:p>
        </p:txBody>
      </p:sp>
      <p:sp xmlns:a="http://schemas.openxmlformats.org/drawingml/2006/main">
        <p:nvSpPr>
          <p:cNvPr id="8" name="Rounded Rectangle 7"/>
          <p:cNvSpPr/>
          <p:nvPr/>
        </p:nvSpPr>
        <p:spPr>
          <a:xfrm>
            <a:off x="660400" y="1498600"/>
            <a:ext cx="3454400" cy="1625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FE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" name="Rounded Rectangle 8"/>
          <p:cNvSpPr/>
          <p:nvPr/>
        </p:nvSpPr>
        <p:spPr>
          <a:xfrm>
            <a:off x="812800" y="1625600"/>
            <a:ext cx="3149600" cy="330200"/>
          </a:xfrm>
          <a:prstGeom prst="roundRect">
            <a:avLst>
              <a:gd name="adj" fmla="val 45000"/>
            </a:avLst>
          </a:prstGeom>
          <a:solidFill>
            <a:srgbClr val="E6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889000" y="1625600"/>
            <a:ext cx="29972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40 天菜單 × 23 天官方實登</a:t>
            </a:r>
          </a:p>
        </p:txBody>
      </p:sp>
      <p:sp xmlns:a="http://schemas.openxmlformats.org/drawingml/2006/main">
        <p:nvSpPr>
          <p:cNvPr id="11" name="TextBox 10"/>
          <p:cNvSpPr txBox="1"/>
          <p:nvPr/>
        </p:nvSpPr>
        <p:spPr>
          <a:xfrm>
            <a:off x="838200" y="2032000"/>
            <a:ext cx="3098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2E7154"/>
                </a:solidFill>
                <a:latin typeface="Heiti TC"/>
                <a:ea typeface="Heiti TC"/>
                <a:cs typeface="Heiti TC"/>
              </a:rPr>
              <a:t>707–905 大卡熱量與全校進貨 KG</a:t>
            </a:r>
          </a:p>
        </p:txBody>
      </p:sp>
      <p:sp xmlns:a="http://schemas.openxmlformats.org/drawingml/2006/main">
        <p:nvSpPr>
          <p:cNvPr id="12" name="TextBox 11"/>
          <p:cNvSpPr txBox="1"/>
          <p:nvPr/>
        </p:nvSpPr>
        <p:spPr>
          <a:xfrm>
            <a:off x="838200" y="2362200"/>
            <a:ext cx="30988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76D62"/>
                </a:solidFill>
                <a:latin typeface="Heiti TC"/>
                <a:ea typeface="Heiti TC"/>
                <a:cs typeface="Heiti TC"/>
              </a:rPr>
              <a:t>串接教育部校園食材登錄平臺 34 張實拍菜色照、六大類營養份量與全校食材批號總重。</a:t>
            </a:r>
          </a:p>
        </p:txBody>
      </p:sp>
      <p:sp xmlns:a="http://schemas.openxmlformats.org/drawingml/2006/main">
        <p:nvSpPr>
          <p:cNvPr id="13" name="Rounded Rectangle 12"/>
          <p:cNvSpPr/>
          <p:nvPr/>
        </p:nvSpPr>
        <p:spPr>
          <a:xfrm>
            <a:off x="4368800" y="1498600"/>
            <a:ext cx="3454400" cy="1625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FE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Rounded Rectangle 13"/>
          <p:cNvSpPr/>
          <p:nvPr/>
        </p:nvSpPr>
        <p:spPr>
          <a:xfrm>
            <a:off x="4521200" y="1625600"/>
            <a:ext cx="3149600" cy="330200"/>
          </a:xfrm>
          <a:prstGeom prst="roundRect">
            <a:avLst>
              <a:gd name="adj" fmla="val 45000"/>
            </a:avLst>
          </a:prstGeom>
          <a:solidFill>
            <a:srgbClr val="E6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TextBox 14"/>
          <p:cNvSpPr txBox="1"/>
          <p:nvPr/>
        </p:nvSpPr>
        <p:spPr>
          <a:xfrm>
            <a:off x="4597400" y="1625600"/>
            <a:ext cx="29972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AI 餐盤影像辨識大數據</a:t>
            </a:r>
          </a:p>
        </p:txBody>
      </p:sp>
      <p:sp xmlns:a="http://schemas.openxmlformats.org/drawingml/2006/main">
        <p:nvSpPr>
          <p:cNvPr id="16" name="TextBox 15"/>
          <p:cNvSpPr txBox="1"/>
          <p:nvPr/>
        </p:nvSpPr>
        <p:spPr>
          <a:xfrm>
            <a:off x="4546600" y="2032000"/>
            <a:ext cx="3098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2E7154"/>
                </a:solidFill>
                <a:latin typeface="Heiti TC"/>
                <a:ea typeface="Heiti TC"/>
                <a:cs typeface="Heiti TC"/>
              </a:rPr>
              <a:t>精準拆解主食、主菜、青菜與湯品</a:t>
            </a:r>
          </a:p>
        </p:txBody>
      </p:sp>
      <p:sp xmlns:a="http://schemas.openxmlformats.org/drawingml/2006/main">
        <p:nvSpPr>
          <p:cNvPr id="17" name="TextBox 16"/>
          <p:cNvSpPr txBox="1"/>
          <p:nvPr/>
        </p:nvSpPr>
        <p:spPr>
          <a:xfrm>
            <a:off x="4546600" y="2362200"/>
            <a:ext cx="30988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76D62"/>
                </a:solidFill>
                <a:latin typeface="Heiti TC"/>
                <a:ea typeface="Heiti TC"/>
                <a:cs typeface="Heiti TC"/>
              </a:rPr>
              <a:t>累積餐前標準份量（420–640g）與餐後剩食（8–265g）各格克數，建立視覺參照基準。</a:t>
            </a:r>
          </a:p>
        </p:txBody>
      </p:sp>
      <p:sp xmlns:a="http://schemas.openxmlformats.org/drawingml/2006/main">
        <p:nvSpPr>
          <p:cNvPr id="18" name="Rounded Rectangle 17"/>
          <p:cNvSpPr/>
          <p:nvPr/>
        </p:nvSpPr>
        <p:spPr>
          <a:xfrm>
            <a:off x="8077200" y="1498600"/>
            <a:ext cx="3454400" cy="1625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FE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ounded Rectangle 18"/>
          <p:cNvSpPr/>
          <p:nvPr/>
        </p:nvSpPr>
        <p:spPr>
          <a:xfrm>
            <a:off x="8229600" y="1625600"/>
            <a:ext cx="3149600" cy="330200"/>
          </a:xfrm>
          <a:prstGeom prst="roundRect">
            <a:avLst>
              <a:gd name="adj" fmla="val 45000"/>
            </a:avLst>
          </a:prstGeom>
          <a:solidFill>
            <a:srgbClr val="E6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TextBox 19"/>
          <p:cNvSpPr txBox="1"/>
          <p:nvPr/>
        </p:nvSpPr>
        <p:spPr>
          <a:xfrm>
            <a:off x="8305800" y="1625600"/>
            <a:ext cx="29972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120 則情境 × 口味回饋庫</a:t>
            </a:r>
          </a:p>
        </p:txBody>
      </p:sp>
      <p:sp xmlns:a="http://schemas.openxmlformats.org/drawingml/2006/main">
        <p:nvSpPr>
          <p:cNvPr id="21" name="TextBox 20"/>
          <p:cNvSpPr txBox="1"/>
          <p:nvPr/>
        </p:nvSpPr>
        <p:spPr>
          <a:xfrm>
            <a:off x="8255000" y="2032000"/>
            <a:ext cx="3098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2E7154"/>
                </a:solidFill>
                <a:latin typeface="Heiti TC"/>
                <a:ea typeface="Heiti TC"/>
                <a:cs typeface="Heiti TC"/>
              </a:rPr>
              <a:t>連結「剩食克數」與「真實感受」</a:t>
            </a:r>
          </a:p>
        </p:txBody>
      </p:sp>
      <p:sp xmlns:a="http://schemas.openxmlformats.org/drawingml/2006/main">
        <p:nvSpPr>
          <p:cNvPr id="22" name="TextBox 21"/>
          <p:cNvSpPr txBox="1"/>
          <p:nvPr/>
        </p:nvSpPr>
        <p:spPr>
          <a:xfrm>
            <a:off x="8255000" y="2362200"/>
            <a:ext cx="30988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76D62"/>
                </a:solidFill>
                <a:latin typeface="Heiti TC"/>
                <a:ea typeface="Heiti TC"/>
                <a:cs typeface="Heiti TC"/>
              </a:rPr>
              <a:t>結合免登入午餐問卷與配餐策略紀錄，找出「為什麼吃不完」與「怎麼配最好吃」。</a:t>
            </a:r>
          </a:p>
        </p:txBody>
      </p:sp>
      <p:sp xmlns:a="http://schemas.openxmlformats.org/drawingml/2006/main">
        <p:nvSpPr>
          <p:cNvPr id="23" name="Rounded Rectangle 22"/>
          <p:cNvSpPr/>
          <p:nvPr/>
        </p:nvSpPr>
        <p:spPr>
          <a:xfrm>
            <a:off x="660400" y="3302000"/>
            <a:ext cx="10871200" cy="431800"/>
          </a:xfrm>
          <a:prstGeom prst="roundRect">
            <a:avLst>
              <a:gd name="adj" fmla="val 6000"/>
            </a:avLst>
          </a:prstGeom>
          <a:solidFill>
            <a:srgbClr val="173E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TextBox 23"/>
          <p:cNvSpPr txBox="1"/>
          <p:nvPr/>
        </p:nvSpPr>
        <p:spPr>
          <a:xfrm>
            <a:off x="914400" y="3302000"/>
            <a:ext cx="27940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大數據參照對象</a:t>
            </a:r>
          </a:p>
        </p:txBody>
      </p:sp>
      <p:sp xmlns:a="http://schemas.openxmlformats.org/drawingml/2006/main">
        <p:nvSpPr>
          <p:cNvPr id="25" name="TextBox 24"/>
          <p:cNvSpPr txBox="1"/>
          <p:nvPr/>
        </p:nvSpPr>
        <p:spPr>
          <a:xfrm>
            <a:off x="3835400" y="3302000"/>
            <a:ext cx="39370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長期累積的數據指標</a:t>
            </a:r>
          </a:p>
        </p:txBody>
      </p:sp>
      <p:sp xmlns:a="http://schemas.openxmlformats.org/drawingml/2006/main">
        <p:nvSpPr>
          <p:cNvPr id="26" name="TextBox 25"/>
          <p:cNvSpPr txBox="1"/>
          <p:nvPr/>
        </p:nvSpPr>
        <p:spPr>
          <a:xfrm>
            <a:off x="7899400" y="3302000"/>
            <a:ext cx="34290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具體決策與預防剩食價值</a:t>
            </a:r>
          </a:p>
        </p:txBody>
      </p:sp>
      <p:sp xmlns:a="http://schemas.openxmlformats.org/drawingml/2006/main">
        <p:nvSpPr>
          <p:cNvPr id="27" name="Rounded Rectangle 26"/>
          <p:cNvSpPr/>
          <p:nvPr/>
        </p:nvSpPr>
        <p:spPr>
          <a:xfrm>
            <a:off x="660400" y="3784600"/>
            <a:ext cx="10871200" cy="53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TextBox 27"/>
          <p:cNvSpPr txBox="1"/>
          <p:nvPr/>
        </p:nvSpPr>
        <p:spPr>
          <a:xfrm>
            <a:off x="914400" y="3784600"/>
            <a:ext cx="2794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學生個人配餐</a:t>
            </a:r>
          </a:p>
        </p:txBody>
      </p:sp>
      <p:sp xmlns:a="http://schemas.openxmlformats.org/drawingml/2006/main">
        <p:nvSpPr>
          <p:cNvPr id="29" name="TextBox 28"/>
          <p:cNvSpPr txBox="1"/>
          <p:nvPr/>
        </p:nvSpPr>
        <p:spPr>
          <a:xfrm>
            <a:off x="3835400" y="3784600"/>
            <a:ext cx="3937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個人食量曲線、菜色喜好度、飽足回饋</a:t>
            </a:r>
          </a:p>
        </p:txBody>
      </p:sp>
      <p:sp xmlns:a="http://schemas.openxmlformats.org/drawingml/2006/main">
        <p:nvSpPr>
          <p:cNvPr id="30" name="TextBox 29"/>
          <p:cNvSpPr txBox="1"/>
          <p:nvPr/>
        </p:nvSpPr>
        <p:spPr>
          <a:xfrm>
            <a:off x="7899400" y="3784600"/>
            <a:ext cx="35052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2E7154"/>
                </a:solidFill>
                <a:latin typeface="Heiti TC"/>
                <a:ea typeface="Heiti TC"/>
                <a:cs typeface="Heiti TC"/>
              </a:rPr>
              <a:t>自動推薦每餐盛飯比例與吃菜策略，吃得飽又不剩食</a:t>
            </a:r>
          </a:p>
        </p:txBody>
      </p:sp>
      <p:sp xmlns:a="http://schemas.openxmlformats.org/drawingml/2006/main">
        <p:nvSpPr>
          <p:cNvPr id="31" name="Rounded Rectangle 30"/>
          <p:cNvSpPr/>
          <p:nvPr/>
        </p:nvSpPr>
        <p:spPr>
          <a:xfrm>
            <a:off x="660400" y="4368800"/>
            <a:ext cx="10871200" cy="533400"/>
          </a:xfrm>
          <a:prstGeom prst="roundRect">
            <a:avLst>
              <a:gd name="adj" fmla="val 5000"/>
            </a:avLst>
          </a:prstGeom>
          <a:solidFill>
            <a:srgbClr val="E6F4EB"/>
          </a:solidFill>
          <a:ln w="12700">
            <a:solidFill>
              <a:srgbClr val="DCE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2" name="TextBox 31"/>
          <p:cNvSpPr txBox="1"/>
          <p:nvPr/>
        </p:nvSpPr>
        <p:spPr>
          <a:xfrm>
            <a:off x="914400" y="4368800"/>
            <a:ext cx="2794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班級惜食共學</a:t>
            </a:r>
          </a:p>
        </p:txBody>
      </p:sp>
      <p:sp xmlns:a="http://schemas.openxmlformats.org/drawingml/2006/main">
        <p:nvSpPr>
          <p:cNvPr id="33" name="TextBox 32"/>
          <p:cNvSpPr txBox="1"/>
          <p:nvPr/>
        </p:nvSpPr>
        <p:spPr>
          <a:xfrm>
            <a:off x="3835400" y="4368800"/>
            <a:ext cx="3937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各班每日各道菜平均剩食量與熱門排行</a:t>
            </a:r>
          </a:p>
        </p:txBody>
      </p:sp>
      <p:sp xmlns:a="http://schemas.openxmlformats.org/drawingml/2006/main">
        <p:nvSpPr>
          <p:cNvPr id="34" name="TextBox 33"/>
          <p:cNvSpPr txBox="1"/>
          <p:nvPr/>
        </p:nvSpPr>
        <p:spPr>
          <a:xfrm>
            <a:off x="7899400" y="4368800"/>
            <a:ext cx="35052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2E7154"/>
                </a:solidFill>
                <a:latin typeface="Heiti TC"/>
                <a:ea typeface="Heiti TC"/>
                <a:cs typeface="Heiti TC"/>
              </a:rPr>
              <a:t>打菜前預知高剩食風險菜色，全班一起調整配餐習慣</a:t>
            </a:r>
          </a:p>
        </p:txBody>
      </p:sp>
      <p:sp xmlns:a="http://schemas.openxmlformats.org/drawingml/2006/main">
        <p:nvSpPr>
          <p:cNvPr id="35" name="Rounded Rectangle 34"/>
          <p:cNvSpPr/>
          <p:nvPr/>
        </p:nvSpPr>
        <p:spPr>
          <a:xfrm>
            <a:off x="660400" y="4953000"/>
            <a:ext cx="10871200" cy="53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TextBox 35"/>
          <p:cNvSpPr txBox="1"/>
          <p:nvPr/>
        </p:nvSpPr>
        <p:spPr>
          <a:xfrm>
            <a:off x="914400" y="4953000"/>
            <a:ext cx="2794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學校營養師與團膳</a:t>
            </a:r>
          </a:p>
        </p:txBody>
      </p:sp>
      <p:sp xmlns:a="http://schemas.openxmlformats.org/drawingml/2006/main">
        <p:nvSpPr>
          <p:cNvPr id="37" name="TextBox 36"/>
          <p:cNvSpPr txBox="1"/>
          <p:nvPr/>
        </p:nvSpPr>
        <p:spPr>
          <a:xfrm>
            <a:off x="3835400" y="4953000"/>
            <a:ext cx="3937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全校進貨 KG × 跨學期菜色喜好大數據</a:t>
            </a:r>
          </a:p>
        </p:txBody>
      </p:sp>
      <p:sp xmlns:a="http://schemas.openxmlformats.org/drawingml/2006/main">
        <p:nvSpPr>
          <p:cNvPr id="38" name="TextBox 37"/>
          <p:cNvSpPr txBox="1"/>
          <p:nvPr/>
        </p:nvSpPr>
        <p:spPr>
          <a:xfrm>
            <a:off x="7899400" y="4953000"/>
            <a:ext cx="35052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2E7154"/>
                </a:solidFill>
                <a:latin typeface="Heiti TC"/>
                <a:ea typeface="Heiti TC"/>
                <a:cs typeface="Heiti TC"/>
              </a:rPr>
              <a:t>作為下學期開菜單、調整烹調口味與精準備餐的參照庫</a:t>
            </a:r>
          </a:p>
        </p:txBody>
      </p:sp>
    </p:spTree>
    <p:extLst>
      <p:ext uri="{BB962C8B-B14F-4D97-AF65-F5344CB8AC3E}">
        <p14:creationId xmlns:p14="http://schemas.microsoft.com/office/powerpoint/2010/main" val="10669733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heading">
            <a:extLst xmlns:a="http://schemas.openxmlformats.org/drawingml/2006/main">
              <a:ext uri="{FF2B5EF4-FFF2-40B4-BE49-F238E27FC236}">
                <a16:creationId xmlns:a16="http://schemas.microsoft.com/office/drawing/2014/main" id="{D33D4507-DAAE-4AC8-BB90-220021FE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換你來做實驗</a:t>
            </a:r>
          </a:p>
        </p:txBody>
      </p:sp>
      <p:sp>
        <p:nvSpPr>
          <p:cNvPr id="2" name="食光偵探  食光追查隊">
            <a:extLst xmlns:a="http://schemas.openxmlformats.org/drawingml/2006/main">
              <a:ext uri="{FF2B5EF4-FFF2-40B4-BE49-F238E27FC236}">
                <a16:creationId xmlns:a16="http://schemas.microsoft.com/office/drawing/2014/main" id="{95A54289-4ED8-4F37-AA0B-3F6CCA1F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576D62"/>
                </a:solidFill>
                <a:latin typeface="Heiti TC"/>
                <a:ea typeface="Heiti TC"/>
                <a:cs typeface="Heiti TC"/>
              </a:rPr>
              <a:t>食光偵探  食光追查隊</a:t>
            </a:r>
          </a:p>
        </p:txBody>
      </p:sp>
      <p:sp>
        <p:nvSpPr>
          <p:cNvPr id="3" name="10 / 10">
            <a:extLst xmlns:a="http://schemas.openxmlformats.org/drawingml/2006/main">
              <a:ext uri="{FF2B5EF4-FFF2-40B4-BE49-F238E27FC236}">
                <a16:creationId xmlns:a16="http://schemas.microsoft.com/office/drawing/2014/main" id="{FCE2C4A3-FFE0-499F-9B8E-6A1B50FF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576D62"/>
                </a:solidFill>
                <a:latin typeface="Heiti TC"/>
                <a:ea typeface="Heiti TC"/>
                <a:cs typeface="Heiti TC"/>
              </a:rPr>
              <a:t>11 / 11</a:t>
            </a:r>
          </a:p>
        </p:txBody>
      </p:sp>
      <p:sp>
        <p:nvSpPr>
          <p:cNvPr id="4" name="打開食光偵探">
            <a:extLst xmlns:a="http://schemas.openxmlformats.org/drawingml/2006/main">
              <a:ext uri="{FF2B5EF4-FFF2-40B4-BE49-F238E27FC236}">
                <a16:creationId xmlns:a16="http://schemas.microsoft.com/office/drawing/2014/main" id="{886124A8-5ABD-4EA6-8C0E-4C5DAE20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812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2E7154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4500" b="1">
                <a:solidFill>
                  <a:srgbClr val="2E7154"/>
                </a:solidFill>
                <a:latin typeface="Heiti TC"/>
                <a:ea typeface="Heiti TC"/>
                <a:cs typeface="Heiti TC"/>
              </a:defRPr>
            </a:pPr>
            <a:r>
              <a:rPr sz="4500" b="1">
                <a:solidFill>
                  <a:srgbClr val="2E7154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a36a478fb42a4435"/>
              </a:rPr>
              <a:t>打開食光偵探</a:t>
            </a:r>
          </a:p>
        </p:txBody>
      </p:sp>
      <p:sp>
        <p:nvSpPr>
          <p:cNvPr id="5" name="foodlens-school.verc">
            <a:extLst xmlns:a="http://schemas.openxmlformats.org/drawingml/2006/main">
              <a:ext uri="{FF2B5EF4-FFF2-40B4-BE49-F238E27FC236}">
                <a16:creationId xmlns:a16="http://schemas.microsoft.com/office/drawing/2014/main" id="{195A087A-2FA7-4FAF-9E75-C51E3577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812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75" b="1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pPr>
            <a:r>
              <a:rPr sz="2775" b="1">
                <a:solidFill>
                  <a:srgbClr val="173E31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28fbecb343c24c04"/>
              </a:rPr>
              <a:t>點菜名，問問 AI</a:t>
            </a:r>
          </a:p>
        </p:txBody>
      </p:sp>
      <p:sp>
        <p:nvSpPr>
          <p:cNvPr id="6" name="選一個問題，試一個方法">
            <a:extLst xmlns:a="http://schemas.openxmlformats.org/drawingml/2006/main">
              <a:ext uri="{FF2B5EF4-FFF2-40B4-BE49-F238E27FC236}">
                <a16:creationId xmlns:a16="http://schemas.microsoft.com/office/drawing/2014/main" id="{DA84CEDE-9158-4256-AA60-35FAEA2B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05275"/>
            <a:ext cx="812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3E31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3E31"/>
                </a:solidFill>
                <a:latin typeface="Heiti TC"/>
                <a:ea typeface="Heiti TC"/>
                <a:cs typeface="Heiti TC"/>
              </a:rPr>
              <a:t>午餐後，拍自己的餐盤</a:t>
            </a:r>
          </a:p>
        </p:txBody>
      </p:sp>
      <p:sp>
        <p:nvSpPr>
          <p:cNvPr id="7" name="餐後留下照片與感受，下一餐再回來">
            <a:extLst xmlns:a="http://schemas.openxmlformats.org/drawingml/2006/main">
              <a:ext uri="{FF2B5EF4-FFF2-40B4-BE49-F238E27FC236}">
                <a16:creationId xmlns:a16="http://schemas.microsoft.com/office/drawing/2014/main" id="{47F1B57F-4E35-4BB1-BFF4-0D7B4A46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812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625" b="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pPr>
            <a:r>
              <a:rPr sz="2625" b="0">
                <a:solidFill>
                  <a:srgbClr val="576D62"/>
                </a:solidFill>
                <a:latin typeface="Heiti TC"/>
                <a:ea typeface="Heiti TC"/>
                <a:cs typeface="Heiti TC"/>
              </a:rPr>
              <a:t>下次午餐，再回來一起看</a:t>
            </a:r>
          </a:p>
        </p:txBody>
      </p:sp>
      <p:sp>
        <p:nvSpPr>
          <p:cNvPr id="9" name="student-sharing-page">
            <a:extLst xmlns:a="http://schemas.openxmlformats.org/drawingml/2006/main">
              <a:ext uri="{FF2B5EF4-FFF2-40B4-BE49-F238E27FC236}">
                <a16:creationId xmlns:a16="http://schemas.microsoft.com/office/drawing/2014/main" id="{B1C08F2E-0FA2-4E28-A646-EC732AA1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812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80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buNone/>
              <a:defRPr sz="1800">
                <a:solidFill>
                  <a:srgbClr val="576D62"/>
                </a:solidFill>
                <a:latin typeface="Heiti TC"/>
                <a:ea typeface="Heiti TC"/>
                <a:cs typeface="Heiti TC"/>
              </a:defRPr>
            </a:pPr>
            <a:r>
              <a:rPr sz="1800">
                <a:solidFill>
                  <a:srgbClr val="576D62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7815e7378b4b44c3"/>
              </a:rPr>
              <a:t>兩隊簡報、操作圖和問卷，都在分享頁</a:t>
            </a:r>
          </a:p>
        </p:txBody>
      </p:sp>
      <p:pic xmlns:a="http://schemas.openxmlformats.org/drawingml/2006/main" xmlns:r="http://schemas.openxmlformats.org/officeDocument/2006/relationships">
        <p:nvPicPr>
          <p:cNvPr id="10" name="Picture 9" descr="food-q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6600" y="1905000"/>
            <a:ext cx="1905000" cy="1905000"/>
          </a:xfrm>
          <a:prstGeom prst="rect">
            <a:avLst/>
          </a:prstGeom>
        </p:spPr>
      </p:pic>
      <p:sp xmlns:a="http://schemas.openxmlformats.org/drawingml/2006/main">
        <p:nvSpPr>
          <p:cNvPr id="11" name="TextBox 10"/>
          <p:cNvSpPr txBox="1"/>
          <p:nvPr/>
        </p:nvSpPr>
        <p:spPr>
          <a:xfrm>
            <a:off x="9372600" y="3937000"/>
            <a:ext cx="2159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2E7154"/>
                </a:solidFill>
                <a:latin typeface="Heiti TC"/>
                <a:ea typeface="Heiti TC"/>
                <a:cs typeface="Heiti TC"/>
              </a:rPr>
              <a:t>掃描，現在就試</a:t>
            </a:r>
          </a:p>
        </p:txBody>
      </p:sp>
    </p:spTree>
    <p:extLst>
      <p:ext uri="{BB962C8B-B14F-4D97-AF65-F5344CB8AC3E}">
        <p14:creationId xmlns:p14="http://schemas.microsoft.com/office/powerpoint/2010/main" val="14228675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2E7154"/>
      </a:hlink>
      <a:folHlink>
        <a:srgbClr val="2E7154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2026-10-13T02:37:43.0760000Z</dcterms:created>
  <dcterms:modified xsi:type="dcterms:W3CDTF">2026-10-13T02:37:43.0760000Z</dcterms:modified>
</coreProperties>
</file>