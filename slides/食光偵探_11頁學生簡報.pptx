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0bd339cd5c24b49" Type="http://schemas.openxmlformats.org/package/2006/relationships/metadata/core-properties" Target="docProps/core.xml"/><Relationship Id="Ra082d4386f4f42ec" Type="http://schemas.openxmlformats.org/officeDocument/2006/relationships/officeDocument" Target="ppt/presentation.xml"/><Relationship Id="Rc57abef74319472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c8e0d2dda0405c"/>
  </p:sldMasterIdLst>
  <p:notesMasterIdLst>
    <p:notesMasterId xmlns:r="http://schemas.openxmlformats.org/officeDocument/2006/relationships" r:id="R449ec65bf5854741"/>
  </p:notesMasterIdLst>
  <p:sldIdLst>
    <p:sldId xmlns:r="http://schemas.openxmlformats.org/officeDocument/2006/relationships" id="256" r:id="R5b55a701e60544c2"/>
    <p:sldId xmlns:r="http://schemas.openxmlformats.org/officeDocument/2006/relationships" id="257" r:id="R902e4b94434e4e96"/>
    <p:sldId xmlns:r="http://schemas.openxmlformats.org/officeDocument/2006/relationships" id="258" r:id="R6124bb3c12334ad0"/>
    <p:sldId xmlns:r="http://schemas.openxmlformats.org/officeDocument/2006/relationships" id="259" r:id="Rf8113b863dc544bd"/>
    <p:sldId xmlns:r="http://schemas.openxmlformats.org/officeDocument/2006/relationships" id="260" r:id="Rf29d3daf4a5c4291"/>
    <p:sldId xmlns:r="http://schemas.openxmlformats.org/officeDocument/2006/relationships" id="262" r:id="R94c11cd983c64e92"/>
    <p:sldId xmlns:r="http://schemas.openxmlformats.org/officeDocument/2006/relationships" id="263" r:id="R644e40dbc742474c"/>
    <p:sldId xmlns:r="http://schemas.openxmlformats.org/officeDocument/2006/relationships" id="261" r:id="R6dd35eeaccb047a3"/>
    <p:sldId xmlns:r="http://schemas.openxmlformats.org/officeDocument/2006/relationships" id="266" r:id="rId1"/>
    <p:sldId xmlns:r="http://schemas.openxmlformats.org/officeDocument/2006/relationships" id="264" r:id="R14744d8b7a4b42c0"/>
    <p:sldId xmlns:r="http://schemas.openxmlformats.org/officeDocument/2006/relationships" id="265" r:id="R6d98f9344d754a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eeaac1932dc4b5e" Type="http://schemas.openxmlformats.org/officeDocument/2006/relationships/tableStyles" Target="tableStyles.xml"/><Relationship Id="R1325b6185b3344f9" Type="http://schemas.openxmlformats.org/officeDocument/2006/relationships/presProps" Target="presProps.xml"/><Relationship Id="R14744d8b7a4b42c0" Type="http://schemas.openxmlformats.org/officeDocument/2006/relationships/slide" Target="slides/slide10.xml"/><Relationship Id="R449ec65bf5854741" Type="http://schemas.openxmlformats.org/officeDocument/2006/relationships/notesMaster" Target="notesMasters/notesMaster1.xml"/><Relationship Id="R5b55a701e60544c2" Type="http://schemas.openxmlformats.org/officeDocument/2006/relationships/slide" Target="slides/slide1.xml"/><Relationship Id="R6124bb3c12334ad0" Type="http://schemas.openxmlformats.org/officeDocument/2006/relationships/slide" Target="slides/slide3.xml"/><Relationship Id="R644e40dbc742474c" Type="http://schemas.openxmlformats.org/officeDocument/2006/relationships/slide" Target="slides/slide7.xml"/><Relationship Id="R6d98f9344d754af1" Type="http://schemas.openxmlformats.org/officeDocument/2006/relationships/slide" Target="slides/slide11.xml"/><Relationship Id="R6dd35eeaccb047a3" Type="http://schemas.openxmlformats.org/officeDocument/2006/relationships/slide" Target="slides/slide8.xml"/><Relationship Id="R6ec8e0d2dda0405c" Type="http://schemas.openxmlformats.org/officeDocument/2006/relationships/slideMaster" Target="slideMasters/slideMaster1.xml"/><Relationship Id="R902e4b94434e4e96" Type="http://schemas.openxmlformats.org/officeDocument/2006/relationships/slide" Target="slides/slide2.xml"/><Relationship Id="R94c11cd983c64e92" Type="http://schemas.openxmlformats.org/officeDocument/2006/relationships/slide" Target="slides/slide6.xml"/><Relationship Id="Rf0a6321199884222" Type="http://schemas.openxmlformats.org/officeDocument/2006/relationships/theme" Target="theme/theme1.xml"/><Relationship Id="Rf29d3daf4a5c4291" Type="http://schemas.openxmlformats.org/officeDocument/2006/relationships/slide" Target="slides/slide5.xml"/><Relationship Id="Rf8113b863dc544bd" Type="http://schemas.openxmlformats.org/officeDocument/2006/relationships/slide" Target="slides/slide4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dfcbb470185c4b7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0a1a61c770047db" Type="http://schemas.openxmlformats.org/officeDocument/2006/relationships/slide" Target="../slides/slide1.xml"/><Relationship Id="Re4a52ce3455049d3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8d60666ada14e95" Type="http://schemas.openxmlformats.org/officeDocument/2006/relationships/slide" Target="../slides/slide2.xml"/><Relationship Id="Rae4d7b471c8e4b6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523f6fcfa7746ec" Type="http://schemas.openxmlformats.org/officeDocument/2006/relationships/slide" Target="../slides/slide3.xml"/><Relationship Id="Re5a4c5d93d4d46c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2db7e686e964062" Type="http://schemas.openxmlformats.org/officeDocument/2006/relationships/notesMaster" Target="../notesMasters/notesMaster1.xml"/><Relationship Id="Ra791c3b1675746f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b692c451ceb4e5d" Type="http://schemas.openxmlformats.org/officeDocument/2006/relationships/slide" Target="../slides/slide5.xml"/><Relationship Id="Rf683b1ae4fe548e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ce4b6a2701544d66" Type="http://schemas.openxmlformats.org/officeDocument/2006/relationships/notesMaster" Target="../notesMasters/notesMaster1.xml"/><Relationship Id="Rd647a929b0684099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18a7dacdf6184612" Type="http://schemas.openxmlformats.org/officeDocument/2006/relationships/slide" Target="../slides/slide6.xml"/><Relationship Id="R556a53f009274ea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fe47a64a4334425" Type="http://schemas.openxmlformats.org/officeDocument/2006/relationships/slide" Target="../slides/slide7.xml"/><Relationship Id="Ra4bf196f03ef4fa5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d3407a514e9a444b" Type="http://schemas.openxmlformats.org/officeDocument/2006/relationships/notesMaster" Target="../notesMasters/notesMaster1.xml"/><Relationship Id="Rf45868872ee2480a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006d9d3d9313405e" Type="http://schemas.openxmlformats.org/officeDocument/2006/relationships/slide" Target="../slides/slide11.xml"/><Relationship Id="Rd4d5837826f64426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大家好，我們是食光追查隊。我們想讓午餐剛剛好，吃得夠，也少一點浪費。食光偵探陪我們找一個下一餐能試的方法。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封面：AI繪圖</a:t>
            </a:r>
          </a:p>
          <a:p xmlns:a="http://schemas.openxmlformats.org/drawingml/2006/main">
            <a:r>
              <a:t>泰北國際雙語學校-國小部，隊名與食光學生名單由家長確認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有時吃不完，有時還沒吃夠。我們先問自己的感受，再想辦法。照片看得到食物，卻不知道我為什麼留下它。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https://foodlens-school.vercel.app/</a:t>
            </a:r>
          </a:p>
          <a:p xmlns:a="http://schemas.openxmlformats.org/drawingml/2006/main">
            <a:r>
              <a:t>餐盤照片：家長提供的原照。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份量適合我嗎？時間夠嗎？還餓能不能再添？我們畫下問題，每次先挑一個。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https://foodlens-school.vercel.app/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這是學校給我們的九月和十月菜單。我看到十月十六日有香酥魚排和鐵板豬柳，先想要盛多少，再問 AI。吃飯前，也看看今天有沒有換菜。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https://foodlens-school.vercel.app/menu-sources/taibei-lunch-115-09.pdf</a:t>
            </a:r>
          </a:p>
          <a:p xmlns:a="http://schemas.openxmlformats.org/drawingml/2006/main">
            <a:r>
              <a:t>/Users/apple/Downloads/115年9月菜單-泰北國小.pdf</a:t>
            </a:r>
          </a:p>
          <a:p xmlns:a="http://schemas.openxmlformats.org/drawingml/2006/main">
            <a:r>
              <a:t>原始公告頁圖：2026-10-12 原始 PDF 頁面轉圖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使用者提供的原始官方菜單，原頁標題為115年8~9月，保留原圖全部內容。PDF SHA-256：6f8410ef43fa12c6207a58572afe7fb563a0c72ceb146c394d0b31f2e99e4853。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https://foodlens-school.vercel.app/menu-sources/taibei-lunch-115-10.pdf</a:t>
            </a:r>
          </a:p>
          <a:p xmlns:a="http://schemas.openxmlformats.org/drawingml/2006/main">
            <a:r>
              <a:t>/Users/apple/Downloads/115年10月菜單-泰北國小.pdf</a:t>
            </a:r>
          </a:p>
          <a:p xmlns:a="http://schemas.openxmlformats.org/drawingml/2006/main">
            <a:r>
              <a:t>原始公告頁圖：2026-10-12 原始 PDF 頁面轉圖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使用者提供的原始官方115年10月菜單PDF完整頁面。PDF SHA-256：01850f0ffc0b42d5ef7b0152fa972b58c89d36ef5156ddbcdb24bd16fb4703ce。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https://foodlens-school.vercel.app/menu-sources/taibei-lunch-115-10.pdf</a:t>
            </a:r>
          </a:p>
          <a:p xmlns:a="http://schemas.openxmlformats.org/drawingml/2006/main">
            <a:r>
              <a:t>/Users/apple/Downloads/115年10月菜單-泰北國小.pdf</a:t>
            </a:r>
          </a:p>
          <a:p xmlns:a="http://schemas.openxmlformats.org/drawingml/2006/main">
            <a:r>
              <a:t>原始公告頁圖：2026-10-12 原始 PDF 頁面轉圖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十月原始菜單10/16主菜香酥魚排與副菜一鐵板豬柳的原圖局部，保留原文字與食材說明。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我點一道菜，問 AI 可以怎麼吃。看畫面中的菜圖，挑一個想試的方法，也能追問。把回答保存，再帶去拍自己的餐盤。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http://localhost:3000/coach?menu=2026-10-16&amp;dish=1</a:t>
            </a:r>
          </a:p>
          <a:p xmlns:a="http://schemas.openxmlformats.org/drawingml/2006/main">
            <a:r>
              <a:t>App 實際畫面：2026-10-12 約 17:08 Asia/Taipei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新版介面的實際截圖。重開既有保存的真實 Gemini 回答（plan 5656eb63-e5a8-4e50-9aa2-646256d7a25c），含公告原菜單、已保存回答、帶去拍餐盤入口。模型回覆產生於前次發行，本次截圖沒有重新呼叫模型。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我們的實測清單有四步：午餐前用 AI 配一份小計畫；同一餐拍餐前和餐後；帶著一個方法拍下一餐；同一個代號，兩天都拍齊前後照。四步都做到，App 會跳出「兩餐實驗湊齊了」，我們按「上台」，就能把兩餐放在一起請大家猜。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步驟圖示：食光偵探 App「實測成果」頁的實測清單圖示（2026-10-15 截圖）。清單只算這台平板上同學自己拍、自己存的紀錄。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我先選想盛多少，再想好還餓怎麼辦。玩完的小計畫可以帶去拍餐盤。每個人的食量不同，我們希望大家吃得夠。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http://localhost:3000/game?menu=2026-10-16</a:t>
            </a:r>
          </a:p>
          <a:p xmlns:a="http://schemas.openxmlformats.org/drawingml/2006/main">
            <a:r>
              <a:t>App 實際畫面：2026-10-12 本機實際遊戲頁面截圖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實際遊戲頁面，2026-10-16公告的六道菜與三種份量選項。截圖時未點份量、未保存或覆寫既有10/12小計畫，沒有呼叫AI，沒有新份量結果或實際用餐重量。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我想試先盛少一點，還餓再添。下一餐拍新照片，說自己有沒有吃飽，再把兩餐放一起看。這是接下來能試的方法。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https://foodlens-school.vercel.app/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AI 看照片估的是大約克數，真的重量要用秤量。選人數可以看看全班、全校的假設試算。情境故事幫我想方法，自己的餐盤另外記。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https://foodlens-school.vercel.app/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換你來做實驗！掃這個 QR code，選一道今天的菜問問 AI。餐後拍一下、記感受，下一餐帶著方法再拍一次，你也能湊齊一次兩餐實驗。分享頁有兩隊簡報、操作圖和問卷。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連到 https://foodlens-school.vercel.app/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講稿</a:t>
            </a:r>
          </a:p>
          <a:p>
            <a:r>
              <a:t>請評審猜猜看！這兩盤照片，哪一盤是帶著新方法吃的？大家先投票，我們再一章一章揭曉：第一餐、我的方法、第二餐。猜錯也沒關係，猜錯正好讓我們想想，盛的量和菜色是不是也不一樣。</a:t>
            </a:r>
          </a:p>
          <a:p/>
          <a:p>
            <a:r>
              <a:t>圖片與資料出處</a:t>
            </a:r>
          </a:p>
          <a:p>
            <a:r>
              <a:t>食光偵探 App「惜食實驗」第 1 章盲猜畫面（2026-10-15 截圖），畫面是 App 內建的示範實驗；投票只留在畫面上，不會存起來。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a71a3c40e9fd422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152adba99ee42c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dd206c2a23043c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af8c2c84652455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1b17e2536cd495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d998ce805e94f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F79DA6-3591-455C-8D7E-595411C685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2B2A66-81CF-46A3-BF01-7F51E913CE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CD5C2C2-EA63-45D3-BE46-2725BF9760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4A5FAC-5373-416C-B238-20954AE06B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7EDD08-D8E8-4B56-9145-AB7480C2D3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6E1D-853E-46DF-B342-9612DF727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7FF499-2F8A-41C4-988E-B29CED5473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27E04B-9DB0-42D4-9B7A-A2DF7AD8C8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6E9196-2859-44BA-80FA-E4CE28E7F7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672E95-8F85-43BF-81DC-C636B20749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9e1217b9a64586" Type="http://schemas.openxmlformats.org/officeDocument/2006/relationships/theme" Target="theme/theme2.xml"/><Relationship Id="R36592bf577214957" Type="http://schemas.openxmlformats.org/officeDocument/2006/relationships/slideLayout" Target="../slideLayouts/slideLayout4.xml"/><Relationship Id="R581910597fd44194" Type="http://schemas.openxmlformats.org/officeDocument/2006/relationships/slideLayout" Target="../slideLayouts/slideLayout6.xml"/><Relationship Id="R5c9c507b1ff84c43" Type="http://schemas.openxmlformats.org/officeDocument/2006/relationships/slideLayout" Target="../slideLayouts/slideLayout2.xml"/><Relationship Id="R98064ee8395b42b8" Type="http://schemas.openxmlformats.org/officeDocument/2006/relationships/slideLayout" Target="../slideLayouts/slideLayout5.xml"/><Relationship Id="Raf900dde119c4e5e" Type="http://schemas.openxmlformats.org/officeDocument/2006/relationships/slideLayout" Target="../slideLayouts/slideLayout3.xml"/><Relationship Id="Rd3bc29198b6b44c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bc29198b6b44ce"/>
    <p:sldLayoutId xmlns:r="http://schemas.openxmlformats.org/officeDocument/2006/relationships" id="2147483650" r:id="R5c9c507b1ff84c43"/>
    <p:sldLayoutId xmlns:r="http://schemas.openxmlformats.org/officeDocument/2006/relationships" id="2147483651" r:id="Raf900dde119c4e5e"/>
    <p:sldLayoutId xmlns:r="http://schemas.openxmlformats.org/officeDocument/2006/relationships" id="2147483652" r:id="R36592bf577214957"/>
    <p:sldLayoutId xmlns:r="http://schemas.openxmlformats.org/officeDocument/2006/relationships" id="2147483653" r:id="R98064ee8395b42b8"/>
    <p:sldLayoutId xmlns:r="http://schemas.openxmlformats.org/officeDocument/2006/relationships" id="2147483654" r:id="R581910597fd441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5f80f4c44b34d4a" Type="http://schemas.openxmlformats.org/officeDocument/2006/relationships/notesSlide" Target="../notesSlides/notesSlide1.xml"/><Relationship Id="R69f369b98dae4bb3" Type="http://schemas.openxmlformats.org/officeDocument/2006/relationships/slideLayout" Target="../slideLayouts/slideLayout6.xml"/><Relationship Id="R71a10e21779a4b97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b36a7519f9b41a7" Type="http://schemas.openxmlformats.org/officeDocument/2006/relationships/notesSlide" Target="../notesSlides/notesSlide2.xml"/><Relationship Id="R51273acb13af4b7b" Type="http://schemas.openxmlformats.org/officeDocument/2006/relationships/image" Target="../media/image.jpeg"/><Relationship Id="Redec5149fbfb42c5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31230afe52ec4733" Type="http://schemas.openxmlformats.org/officeDocument/2006/relationships/slideLayout" Target="../slideLayouts/slideLayout6.xml"/><Relationship Id="R9ead4edf7075447e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6ac731b1bc04491b" Type="http://schemas.openxmlformats.org/officeDocument/2006/relationships/image" Target="../media/image3.png"/><Relationship Id="R85810d39844a4a9c" Type="http://schemas.openxmlformats.org/officeDocument/2006/relationships/image" Target="../media/image2.png"/><Relationship Id="Ra63ac310654d468e" Type="http://schemas.openxmlformats.org/officeDocument/2006/relationships/image" Target="../media/image4.png"/><Relationship Id="Rc5aa1465f99a4bee" Type="http://schemas.openxmlformats.org/officeDocument/2006/relationships/slideLayout" Target="../slideLayouts/slideLayout6.xml"/><Relationship Id="Rff4325357cbc4aa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aa145d6f819641a6" Type="http://schemas.openxmlformats.org/officeDocument/2006/relationships/notesSlide" Target="../notesSlides/notesSlide5.xml"/><Relationship Id="Rc0491984917b468a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e64d935a824f47f8" Type="http://schemas.openxmlformats.org/officeDocument/2006/relationships/image" Target="../media/image3.jpeg"/><Relationship Id="Rfa36faabc1594fb5" Type="http://schemas.openxmlformats.org/officeDocument/2006/relationships/notesSlide" Target="../notesSlides/notesSlide7.xml"/><Relationship Id="Rfce3ccac8d014f77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7f6d0a89bb214164" Type="http://schemas.openxmlformats.org/officeDocument/2006/relationships/slideLayout" Target="../slideLayouts/slideLayout6.xml"/><Relationship Id="Rfda5cbaf9a5f4dd1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3b82bf10eddb4fc3" Type="http://schemas.openxmlformats.org/officeDocument/2006/relationships/notesSlide" Target="../notesSlides/notesSlide6.xml"/><Relationship Id="R88303fc2f371447e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c0491984917b468a" Type="http://schemas.openxmlformats.org/officeDocument/2006/relationships/image" Target="../media/image2.jpe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30d64914766c4e22" Type="http://schemas.openxmlformats.org/officeDocument/2006/relationships/notesSlide" Target="../notesSlides/notesSlide9.xml"/><Relationship Id="R3fbe0fc1dfa9420e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8fbecb343c24c04" Type="http://schemas.openxmlformats.org/officeDocument/2006/relationships/hyperlink" Target="https://foodlens-school.vercel.app/" TargetMode="External"/><Relationship Id="R37b78fff208b4799" Type="http://schemas.openxmlformats.org/officeDocument/2006/relationships/notesSlide" Target="../notesSlides/notesSlide10.xml"/><Relationship Id="R7815e7378b4b44c3" Type="http://schemas.openxmlformats.org/officeDocument/2006/relationships/hyperlink" Target="https://foodlens-school.vercel.app/students" TargetMode="External"/><Relationship Id="Ra36a478fb42a4435" Type="http://schemas.openxmlformats.org/officeDocument/2006/relationships/hyperlink" Target="https://foodlens-school.vercel.app/" TargetMode="External"/><Relationship Id="Rd622c82c050b4854" Type="http://schemas.openxmlformats.org/officeDocument/2006/relationships/slideLayout" Target="../slideLayouts/slideLayout6.xml"/><Relationship Id="rId6" Type="http://schemas.openxmlformats.org/officeDocument/2006/relationships/image" Target="../media/image12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FCEA-599F-4D84-9513-1E512AB344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10e21779a4b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食光偵探">
            <a:extLst xmlns:a="http://schemas.openxmlformats.org/drawingml/2006/main">
              <a:ext uri="{FF2B5EF4-FFF2-40B4-BE49-F238E27FC236}">
                <a16:creationId xmlns:a16="http://schemas.microsoft.com/office/drawing/2014/main" id="{59A99A74-5BB4-46E4-A440-4AB8BAF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食光偵探</a:t>
            </a:r>
          </a:p>
        </p:txBody>
      </p:sp>
      <p:sp>
        <p:nvSpPr>
          <p:cNvPr id="3" name="讓午餐剛剛好">
            <a:extLst xmlns:a="http://schemas.openxmlformats.org/drawingml/2006/main">
              <a:ext uri="{FF2B5EF4-FFF2-40B4-BE49-F238E27FC236}">
                <a16:creationId xmlns:a16="http://schemas.microsoft.com/office/drawing/2014/main" id="{EEF5F020-CE6C-4409-8BF7-7C7FDB3A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讓午餐剛剛好</a:t>
            </a:r>
          </a:p>
        </p:txBody>
      </p:sp>
      <p:sp>
        <p:nvSpPr>
          <p:cNvPr id="4" name="食光追查隊">
            <a:extLst xmlns:a="http://schemas.openxmlformats.org/drawingml/2006/main">
              <a:ext uri="{FF2B5EF4-FFF2-40B4-BE49-F238E27FC236}">
                <a16:creationId xmlns:a16="http://schemas.microsoft.com/office/drawing/2014/main" id="{C5CB0650-E492-4487-8E3F-11CEE9AA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食光追查隊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C1BDC7-B63A-4D59-B5DD-51420391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6247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501 黃苙璇、陳品妤、宋佩瑈&#10;502 ">
            <a:extLst xmlns:a="http://schemas.openxmlformats.org/drawingml/2006/main">
              <a:ext uri="{FF2B5EF4-FFF2-40B4-BE49-F238E27FC236}">
                <a16:creationId xmlns:a16="http://schemas.microsoft.com/office/drawing/2014/main" id="{AF3BE086-0AEF-4F43-B0AC-C08173D5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501 黃苙璇、陳品妤、宋佩瑈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502 陳巧恩</a:t>
            </a:r>
          </a:p>
        </p:txBody>
      </p:sp>
      <p:sp>
        <p:nvSpPr>
          <p:cNvPr id="7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56E10267-DBAA-4AB8-A44A-BF859436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51432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980043FE-EB20-4A96-9555-5CF8E69D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午餐的兩種困擾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BDE47929-7AE2-4BAD-8D79-2FE205A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FA01EB9F-8092-4DEA-A6F5-3E7798AE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B58A2-5CDA-4ED4-B734-99626344E1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73acb13af4b7b"/>
          <a:srcRect xmlns:a="http://schemas.openxmlformats.org/drawingml/2006/main" l="0" t="21901" r="0" b="219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9750"/>
            <a:ext cx="5505450" cy="4124325"/>
          </a:xfrm>
          <a:prstGeom xmlns:a="http://schemas.openxmlformats.org/drawingml/2006/main" prst="rect">
            <a:avLst/>
          </a:prstGeom>
        </p:spPr>
      </p:pic>
      <p:sp>
        <p:nvSpPr>
          <p:cNvPr id="5" name="吃不完？&#10;還沒吃夠？">
            <a:extLst xmlns:a="http://schemas.openxmlformats.org/drawingml/2006/main">
              <a:ext uri="{FF2B5EF4-FFF2-40B4-BE49-F238E27FC236}">
                <a16:creationId xmlns:a16="http://schemas.microsoft.com/office/drawing/2014/main" id="{99B1CF5E-0003-4B49-9FC2-D98F0C82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71675"/>
            <a:ext cx="4762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97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97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吃不完？</a:t>
            </a:r>
          </a:p>
          <a:p xmlns:a="http://schemas.openxmlformats.org/drawingml/2006/main">
            <a:pPr algn="l">
              <a:buNone/>
              <a:defRPr sz="397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97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還沒吃夠？</a:t>
            </a:r>
          </a:p>
        </p:txBody>
      </p:sp>
      <p:sp>
        <p:nvSpPr>
          <p:cNvPr id="6" name="先問自己的感受，&#10;再找一個能試的方法">
            <a:extLst xmlns:a="http://schemas.openxmlformats.org/drawingml/2006/main">
              <a:ext uri="{FF2B5EF4-FFF2-40B4-BE49-F238E27FC236}">
                <a16:creationId xmlns:a16="http://schemas.microsoft.com/office/drawing/2014/main" id="{9A1AC0B1-1F10-45E3-ADB3-901EC3A3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962400"/>
            <a:ext cx="45434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先問自己的感受，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再找一個能試的方法</a:t>
            </a:r>
          </a:p>
        </p:txBody>
      </p:sp>
      <p:sp>
        <p:nvSpPr>
          <p:cNvPr id="7" name="照片能看食物，原因要自己說">
            <a:extLst xmlns:a="http://schemas.openxmlformats.org/drawingml/2006/main">
              <a:ext uri="{FF2B5EF4-FFF2-40B4-BE49-F238E27FC236}">
                <a16:creationId xmlns:a16="http://schemas.microsoft.com/office/drawing/2014/main" id="{1FCAD851-CE51-48A8-89D8-BCB33368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5457825"/>
            <a:ext cx="461962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照片能看食物，原因要自己說</a:t>
            </a:r>
          </a:p>
        </p:txBody>
      </p:sp>
    </p:spTree>
    <p:extLst>
      <p:ext uri="{BB962C8B-B14F-4D97-AF65-F5344CB8AC3E}">
        <p14:creationId xmlns:p14="http://schemas.microsoft.com/office/powerpoint/2010/main" val="1413417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5EDBF-BFC2-4FE4-BD4C-9EDA3DDC149B}"/>
              </a:ext>
            </a:extLst>
          </p:cNvPr>
          <p:cNvCxnSpPr/>
          <p:nvPr/>
        </p:nvCxnSpPr>
        <p:spPr>
          <a:xfrm xmlns:a="http://schemas.openxmlformats.org/drawingml/2006/main">
            <a:off x="8048625" y="3257550"/>
            <a:ext cx="504825" cy="1343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E1ECF5-4965-4716-A9BD-E71B2C2D856D}"/>
              </a:ext>
            </a:extLst>
          </p:cNvPr>
          <p:cNvCxnSpPr/>
          <p:nvPr/>
        </p:nvCxnSpPr>
        <p:spPr>
          <a:xfrm xmlns:a="http://schemas.openxmlformats.org/drawingml/2006/main" flipV="1">
            <a:off x="8048625" y="2466975"/>
            <a:ext cx="504825" cy="790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EE2F9-63B3-4BCD-B63B-41BB5A6EE05F}"/>
              </a:ext>
            </a:extLst>
          </p:cNvPr>
          <p:cNvCxnSpPr/>
          <p:nvPr/>
        </p:nvCxnSpPr>
        <p:spPr>
          <a:xfrm xmlns:a="http://schemas.openxmlformats.org/drawingml/2006/main" flipH="1">
            <a:off x="3743325" y="3257550"/>
            <a:ext cx="400050" cy="1343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EFAEE-36E9-44F3-855B-4E8E2906DFF8}"/>
              </a:ext>
            </a:extLst>
          </p:cNvPr>
          <p:cNvCxnSpPr/>
          <p:nvPr/>
        </p:nvCxnSpPr>
        <p:spPr>
          <a:xfrm xmlns:a="http://schemas.openxmlformats.org/drawingml/2006/main" flipH="1" flipV="1">
            <a:off x="3743325" y="2466975"/>
            <a:ext cx="400050" cy="790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</a:ln>
        </p:spPr>
      </p:cxnSp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FC32E0CC-80B9-482B-956A-C737694B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午餐，我想問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6DCEDD0-96DC-4A98-A8C6-F49AB7E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7365EB69-229A-4C65-8232-3248454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>
        <p:nvSpPr>
          <p:cNvPr id="4" name="mindmap-center">
            <a:extLst xmlns:a="http://schemas.openxmlformats.org/drawingml/2006/main">
              <a:ext uri="{FF2B5EF4-FFF2-40B4-BE49-F238E27FC236}">
                <a16:creationId xmlns:a16="http://schemas.microsoft.com/office/drawing/2014/main" id="{F73C1BDE-A2CC-4053-93DE-F47A8C32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638425"/>
            <a:ext cx="3905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2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32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午餐怎麼</a:t>
            </a:r>
          </a:p>
          <a:p xmlns:a="http://schemas.openxmlformats.org/drawingml/2006/main">
            <a:pPr algn="ctr">
              <a:buNone/>
              <a:defRPr sz="32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剛剛好？</a:t>
            </a:r>
          </a:p>
        </p:txBody>
      </p:sp>
      <p:sp>
        <p:nvSpPr>
          <p:cNvPr id="5" name="mindmap-branch-0">
            <a:extLst xmlns:a="http://schemas.openxmlformats.org/drawingml/2006/main">
              <a:ext uri="{FF2B5EF4-FFF2-40B4-BE49-F238E27FC236}">
                <a16:creationId xmlns:a16="http://schemas.microsoft.com/office/drawing/2014/main" id="{5AFB495A-DB9A-4A33-9183-D402451F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份量適合我嗎？</a:t>
            </a:r>
          </a:p>
        </p:txBody>
      </p:sp>
      <p:sp>
        <p:nvSpPr>
          <p:cNvPr id="7" name="mindmap-branch-1">
            <a:extLst xmlns:a="http://schemas.openxmlformats.org/drawingml/2006/main">
              <a:ext uri="{FF2B5EF4-FFF2-40B4-BE49-F238E27FC236}">
                <a16:creationId xmlns:a16="http://schemas.microsoft.com/office/drawing/2014/main" id="{AD6A14A5-52D7-4861-A1DE-EB2D3C72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吃飯時間夠嗎？</a:t>
            </a:r>
          </a:p>
        </p:txBody>
      </p:sp>
      <p:sp>
        <p:nvSpPr>
          <p:cNvPr id="9" name="mindmap-branch-2">
            <a:extLst xmlns:a="http://schemas.openxmlformats.org/drawingml/2006/main">
              <a:ext uri="{FF2B5EF4-FFF2-40B4-BE49-F238E27FC236}">
                <a16:creationId xmlns:a16="http://schemas.microsoft.com/office/drawing/2014/main" id="{CC0A110C-CA5D-4E22-B388-16F5D971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764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還餓可以再添嗎？</a:t>
            </a:r>
          </a:p>
        </p:txBody>
      </p:sp>
      <p:sp>
        <p:nvSpPr>
          <p:cNvPr id="11" name="mindmap-branch-3">
            <a:extLst xmlns:a="http://schemas.openxmlformats.org/drawingml/2006/main">
              <a:ext uri="{FF2B5EF4-FFF2-40B4-BE49-F238E27FC236}">
                <a16:creationId xmlns:a16="http://schemas.microsoft.com/office/drawing/2014/main" id="{1C4DE315-B4DD-4895-AE4C-0C82D240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100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下一餐想試什麼？</a:t>
            </a:r>
          </a:p>
        </p:txBody>
      </p:sp>
      <p:sp>
        <p:nvSpPr>
          <p:cNvPr id="13" name="依既有手寫方向整理，每次先挑一個小問題">
            <a:extLst xmlns:a="http://schemas.openxmlformats.org/drawingml/2006/main">
              <a:ext uri="{FF2B5EF4-FFF2-40B4-BE49-F238E27FC236}">
                <a16:creationId xmlns:a16="http://schemas.microsoft.com/office/drawing/2014/main" id="{65AEF735-A6EC-4CD0-98F1-CF0CF38B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769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每次先挑一個問題</a:t>
            </a:r>
          </a:p>
        </p:txBody>
      </p:sp>
    </p:spTree>
    <p:extLst>
      <p:ext uri="{BB962C8B-B14F-4D97-AF65-F5344CB8AC3E}">
        <p14:creationId xmlns:p14="http://schemas.microsoft.com/office/powerpoint/2010/main" val="1454980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C62A438-599B-4630-ABDE-800099CA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學校的 9、10 月菜單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332B27C3-520B-48C6-9238-EBB7DD03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3C177019-AB70-4D30-9136-672D668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B14D3-0D5F-4FD0-B03F-D52F2FD8D1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10d39844a4a9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1053" y="1562100"/>
            <a:ext cx="3140345" cy="443865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BD2E8F-A97E-4C3E-9FF2-D19B2D8075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731b1bc04491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78153" y="1562100"/>
            <a:ext cx="3140345" cy="44386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E30BE-BBB6-4275-83B8-F2565C61A0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ac310654d468e"/>
          <a:srcRect xmlns:a="http://schemas.openxmlformats.org/drawingml/2006/main" l="21400" t="51550" r="44100" b="44500"/>
          <a:stretch xmlns:a="http://schemas.openxmlformats.org/drawingml/2006/main"/>
        </p:blipFill>
        <p:spPr>
          <a:xfrm xmlns:a="http://schemas.openxmlformats.org/drawingml/2006/main">
            <a:off x="7686675" y="2712053"/>
            <a:ext cx="3857625" cy="624269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9813E-A05D-4312-9907-B837ADC9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790700"/>
            <a:ext cx="3857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10/16 公告菜單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B39B7-FB62-469C-97D0-4E828125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133850"/>
            <a:ext cx="3857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先看今天吃什麼，</a:t>
            </a:r>
          </a:p>
          <a:p xmlns:a="http://schemas.openxmlformats.org/drawingml/2006/main">
            <a:pPr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再想要盛多少。</a:t>
            </a:r>
          </a:p>
        </p:txBody>
      </p:sp>
    </p:spTree>
    <p:extLst>
      <p:ext uri="{BB962C8B-B14F-4D97-AF65-F5344CB8AC3E}">
        <p14:creationId xmlns:p14="http://schemas.microsoft.com/office/powerpoint/2010/main" val="912312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這道菜，我想問 AI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E9710-9F78-499E-98AB-B99DB3BB0F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91984917b468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9600" y="1720435"/>
            <a:ext cx="7286625" cy="3969579"/>
          </a:xfrm>
          <a:prstGeom xmlns:a="http://schemas.openxmlformats.org/drawingml/2006/main" prst="rect">
            <a:avLst/>
          </a:prstGeom>
        </p:spPr>
      </p:pic>
      <p:sp>
        <p:nvSpPr>
          <p:cNvPr id="5" name="餐前找方法">
            <a:extLst xmlns:a="http://schemas.openxmlformats.org/drawingml/2006/main">
              <a:ext uri="{FF2B5EF4-FFF2-40B4-BE49-F238E27FC236}">
                <a16:creationId xmlns:a16="http://schemas.microsoft.com/office/drawing/2014/main" id="{E52F6239-8776-4224-A631-A301481A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24050"/>
            <a:ext cx="3143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點一道菜，問問看</a:t>
            </a:r>
          </a:p>
        </p:txBody>
      </p:sp>
      <p:sp>
        <p:nvSpPr>
          <p:cNvPr id="6" name="「我可以先少盛，&#10;不夠再添嗎？」">
            <a:extLst xmlns:a="http://schemas.openxmlformats.org/drawingml/2006/main">
              <a:ext uri="{FF2B5EF4-FFF2-40B4-BE49-F238E27FC236}">
                <a16:creationId xmlns:a16="http://schemas.microsoft.com/office/drawing/2014/main" id="{160A3FF2-B2F2-49E2-BDCD-55E2DA47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19450"/>
            <a:ext cx="3143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看圖選方法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我來試一口</a:t>
            </a:r>
          </a:p>
        </p:txBody>
      </p:sp>
      <p:sp>
        <p:nvSpPr>
          <p:cNvPr id="7" name="餐後看照片&#10;AI 估量，我核對">
            <a:extLst xmlns:a="http://schemas.openxmlformats.org/drawingml/2006/main">
              <a:ext uri="{FF2B5EF4-FFF2-40B4-BE49-F238E27FC236}">
                <a16:creationId xmlns:a16="http://schemas.microsoft.com/office/drawing/2014/main" id="{E2E7C87D-18DA-484D-B8C5-104840E3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91050"/>
            <a:ext cx="3143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把小計畫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帶去拍餐盤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DC08278-B853-4947-8D32-B2CBCE95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份量小遊戲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DD9927EC-4C36-4300-BFF0-1AABB59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C5CF73DF-F835-4E5A-B8F7-ACAA55F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BD814-106C-4090-B6DA-19010FD071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d935a824f47f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9600" y="2249805"/>
            <a:ext cx="7048500" cy="3101340"/>
          </a:xfrm>
          <a:prstGeom xmlns:a="http://schemas.openxmlformats.org/drawingml/2006/main" prst="rect">
            <a:avLst/>
          </a:prstGeom>
        </p:spPr>
      </p:pic>
      <p:sp>
        <p:nvSpPr>
          <p:cNvPr id="5" name="先盛多少？">
            <a:extLst xmlns:a="http://schemas.openxmlformats.org/drawingml/2006/main">
              <a:ext uri="{FF2B5EF4-FFF2-40B4-BE49-F238E27FC236}">
                <a16:creationId xmlns:a16="http://schemas.microsoft.com/office/drawing/2014/main" id="{05A8E738-4DAB-4072-AE72-4DB0F082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524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先盛多少？</a:t>
            </a:r>
          </a:p>
        </p:txBody>
      </p:sp>
      <p:sp>
        <p:nvSpPr>
          <p:cNvPr id="6" name="小份、剛好，或多些">
            <a:extLst xmlns:a="http://schemas.openxmlformats.org/drawingml/2006/main">
              <a:ext uri="{FF2B5EF4-FFF2-40B4-BE49-F238E27FC236}">
                <a16:creationId xmlns:a16="http://schemas.microsoft.com/office/drawing/2014/main" id="{B4D510F5-F237-43F6-A3A7-DC5A02EA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33675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小份、剛好，或多些</a:t>
            </a:r>
          </a:p>
        </p:txBody>
      </p:sp>
      <p:sp>
        <p:nvSpPr>
          <p:cNvPr id="7" name="如果還餓呢？">
            <a:extLst xmlns:a="http://schemas.openxmlformats.org/drawingml/2006/main">
              <a:ext uri="{FF2B5EF4-FFF2-40B4-BE49-F238E27FC236}">
                <a16:creationId xmlns:a16="http://schemas.microsoft.com/office/drawing/2014/main" id="{4E2377BC-750D-453E-A5A5-6C9021F3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76675"/>
            <a:ext cx="3524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如果還餓呢？</a:t>
            </a:r>
          </a:p>
        </p:txBody>
      </p:sp>
      <p:sp>
        <p:nvSpPr>
          <p:cNvPr id="8" name="先想好再添的方法">
            <a:extLst xmlns:a="http://schemas.openxmlformats.org/drawingml/2006/main">
              <a:ext uri="{FF2B5EF4-FFF2-40B4-BE49-F238E27FC236}">
                <a16:creationId xmlns:a16="http://schemas.microsoft.com/office/drawing/2014/main" id="{A7D8A7DF-F4F5-4BB6-9580-26A05051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48200"/>
            <a:ext cx="352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先想好再添的方法</a:t>
            </a:r>
          </a:p>
        </p:txBody>
      </p:sp>
      <p:sp>
        <p:nvSpPr>
          <p:cNvPr id="9" name="我的練習計畫會接到餐盤入口">
            <a:extLst xmlns:a="http://schemas.openxmlformats.org/drawingml/2006/main">
              <a:ext uri="{FF2B5EF4-FFF2-40B4-BE49-F238E27FC236}">
                <a16:creationId xmlns:a16="http://schemas.microsoft.com/office/drawing/2014/main" id="{10520EEE-8474-46EB-B2CC-00175643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玩完的小計畫，可以帶去拍餐盤</a:t>
            </a:r>
          </a:p>
        </p:txBody>
      </p:sp>
    </p:spTree>
    <p:extLst>
      <p:ext uri="{BB962C8B-B14F-4D97-AF65-F5344CB8AC3E}">
        <p14:creationId xmlns:p14="http://schemas.microsoft.com/office/powerpoint/2010/main" val="19386818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E2645D-D021-4095-9426-C01CC287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下一餐，我來試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2C5F4C27-F890-4F87-A752-868EAB2B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0A60B15-3919-44EC-9A82-B489B17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>
        <p:nvSpPr>
          <p:cNvPr id="4" name="「先少量盛裝，還餓再添」">
            <a:extLst xmlns:a="http://schemas.openxmlformats.org/drawingml/2006/main">
              <a:ext uri="{FF2B5EF4-FFF2-40B4-BE49-F238E27FC236}">
                <a16:creationId xmlns:a16="http://schemas.microsoft.com/office/drawing/2014/main" id="{4EAF712F-DA48-44DE-BB6B-7B67E8D7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19275"/>
            <a:ext cx="10572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67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「先盛少一點，還餓再添」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3166F597-A0FE-4DAA-B8C6-1B8A58F6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28765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67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editable-substep-0">
            <a:extLst xmlns:a="http://schemas.openxmlformats.org/drawingml/2006/main">
              <a:ext uri="{FF2B5EF4-FFF2-40B4-BE49-F238E27FC236}">
                <a16:creationId xmlns:a16="http://schemas.microsoft.com/office/drawing/2014/main" id="{66481E00-34AE-4134-9A64-210C1276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選一個</a:t>
            </a:r>
          </a:p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想試的方法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7AF02B7D-205D-4090-9E59-C05B80DB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62275"/>
            <a:ext cx="28765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67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8" name="editable-substep-1">
            <a:extLst xmlns:a="http://schemas.openxmlformats.org/drawingml/2006/main">
              <a:ext uri="{FF2B5EF4-FFF2-40B4-BE49-F238E27FC236}">
                <a16:creationId xmlns:a16="http://schemas.microsoft.com/office/drawing/2014/main" id="{8F5AD35D-A213-4CAC-ABA9-02CD6360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7665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拍新照</a:t>
            </a:r>
          </a:p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說有沒有吃飽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6852E09-0350-4388-85A9-4DA572E2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62275"/>
            <a:ext cx="28765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675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0" name="editable-substep-2">
            <a:extLst xmlns:a="http://schemas.openxmlformats.org/drawingml/2006/main">
              <a:ext uri="{FF2B5EF4-FFF2-40B4-BE49-F238E27FC236}">
                <a16:creationId xmlns:a16="http://schemas.microsoft.com/office/drawing/2014/main" id="{0C34A293-E4BD-425E-8EAB-F3212DB9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7665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兩餐放一起</a:t>
            </a:r>
          </a:p>
          <a:p xmlns:a="http://schemas.openxmlformats.org/drawingml/2006/main">
            <a:pPr algn="l">
              <a:buNone/>
              <a:defRPr sz="262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我發現了什麼？</a:t>
            </a:r>
          </a:p>
        </p:txBody>
      </p:sp>
      <p:sp>
        <p:nvSpPr>
          <p:cNvPr id="13" name="日期、拍攝時機和份量條件，都要說清楚">
            <a:extLst xmlns:a="http://schemas.openxmlformats.org/drawingml/2006/main">
              <a:ext uri="{FF2B5EF4-FFF2-40B4-BE49-F238E27FC236}">
                <a16:creationId xmlns:a16="http://schemas.microsoft.com/office/drawing/2014/main" id="{EC8FA8AD-9939-49C6-B4DC-8805D859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695950"/>
            <a:ext cx="1076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記下日期、餐前餐後和自己的感覺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8136C-22B6-4669-8FA3-C251D6BB5302}"/>
              </a:ext>
            </a:extLst>
          </p:cNvPr>
          <p:cNvCxnSpPr/>
          <p:nvPr/>
        </p:nvCxnSpPr>
        <p:spPr>
          <a:xfrm xmlns:a="http://schemas.openxmlformats.org/drawingml/2006/main">
            <a:off x="7429500" y="4319588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  <a:prstDash val="solid"/>
            <a:tailEnd type="arrow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0431F-4325-4FB6-99EC-998DF15C1FB3}"/>
              </a:ext>
            </a:extLst>
          </p:cNvPr>
          <p:cNvCxnSpPr/>
          <p:nvPr/>
        </p:nvCxnSpPr>
        <p:spPr>
          <a:xfrm xmlns:a="http://schemas.openxmlformats.org/drawingml/2006/main">
            <a:off x="3600450" y="4319588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154"/>
            </a:solidFill>
            <a:prstDash val="soli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805085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38B3ADEB-5212-480C-8A21-ABF8B1F1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兩餐湊齊，才算一次實驗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45DB353-B312-492A-9442-0C332120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71CA117D-CE7F-4E5D-9F89-DBDA2A0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loop-step-1"/>
          <p:cNvSpPr/>
          <p:nvPr/>
        </p:nvSpPr>
        <p:spPr>
          <a:xfrm>
            <a:off x="660400" y="1752600"/>
            <a:ext cx="239395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F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icon-foo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475" y="1930400"/>
            <a:ext cx="939800" cy="939800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762000" y="2946400"/>
            <a:ext cx="219075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實驗步驟 1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62000" y="3251200"/>
            <a:ext cx="219075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午餐前，用 AI</a:t>
            </a:r>
          </a:p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配一份小計畫</a:t>
            </a:r>
          </a:p>
        </p:txBody>
      </p:sp>
      <p:cxnSp xmlns:a="http://schemas.openxmlformats.org/drawingml/2006/main">
        <p:nvCxnSpPr>
          <p:cNvPr id="27" name="Connector 26"/>
          <p:cNvCxnSpPr/>
          <p:nvPr/>
        </p:nvCxnSpPr>
        <p:spPr>
          <a:xfrm>
            <a:off x="3130550" y="2997200"/>
            <a:ext cx="279400" cy="0"/>
          </a:xfrm>
          <a:prstGeom prst="line">
            <a:avLst/>
          </a:prstGeom>
          <a:ln w="254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8" name="loop-step-2"/>
          <p:cNvSpPr/>
          <p:nvPr/>
        </p:nvSpPr>
        <p:spPr>
          <a:xfrm>
            <a:off x="3486150" y="1752600"/>
            <a:ext cx="239395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F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9" name="Picture 28" descr="icon-foo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225" y="1930400"/>
            <a:ext cx="939800" cy="939800"/>
          </a:xfrm>
          <a:prstGeom prst="rect">
            <a:avLst/>
          </a:prstGeom>
        </p:spPr>
      </p:pic>
      <p:sp xmlns:a="http://schemas.openxmlformats.org/drawingml/2006/main">
        <p:nvSpPr>
          <p:cNvPr id="30" name="TextBox 29"/>
          <p:cNvSpPr txBox="1"/>
          <p:nvPr/>
        </p:nvSpPr>
        <p:spPr>
          <a:xfrm>
            <a:off x="3587750" y="2946400"/>
            <a:ext cx="219075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實驗步驟 2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3587750" y="3251200"/>
            <a:ext cx="219075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同一餐，</a:t>
            </a:r>
          </a:p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拍餐前和餐後</a:t>
            </a:r>
          </a:p>
        </p:txBody>
      </p:sp>
      <p:cxnSp xmlns:a="http://schemas.openxmlformats.org/drawingml/2006/main">
        <p:nvCxnSpPr>
          <p:cNvPr id="32" name="Connector 31"/>
          <p:cNvCxnSpPr/>
          <p:nvPr/>
        </p:nvCxnSpPr>
        <p:spPr>
          <a:xfrm>
            <a:off x="5956300" y="2997200"/>
            <a:ext cx="279400" cy="0"/>
          </a:xfrm>
          <a:prstGeom prst="line">
            <a:avLst/>
          </a:prstGeom>
          <a:ln w="254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3" name="loop-step-3"/>
          <p:cNvSpPr/>
          <p:nvPr/>
        </p:nvSpPr>
        <p:spPr>
          <a:xfrm>
            <a:off x="6311900" y="1752600"/>
            <a:ext cx="239395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F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4" name="Picture 33" descr="icon-food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8975" y="1930400"/>
            <a:ext cx="939800" cy="939800"/>
          </a:xfrm>
          <a:prstGeom prst="rect">
            <a:avLst/>
          </a:prstGeom>
        </p:spPr>
      </p:pic>
      <p:sp xmlns:a="http://schemas.openxmlformats.org/drawingml/2006/main">
        <p:nvSpPr>
          <p:cNvPr id="35" name="TextBox 34"/>
          <p:cNvSpPr txBox="1"/>
          <p:nvPr/>
        </p:nvSpPr>
        <p:spPr>
          <a:xfrm>
            <a:off x="6413500" y="2946400"/>
            <a:ext cx="219075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實驗步驟 3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6413500" y="3251200"/>
            <a:ext cx="219075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帶著一個方法，</a:t>
            </a:r>
          </a:p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拍下一餐</a:t>
            </a:r>
          </a:p>
        </p:txBody>
      </p:sp>
      <p:cxnSp xmlns:a="http://schemas.openxmlformats.org/drawingml/2006/main">
        <p:nvCxnSpPr>
          <p:cNvPr id="37" name="Connector 36"/>
          <p:cNvCxnSpPr/>
          <p:nvPr/>
        </p:nvCxnSpPr>
        <p:spPr>
          <a:xfrm>
            <a:off x="8782050" y="2997200"/>
            <a:ext cx="279400" cy="0"/>
          </a:xfrm>
          <a:prstGeom prst="line">
            <a:avLst/>
          </a:prstGeom>
          <a:ln w="254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8" name="loop-step-4"/>
          <p:cNvSpPr/>
          <p:nvPr/>
        </p:nvSpPr>
        <p:spPr>
          <a:xfrm>
            <a:off x="9137650" y="1752600"/>
            <a:ext cx="239395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F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con-food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4725" y="1930400"/>
            <a:ext cx="939800" cy="939800"/>
          </a:xfrm>
          <a:prstGeom prst="rect">
            <a:avLst/>
          </a:prstGeom>
        </p:spPr>
      </p:pic>
      <p:sp xmlns:a="http://schemas.openxmlformats.org/drawingml/2006/main">
        <p:nvSpPr>
          <p:cNvPr id="40" name="TextBox 39"/>
          <p:cNvSpPr txBox="1"/>
          <p:nvPr/>
        </p:nvSpPr>
        <p:spPr>
          <a:xfrm>
            <a:off x="9239250" y="2946400"/>
            <a:ext cx="219075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實驗步驟 4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9239250" y="3251200"/>
            <a:ext cx="219075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同一個代號，</a:t>
            </a:r>
          </a:p>
          <a:p>
            <a:pPr algn="ctr"/>
            <a:r>
              <a:rPr sz="1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兩天都拍齊</a:t>
            </a:r>
          </a:p>
        </p:txBody>
      </p:sp>
      <p:cxnSp xmlns:a="http://schemas.openxmlformats.org/drawingml/2006/main">
        <p:nvCxnSpPr>
          <p:cNvPr id="42" name="Connector 41"/>
          <p:cNvCxnSpPr/>
          <p:nvPr/>
        </p:nvCxnSpPr>
        <p:spPr>
          <a:xfrm>
            <a:off x="10334625" y="4292600"/>
            <a:ext cx="0" cy="330200"/>
          </a:xfrm>
          <a:prstGeom prst="line">
            <a:avLst/>
          </a:prstGeom>
          <a:ln w="254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43" name="loop-stage"/>
          <p:cNvSpPr/>
          <p:nvPr/>
        </p:nvSpPr>
        <p:spPr>
          <a:xfrm>
            <a:off x="660400" y="4699000"/>
            <a:ext cx="10871200" cy="1371600"/>
          </a:xfrm>
          <a:prstGeom prst="roundRect">
            <a:avLst>
              <a:gd name="adj" fmla="val 18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1016000" y="4927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App 跳出：「兩餐實驗湊齊了」</a:t>
            </a:r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1016000" y="5461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按「上台」，把兩餐放在一起請大家猜 →</a:t>
            </a:r>
          </a:p>
        </p:txBody>
      </p:sp>
    </p:spTree>
    <p:extLst>
      <p:ext uri="{BB962C8B-B14F-4D97-AF65-F5344CB8AC3E}">
        <p14:creationId xmlns:p14="http://schemas.microsoft.com/office/powerpoint/2010/main" val="424133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猜猜看！哪一盤帶著新方法？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112000" y="787400"/>
            <a:ext cx="4419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AI 給方法，餐盤給答案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food-ta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" y="1651000"/>
            <a:ext cx="10871200" cy="58311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2" name="Picture 11" descr="food-v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" y="2335710"/>
            <a:ext cx="10871200" cy="2409434"/>
          </a:xfrm>
          <a:prstGeom prst="rect">
            <a:avLst/>
          </a:prstGeom>
        </p:spPr>
      </p:pic>
      <p:sp xmlns:a="http://schemas.openxmlformats.org/drawingml/2006/main">
        <p:nvSpPr>
          <p:cNvPr id="13" name="TextBox 12"/>
          <p:cNvSpPr txBox="1"/>
          <p:nvPr/>
        </p:nvSpPr>
        <p:spPr>
          <a:xfrm>
            <a:off x="660400" y="5024544"/>
            <a:ext cx="3420533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  評審先猜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60400" y="5405544"/>
            <a:ext cx="3420533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看兩盤照片，投一票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4385733" y="5024544"/>
            <a:ext cx="3420533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2  一章一章揭曉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4385733" y="5405544"/>
            <a:ext cx="3420533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第一餐、方法、第二餐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111066" y="5024544"/>
            <a:ext cx="3420533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3  猜錯也沒關係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111066" y="5405544"/>
            <a:ext cx="3420533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想想看，為什麼會猜錯？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12AE497-962D-481F-90EB-2D6CF2EF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一張餐盤，也能想到全班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5C147285-539D-467F-BF6C-046B4AC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DBE61460-1C57-4581-B455-02CD1EF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98F91-E76F-470B-A05E-3E373664C942}"/>
              </a:ext>
            </a:extLst>
          </p:cNvPr>
          <p:cNvGraphicFramePr/>
          <p:nvPr/>
        </p:nvGraphicFramePr>
        <p:xfrm>
          <a:off xmlns:a="http://schemas.openxmlformats.org/drawingml/2006/main" x="619125" y="1819275"/>
          <a:ext xmlns:a="http://schemas.openxmlformats.org/drawingml/2006/main" cx="10906125" cy="3514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029075"/>
                <a:gridCol w="6877050"/>
              </a:tblGrid>
              <a:tr h="5715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E7154"/>
                          </a:solidFill>
                          <a:latin typeface="Heiti TC"/>
                          <a:ea typeface="Heiti TC"/>
                          <a:cs typeface="Heiti TC"/>
                        </a:rPr>
                        <a:t>我看到什麼？</a:t>
                      </a:r>
                    </a:p>
                  </a:txBody>
                  <a:tcPr marL="190500" marR="190500" marT="142875" marB="142875" anchor="ctr">
                    <a:solidFill>
                      <a:srgbClr val="E8F0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E7154"/>
                          </a:solidFill>
                          <a:latin typeface="Heiti TC"/>
                          <a:ea typeface="Heiti TC"/>
                          <a:cs typeface="Heiti TC"/>
                        </a:rPr>
                        <a:t>我怎麼用？</a:t>
                      </a:r>
                    </a:p>
                  </a:txBody>
                  <a:tcPr marL="190500" marR="190500" marT="142875" marB="142875" anchor="ctr">
                    <a:solidFill>
                      <a:srgbClr val="E8F0E7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照片估的克數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先看大約多少，重量再用秤量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全班、全校試算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選人數，先假設每人都一樣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情境故事、我的餐盤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E31"/>
                          </a:solidFill>
                          <a:latin typeface="Heiti TC"/>
                          <a:ea typeface="Heiti TC"/>
                          <a:cs typeface="Heiti TC"/>
                        </a:rPr>
                        <a:t>故事幫我想方法，自己的午餐另記</a:t>
                      </a:r>
                    </a:p>
                  </a:txBody>
                  <a:tcPr marL="190500" marR="190500" marT="142875" marB="142875" anchor="ctr">
                    <a:solidFill>
                      <a:srgbClr val="FAF7EF"/>
                    </a:solidFill>
                  </a:tcPr>
                </a:tc>
              </a:tr>
            </a:tbl>
          </a:graphicData>
        </a:graphic>
      </p:graphicFrame>
      <p:sp>
        <p:nvSpPr>
          <p:cNvPr id="5" name="沒有實際兩餐比較，就留下下一個問題">
            <a:extLst xmlns:a="http://schemas.openxmlformats.org/drawingml/2006/main">
              <a:ext uri="{FF2B5EF4-FFF2-40B4-BE49-F238E27FC236}">
                <a16:creationId xmlns:a16="http://schemas.microsoft.com/office/drawing/2014/main" id="{222FE6C2-71F7-4B08-AEF6-AFFD18C6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72150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想知道真的剩多少，就一起量量看。</a:t>
            </a:r>
          </a:p>
        </p:txBody>
      </p:sp>
    </p:spTree>
    <p:extLst>
      <p:ext uri="{BB962C8B-B14F-4D97-AF65-F5344CB8AC3E}">
        <p14:creationId xmlns:p14="http://schemas.microsoft.com/office/powerpoint/2010/main" val="1066973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D33D4507-DAAE-4AC8-BB90-220021FE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換你來做實驗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95A54289-4ED8-4F37-AA0B-3F6CCA1F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FCE2C4A3-FFE0-499F-9B8E-6A1B50FF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>
        <p:nvSpPr>
          <p:cNvPr id="4" name="打開食光偵探">
            <a:extLst xmlns:a="http://schemas.openxmlformats.org/drawingml/2006/main">
              <a:ext uri="{FF2B5EF4-FFF2-40B4-BE49-F238E27FC236}">
                <a16:creationId xmlns:a16="http://schemas.microsoft.com/office/drawing/2014/main" id="{886124A8-5ABD-4EA6-8C0E-4C5DAE20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812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45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4500" b="1">
                <a:solidFill>
                  <a:srgbClr val="2E7154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a36a478fb42a4435"/>
              </a:rPr>
              <a:t>打開食光偵探</a:t>
            </a:r>
          </a:p>
        </p:txBody>
      </p:sp>
      <p:sp>
        <p:nvSpPr>
          <p:cNvPr id="5" name="foodlens-school.verc">
            <a:extLst xmlns:a="http://schemas.openxmlformats.org/drawingml/2006/main">
              <a:ext uri="{FF2B5EF4-FFF2-40B4-BE49-F238E27FC236}">
                <a16:creationId xmlns:a16="http://schemas.microsoft.com/office/drawing/2014/main" id="{195A087A-2FA7-4FAF-9E75-C51E3577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812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775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775" b="1">
                <a:solidFill>
                  <a:srgbClr val="173E31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28fbecb343c24c04"/>
              </a:rPr>
              <a:t>點菜名，問問 AI</a:t>
            </a:r>
          </a:p>
        </p:txBody>
      </p:sp>
      <p:sp>
        <p:nvSpPr>
          <p:cNvPr id="6" name="選一個問題，試一個方法">
            <a:extLst xmlns:a="http://schemas.openxmlformats.org/drawingml/2006/main">
              <a:ext uri="{FF2B5EF4-FFF2-40B4-BE49-F238E27FC236}">
                <a16:creationId xmlns:a16="http://schemas.microsoft.com/office/drawing/2014/main" id="{DA84CEDE-9158-4256-AA60-35FAEA2B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05275"/>
            <a:ext cx="8128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午餐後，拍自己的餐盤</a:t>
            </a:r>
          </a:p>
        </p:txBody>
      </p:sp>
      <p:sp>
        <p:nvSpPr>
          <p:cNvPr id="7" name="餐後留下照片與感受，下一餐再回來">
            <a:extLst xmlns:a="http://schemas.openxmlformats.org/drawingml/2006/main">
              <a:ext uri="{FF2B5EF4-FFF2-40B4-BE49-F238E27FC236}">
                <a16:creationId xmlns:a16="http://schemas.microsoft.com/office/drawing/2014/main" id="{47F1B57F-4E35-4BB1-BFF4-0D7B4A46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812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下次午餐，再回來一起看</a:t>
            </a:r>
          </a:p>
        </p:txBody>
      </p:sp>
      <p:sp>
        <p:nvSpPr>
          <p:cNvPr id="9" name="student-sharing-page">
            <a:extLst xmlns:a="http://schemas.openxmlformats.org/drawingml/2006/main">
              <a:ext uri="{FF2B5EF4-FFF2-40B4-BE49-F238E27FC236}">
                <a16:creationId xmlns:a16="http://schemas.microsoft.com/office/drawing/2014/main" id="{B1C08F2E-0FA2-4E28-A646-EC732AA1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812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0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buNone/>
              <a:defRPr sz="180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800">
                <a:solidFill>
                  <a:srgbClr val="576D62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7815e7378b4b44c3"/>
              </a:rPr>
              <a:t>兩隊簡報、操作圖和問卷，都在分享頁</a:t>
            </a:r>
          </a:p>
        </p:txBody>
      </p:sp>
      <p:pic xmlns:a="http://schemas.openxmlformats.org/drawingml/2006/main" xmlns:r="http://schemas.openxmlformats.org/officeDocument/2006/relationships">
        <p:nvPicPr>
          <p:cNvPr id="10" name="Picture 9" descr="food-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6600" y="1905000"/>
            <a:ext cx="1905000" cy="1905000"/>
          </a:xfrm>
          <a:prstGeom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9372600" y="3937000"/>
            <a:ext cx="2159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掃描，現在就試</a:t>
            </a:r>
          </a:p>
        </p:txBody>
      </p:sp>
    </p:spTree>
    <p:extLst>
      <p:ext uri="{BB962C8B-B14F-4D97-AF65-F5344CB8AC3E}">
        <p14:creationId xmlns:p14="http://schemas.microsoft.com/office/powerpoint/2010/main" val="14228675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2E7154"/>
      </a:hlink>
      <a:folHlink>
        <a:srgbClr val="2E7154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2026-10-13T02:37:43.0760000Z</dcterms:created>
  <dcterms:modified xsi:type="dcterms:W3CDTF">2026-10-13T02:37:43.0760000Z</dcterms:modified>
</coreProperties>
</file>