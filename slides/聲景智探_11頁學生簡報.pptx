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5cf7669f59b45bc" Type="http://schemas.openxmlformats.org/package/2006/relationships/metadata/core-properties" Target="docProps/core.xml"/><Relationship Id="Re4df170b849c45ff" Type="http://schemas.openxmlformats.org/officeDocument/2006/relationships/extended-properties" Target="docProps/app.xml"/><Relationship Id="Rf0f68e0e5d6b4468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96ec2c5d208465b"/>
  </p:sldMasterIdLst>
  <p:notesMasterIdLst>
    <p:notesMasterId xmlns:r="http://schemas.openxmlformats.org/officeDocument/2006/relationships" r:id="Re4343c88d90f40ee"/>
  </p:notesMasterIdLst>
  <p:sldIdLst>
    <p:sldId xmlns:r="http://schemas.openxmlformats.org/officeDocument/2006/relationships" id="256" r:id="R9aa611398f4442a8"/>
    <p:sldId xmlns:r="http://schemas.openxmlformats.org/officeDocument/2006/relationships" id="257" r:id="Rec1ff7bcb9a34e2e"/>
    <p:sldId xmlns:r="http://schemas.openxmlformats.org/officeDocument/2006/relationships" id="258" r:id="R8b1fb1e24f314701"/>
    <p:sldId xmlns:r="http://schemas.openxmlformats.org/officeDocument/2006/relationships" id="259" r:id="R6af7d9a662ec4e67"/>
    <p:sldId xmlns:r="http://schemas.openxmlformats.org/officeDocument/2006/relationships" id="262" r:id="Rf09c6d8862d94b07"/>
    <p:sldId xmlns:r="http://schemas.openxmlformats.org/officeDocument/2006/relationships" id="260" r:id="R3ef84f5b29c54fe2"/>
    <p:sldId xmlns:r="http://schemas.openxmlformats.org/officeDocument/2006/relationships" id="263" r:id="R03ecb90713674430"/>
    <p:sldId xmlns:r="http://schemas.openxmlformats.org/officeDocument/2006/relationships" id="261" r:id="Ra54bd9e24d8a4ba6"/>
    <p:sldId xmlns:r="http://schemas.openxmlformats.org/officeDocument/2006/relationships" id="266" r:id="rId1"/>
    <p:sldId xmlns:r="http://schemas.openxmlformats.org/officeDocument/2006/relationships" id="264" r:id="R675a2547e4214089"/>
    <p:sldId xmlns:r="http://schemas.openxmlformats.org/officeDocument/2006/relationships" id="265" r:id="Rd8f63a910542424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3ecb90713674430" Type="http://schemas.openxmlformats.org/officeDocument/2006/relationships/slide" Target="slides/slide7.xml"/><Relationship Id="R3ef84f5b29c54fe2" Type="http://schemas.openxmlformats.org/officeDocument/2006/relationships/slide" Target="slides/slide6.xml"/><Relationship Id="R481f7afb7fbc4778" Type="http://schemas.openxmlformats.org/officeDocument/2006/relationships/tableStyles" Target="tableStyles.xml"/><Relationship Id="R675a2547e4214089" Type="http://schemas.openxmlformats.org/officeDocument/2006/relationships/slide" Target="slides/slide10.xml"/><Relationship Id="R696ec2c5d208465b" Type="http://schemas.openxmlformats.org/officeDocument/2006/relationships/slideMaster" Target="slideMasters/slideMaster1.xml"/><Relationship Id="R6af7d9a662ec4e67" Type="http://schemas.openxmlformats.org/officeDocument/2006/relationships/slide" Target="slides/slide4.xml"/><Relationship Id="R8b1fb1e24f314701" Type="http://schemas.openxmlformats.org/officeDocument/2006/relationships/slide" Target="slides/slide3.xml"/><Relationship Id="R9aa611398f4442a8" Type="http://schemas.openxmlformats.org/officeDocument/2006/relationships/slide" Target="slides/slide1.xml"/><Relationship Id="Ra0cd754b098e4dd7" Type="http://schemas.openxmlformats.org/officeDocument/2006/relationships/theme" Target="theme/theme1.xml"/><Relationship Id="Ra339f1c60e9046d0" Type="http://schemas.openxmlformats.org/officeDocument/2006/relationships/presProps" Target="presProps.xml"/><Relationship Id="Ra54bd9e24d8a4ba6" Type="http://schemas.openxmlformats.org/officeDocument/2006/relationships/slide" Target="slides/slide8.xml"/><Relationship Id="Rd8f63a9105424241" Type="http://schemas.openxmlformats.org/officeDocument/2006/relationships/slide" Target="slides/slide11.xml"/><Relationship Id="Re4343c88d90f40ee" Type="http://schemas.openxmlformats.org/officeDocument/2006/relationships/notesMaster" Target="notesMasters/notesMaster1.xml"/><Relationship Id="Rec1ff7bcb9a34e2e" Type="http://schemas.openxmlformats.org/officeDocument/2006/relationships/slide" Target="slides/slide2.xml"/><Relationship Id="Rf09c6d8862d94b07" Type="http://schemas.openxmlformats.org/officeDocument/2006/relationships/slide" Target="slides/slide5.xml"/><Relationship Id="rId1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3d25c16564164b5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6f38845625774751" Type="http://schemas.openxmlformats.org/officeDocument/2006/relationships/notesMaster" Target="../notesMasters/notesMaster1.xml"/><Relationship Id="R8d28738f23e84aa7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34ab161cf89e4178" Type="http://schemas.openxmlformats.org/officeDocument/2006/relationships/slide" Target="../slides/slide2.xml"/><Relationship Id="R8f08ad2a74994ef4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6d4763970d4f4158" Type="http://schemas.openxmlformats.org/officeDocument/2006/relationships/notesMaster" Target="../notesMasters/notesMaster1.xml"/><Relationship Id="Rdeb051a5642a4d25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871e1cce188141c5" Type="http://schemas.openxmlformats.org/officeDocument/2006/relationships/slide" Target="../slides/slide4.xml"/><Relationship Id="Rd436791b92b04445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624923907f1d4631" Type="http://schemas.openxmlformats.org/officeDocument/2006/relationships/notesMaster" Target="../notesMasters/notesMaster1.xml"/><Relationship Id="R80e4d5e4c04147cb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835930bf7c6143ff" Type="http://schemas.openxmlformats.org/officeDocument/2006/relationships/notesMaster" Target="../notesMasters/notesMaster1.xml"/><Relationship Id="Rb87d2f912f95428a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3b30f5ea7e9c480b" Type="http://schemas.openxmlformats.org/officeDocument/2006/relationships/notesMaster" Target="../notesMasters/notesMaster1.xml"/><Relationship Id="R46d8384a3df64336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4191119cae8a433e" Type="http://schemas.openxmlformats.org/officeDocument/2006/relationships/notesMaster" Target="../notesMasters/notesMaster1.xml"/><Relationship Id="Rdd634e27c06742d9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255890b9e09f402b" Type="http://schemas.openxmlformats.org/officeDocument/2006/relationships/slide" Target="../slides/slide10.xml"/><Relationship Id="Rb534a6ac627d4407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04baab04a46641d2" Type="http://schemas.openxmlformats.org/officeDocument/2006/relationships/slide" Target="../slides/slide11.xml"/><Relationship Id="Rebdc3f7b33eb4a59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大家好，我們是泰北聽路隊。我們想做一張聽得到的地圖。先用耳朵聽，再請 AI 一起找聲音，留下自己的發現。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封面：AI繪圖</a:t>
            </a:r>
          </a:p>
          <a:p xmlns:a="http://schemas.openxmlformats.org/drawingml/2006/main">
            <a:r>
              <a:t>泰北國際雙語學校-國小部，隊名由家長確認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同一條路可能有鳥叫、車聲和人聲。換個地方或時間，會不會不同？我們想留下聲音，下次再來一起聽。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https://soundscape-ai-city-sound-detective.vercel.app/</a:t>
            </a:r>
          </a:p>
          <a:p xmlns:a="http://schemas.openxmlformats.org/drawingml/2006/main">
            <a:r>
              <a:t>插畫：AI繪圖。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聲音從哪裡來？早上和下午一樣嗎？我們先挑一個小問題，再到安全的地方聽。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https://soundscape-ai-city-sound-detective.vercel.app/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五十個政府地點幫我找起點，每個地點有八則編寫的情境故事，共四百則。我翻故事找問題，自己的照片和聲音再另外保存。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http://localhost:3101/explore</a:t>
            </a:r>
          </a:p>
          <a:p xmlns:a="http://schemas.openxmlformats.org/drawingml/2006/main">
            <a:r>
              <a:t>App 實際畫面：2026-10-13 本機截圖，圖片檔案時間 10:25:51 Asia/Taipei</a:t>
            </a:r>
          </a:p>
          <a:p xmlns:a="http://schemas.openxmlformats.org/drawingml/2006/main">
            <a:r>
              <a:t>來源版本：7a68dcb 加上未提交的圖片操作與故事地圖改善，2026-10-12 至 10-13 本機截圖</a:t>
            </a:r>
          </a:p>
          <a:p xmlns:a="http://schemas.openxmlformats.org/drawingml/2006/main">
            <a:r>
              <a:t>主代理保存的新版實際聲音故事地圖核心區，無灰色手勢遮罩，回看全部50個探索地點，保留原地圖署名。完整實際介面另存 sound-map-current.jpg。這些地點與聲音故事是公開參考素材，不是學生已到訪或錄音的50筆紀錄；截圖沒有新增學生現場聲音。</a:t>
            </a:r>
          </a:p>
          <a:p xmlns:a="http://schemas.openxmlformats.org/drawingml/2006/main">
            <a:r>
              <a:t>底圖：OpenFreeMap、OpenMapTiles、OpenStreetMap contributors，原署名保留在截圖上。公開原音作者與授權依 App 各段來源顯示，並非學生現場採集。</a:t>
            </a:r>
          </a:p>
          <a:p xmlns:a="http://schemas.openxmlformats.org/drawingml/2006/main">
            <a:r>
              <a:t>臺北市公園及 YouBike 公開資料。400 則故事為編寫的情境。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我先聽原音、猜聲音，再叫 AI 一起聽。畫面用圖和名稱提示它聽到什麼。AI 也會猜錯，我再重聽、說自己的理由。這段是公開原音，來源留在畫面上。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http://localhost:3101/#sound-practice</a:t>
            </a:r>
          </a:p>
          <a:p xmlns:a="http://schemas.openxmlformats.org/drawingml/2006/main">
            <a:r>
              <a:t>App 實際畫面：2026-10-12 約 17:21 Asia/Taipei</a:t>
            </a:r>
          </a:p>
          <a:p xmlns:a="http://schemas.openxmlformats.org/drawingml/2006/main">
            <a:r>
              <a:t>來源版本：7a68dcb 加上未提交的圖片操作與故事地圖改善，2026-10-12 至 10-13 本機截圖</a:t>
            </a:r>
          </a:p>
          <a:p xmlns:a="http://schemas.openxmlformats.org/drawingml/2006/main">
            <a:r>
              <a:t>本機新版實際功能操作，第5段公開原音完整播放0:10/0:10，選自然聲後按叫AI一起聽，取得真實本機模型新結果。我猜自然聲，AI猜自然/水聲並標示液體聲線索。沒有保存新筆記，沒有麥克風、GPS或上傳，非學生現場採集。</a:t>
            </a:r>
          </a:p>
          <a:p xmlns:a="http://schemas.openxmlformats.org/drawingml/2006/main">
            <a:r>
              <a:t>原音：Secretlondon，CC BY-SA 3.0。https://commons.wikimedia.org/wiki/File:Fountainnoise2.ogg</a:t>
            </a:r>
          </a:p>
          <a:p xmlns:a="http://schemas.openxmlformats.org/drawingml/2006/main">
            <a:r>
              <a:t>https://creativecommons.org/licenses/by-sa/3.0/</a:t>
            </a:r>
          </a:p>
          <a:p xmlns:a="http://schemas.openxmlformats.org/drawingml/2006/main">
            <a:r>
              <a:t>依App原音資料保留前10秒，轉成單聲道16kHz MP3。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我們大幅擴充了互動聲音地圖，結合 50 個政府公開據點與 17 處現場實拍照片和原音！包含道路施工負 21.5 dBFS、教室上課鐘聲與朗讀負 21.9 dBFS、下課操場負 20.4 dBFS、捷運芝山站負 20.2 dBFS、公園鳥鳴負 25.9 dBFS，以及最安靜的住家山景陽台負 52.6 dBFS，點開地圖就能看照片聽聲音！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現場照片與 44.1kHz 原音：soundscape/public/student-field/ 下 17 組實測影音。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先聽一題，猜猜聲音從哪裡來。選自己的答案後，再看 AI 的線索。九段公開原音讓我練習，自己的現場聲音要另外去錄。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http://localhost:3101/#sound-practice</a:t>
            </a:r>
          </a:p>
          <a:p xmlns:a="http://schemas.openxmlformats.org/drawingml/2006/main">
            <a:r>
              <a:t>App 實際畫面：2026-10-12 本機截圖，圖片檔案時間 17:05:27 Asia/Taipei</a:t>
            </a:r>
          </a:p>
          <a:p xmlns:a="http://schemas.openxmlformats.org/drawingml/2006/main">
            <a:r>
              <a:t>來源版本：7a68dcb 加上未提交的圖片操作與故事地圖改善，2026-10-12 至 10-13 本機截圖</a:t>
            </a:r>
          </a:p>
          <a:p xmlns:a="http://schemas.openxmlformats.org/drawingml/2006/main">
            <a:r>
              <a:t>新版盲聽介面，在第 5 段公開原音開始播放與猜測前的 0:00 狀態，呈現四張一般聲音選擇圖卡，沒有先揭露這題答案。</a:t>
            </a:r>
          </a:p>
          <a:p xmlns:a="http://schemas.openxmlformats.org/drawingml/2006/main">
            <a:r>
              <a:t>原音：Secretlondon，CC BY-SA 3.0，公開原音練習來源，非學生現場錄音。https://commons.wikimedia.org/wiki/File:Fountainnoise2.ogg</a:t>
            </a:r>
          </a:p>
          <a:p xmlns:a="http://schemas.openxmlformats.org/drawingml/2006/main">
            <a:r>
              <a:t>https://creativecommons.org/licenses/by-sa/3.0/</a:t>
            </a:r>
          </a:p>
          <a:p xmlns:a="http://schemas.openxmlformats.org/drawingml/2006/main">
            <a:r>
              <a:t>依App原音資料保留前10秒，轉成單聲道16kHz MP3。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我們在同一個通學生活圈拍下現場照片、錄下 15 秒原音做跨時段與位置比對。貼近大馬路尖峰時，平均音量達負 17.8 dBFS，AI 辨識出公車氣壓煞車與車流聲；轉進退縮綠蔭與志成公園後，音量降到負 25.9 dBFS，減弱超過 8 分貝，白頭翁鳥鳴與微風聲都清楚浮現！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現場實拍與原音：commute-traffic-1.jpg（-17.8 dBFS）與 scene-07-park-morning.jpg（-25.9 dBFS）。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累積聲音大數據還能幫我們規劃「智慧通學與探索路線」！比較路線 A 大馬路與施工側（負 17.8 dBFS）和路線 B 退縮人行道與公園河濱路線（負 26.5 dBFS），音量明顯降低超過 8 分貝。透過聲音地圖、城市時光機與路線比較，我們能幫同學和社區居民找出最安靜、最安全舒適的步行路線！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通學路線實拍與原音：commute-asus-3.jpg、commute-student-listen-4.jpg 與 17 處聲景實測資料庫。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換你來破案！掃這個 QR code，先玩一題盲聽，再選一個學校附近的地點。安全地錄一段，下次回到同一個地方再錄一次，用問題卡接起來，你也有自己的破案故事。分享頁有操作圖和兩隊簡報。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QR code 連到 https://soundscape-ai-city-sound-detective.vercel.app/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講稿</a:t>
            </a:r>
          </a:p>
          <a:p>
            <a:r>
              <a:t>當我們累積越來越多跨時段、跨月份的聲音與照片大數據，聲音地圖就變成了「城市聲音時光機」！從早晨七點半的通學與鳥鳴、十點半的上課與施工、下午四點半的放學公車與垃圾車祈禱琴聲，到夜晚九點的山景陽台，隨時拉動時間軸，就能回溯施工前後與四季的環境演變！</a:t>
            </a:r>
          </a:p>
          <a:p/>
          <a:p>
            <a:r>
              <a:t>圖片與資料出處</a:t>
            </a:r>
          </a:p>
          <a:p>
            <a:r>
              <a:t>跨時段現場照片與原音：commute-intersection-2.jpg、scene-02-classroom.jpg、scene-05-garbage-truck.jpg、home-balcony-night.jpg。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5adcaab428a64b95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f106fa8ae164fe5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7c9a24e59bf411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3769a89c97d4c1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e2730ac0011f4745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94800fe0c1b84a5c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304DDCE-A497-4C89-9109-92FA0A41E1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1299EB9-B399-4C3B-8045-D9F91CD7F65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12D1FA3-ABE5-4130-8F38-97B4E04F68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A953C12-A7D8-46BD-BC6A-9B6B03BE821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3CEE7D7-A66D-44F1-961A-F3F8F21833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2CAA9C5-D99E-42A3-90B0-3300D084C2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0693102-7A33-4EBE-9933-89EBD77519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D9BF252-A983-48AB-A2E5-0DB51AFB568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A67FBA0-DC4C-4071-9CC2-A924439AD4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A9A6438-73F2-4208-99F9-4FFAEC38C4E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07af9dd340e4a92" Type="http://schemas.openxmlformats.org/officeDocument/2006/relationships/theme" Target="theme/theme2.xml"/><Relationship Id="R1784c5215bb249ab" Type="http://schemas.openxmlformats.org/officeDocument/2006/relationships/slideLayout" Target="../slideLayouts/slideLayout5.xml"/><Relationship Id="R45ebc3c2a381484b" Type="http://schemas.openxmlformats.org/officeDocument/2006/relationships/slideLayout" Target="../slideLayouts/slideLayout3.xml"/><Relationship Id="R559e8808401144e8" Type="http://schemas.openxmlformats.org/officeDocument/2006/relationships/slideLayout" Target="../slideLayouts/slideLayout4.xml"/><Relationship Id="R7844de63500e48e1" Type="http://schemas.openxmlformats.org/officeDocument/2006/relationships/slideLayout" Target="../slideLayouts/slideLayout2.xml"/><Relationship Id="R9a2b639fc3ee441f" Type="http://schemas.openxmlformats.org/officeDocument/2006/relationships/slideLayout" Target="../slideLayouts/slideLayout1.xml"/><Relationship Id="Rf3cc2b7c62814966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a2b639fc3ee441f"/>
    <p:sldLayoutId xmlns:r="http://schemas.openxmlformats.org/officeDocument/2006/relationships" id="2147483650" r:id="R7844de63500e48e1"/>
    <p:sldLayoutId xmlns:r="http://schemas.openxmlformats.org/officeDocument/2006/relationships" id="2147483651" r:id="R45ebc3c2a381484b"/>
    <p:sldLayoutId xmlns:r="http://schemas.openxmlformats.org/officeDocument/2006/relationships" id="2147483652" r:id="R559e8808401144e8"/>
    <p:sldLayoutId xmlns:r="http://schemas.openxmlformats.org/officeDocument/2006/relationships" id="2147483653" r:id="R1784c5215bb249ab"/>
    <p:sldLayoutId xmlns:r="http://schemas.openxmlformats.org/officeDocument/2006/relationships" id="2147483654" r:id="Rf3cc2b7c6281496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5cbe501618346aa" Type="http://schemas.openxmlformats.org/officeDocument/2006/relationships/notesSlide" Target="../notesSlides/notesSlide1.xml"/><Relationship Id="Rdfa932adaacc4bd8" Type="http://schemas.openxmlformats.org/officeDocument/2006/relationships/image" Target="../media/image.png"/><Relationship Id="Rf0ff24f662a9403f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24ea7dc9e3934f8d" Type="http://schemas.openxmlformats.org/officeDocument/2006/relationships/image" Target="../media/image2.png"/><Relationship Id="R77bdca34200545b0" Type="http://schemas.openxmlformats.org/officeDocument/2006/relationships/slideLayout" Target="../slideLayouts/slideLayout6.xml"/><Relationship Id="Re4ab953eb7cb462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9ea3a39e1be64b47" Type="http://schemas.openxmlformats.org/officeDocument/2006/relationships/slideLayout" Target="../slideLayouts/slideLayout6.xml"/><Relationship Id="Rcaaed2e1e0db477c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1369842323784f5e" Type="http://schemas.openxmlformats.org/officeDocument/2006/relationships/slideLayout" Target="../slideLayouts/slideLayout6.xml"/><Relationship Id="R737a2c8aa62c4e43" Type="http://schemas.openxmlformats.org/officeDocument/2006/relationships/notesSlide" Target="../notesSlides/notesSlide4.xml"/><Relationship Id="Rd8319ea900b24bc1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724d3aa7666248dd" Type="http://schemas.openxmlformats.org/officeDocument/2006/relationships/notesSlide" Target="../notesSlides/notesSlide7.xml"/><Relationship Id="R806dd6fc38be43fc" Type="http://schemas.openxmlformats.org/officeDocument/2006/relationships/image" Target="../media/image3.jpeg"/><Relationship Id="Rf4da8ec8eba74df8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6f39d542156d46f0" Type="http://schemas.openxmlformats.org/officeDocument/2006/relationships/image" Target="../media/image2.jpeg"/><Relationship Id="R935ab8306b494d81" Type="http://schemas.openxmlformats.org/officeDocument/2006/relationships/notesSlide" Target="../notesSlides/notesSlide5.xml"/><Relationship Id="Raa72d4ff7ee44d97" Type="http://schemas.openxmlformats.org/officeDocument/2006/relationships/slideLayout" Target="../slideLayouts/slideLayout6.xml"/><Relationship Id="Re6d7ca0540ac4067" Type="http://schemas.openxmlformats.org/officeDocument/2006/relationships/hyperlink" Target="https://soundscape-ai-city-sound-detective.vercel.app/#sound-practice" TargetMode="External"/></Relationships>
</file>

<file path=ppt/slides/_rels/slide7.xml.rels><?xml version='1.0' encoding='UTF-8' standalone='yes'?>
<Relationships xmlns="http://schemas.openxmlformats.org/package/2006/relationships"><Relationship Id="R700f40a8638f41bd" Type="http://schemas.openxmlformats.org/officeDocument/2006/relationships/notesSlide" Target="../notesSlides/notesSlide8.xml"/><Relationship Id="Rbcb405ebed744870" Type="http://schemas.openxmlformats.org/officeDocument/2006/relationships/slideLayout" Target="../slideLayouts/slideLayout6.xml"/><Relationship Id="rId3" Type="http://schemas.openxmlformats.org/officeDocument/2006/relationships/image" Target="../media/image9.jpg"/><Relationship Id="rId4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70fd2c2a19ed410b" Type="http://schemas.openxmlformats.org/officeDocument/2006/relationships/slideLayout" Target="../slideLayouts/slideLayout6.xml"/><Relationship Id="Rccab31a56462431d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11.jpg"/><Relationship Id="rId7" Type="http://schemas.openxmlformats.org/officeDocument/2006/relationships/image" Target="../media/image12.jpg"/><Relationship Id="rId8" Type="http://schemas.openxmlformats.org/officeDocument/2006/relationships/image" Target="../media/image13.jpg"/><Relationship Id="rId9" Type="http://schemas.openxmlformats.org/officeDocument/2006/relationships/image" Target="../media/image14.jpg"/><Relationship Id="rId10" Type="http://schemas.openxmlformats.org/officeDocument/2006/relationships/image" Target="../media/image15.jpg"/><Relationship Id="rId11" Type="http://schemas.openxmlformats.org/officeDocument/2006/relationships/image" Target="../media/image16.jpg"/></Relationships>
</file>

<file path=ppt/slides/_rels/slide9.xml.rels><?xml version='1.0' encoding='UTF-8' standalone='yes'?>
<Relationships xmlns="http://schemas.openxmlformats.org/package/2006/relationships"><Relationship Id="R806dd6fc38be43fc" Type="http://schemas.openxmlformats.org/officeDocument/2006/relationships/image" Target="../media/image3.jpeg"/><Relationship Id="Rf4da8ec8eba74df8" Type="http://schemas.openxmlformats.org/officeDocument/2006/relationships/slideLayout" Target="../slideLayouts/slideLayout6.xml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1.xml"/><Relationship Id="rId5" Type="http://schemas.openxmlformats.org/officeDocument/2006/relationships/image" Target="../media/image17.jpg"/><Relationship Id="rId6" Type="http://schemas.openxmlformats.org/officeDocument/2006/relationships/image" Target="../media/image18.jpg"/><Relationship Id="rId7" Type="http://schemas.openxmlformats.org/officeDocument/2006/relationships/image" Target="../media/image19.jpg"/><Relationship Id="rId8" Type="http://schemas.openxmlformats.org/officeDocument/2006/relationships/image" Target="../media/image20.jpg"/></Relationships>
</file>

<file path=ppt/slides/_rels/slide10.xml.rels><?xml version='1.0' encoding='UTF-8' standalone='yes'?>
<Relationships xmlns="http://schemas.openxmlformats.org/package/2006/relationships"><Relationship Id="R45765c504fb34708" Type="http://schemas.openxmlformats.org/officeDocument/2006/relationships/slideLayout" Target="../slideLayouts/slideLayout6.xml"/><Relationship Id="R96ba12c971d44769" Type="http://schemas.openxmlformats.org/officeDocument/2006/relationships/notesSlide" Target="../notesSlides/notesSlide9.xml"/><Relationship Id="rId3" Type="http://schemas.openxmlformats.org/officeDocument/2006/relationships/image" Target="../media/image21.jpg"/><Relationship Id="rId4" Type="http://schemas.openxmlformats.org/officeDocument/2006/relationships/image" Target="../media/image22.jpg"/></Relationships>
</file>

<file path=ppt/slides/_rels/slide11.xml.rels><?xml version='1.0' encoding='UTF-8' standalone='yes'?>
<Relationships xmlns="http://schemas.openxmlformats.org/package/2006/relationships"><Relationship Id="R42515ceb131f48da" Type="http://schemas.openxmlformats.org/officeDocument/2006/relationships/hyperlink" Target="https://soundscape-ai-city-sound-detective.vercel.app/" TargetMode="External"/><Relationship Id="R44bfcd790eff43c5" Type="http://schemas.openxmlformats.org/officeDocument/2006/relationships/slideLayout" Target="../slideLayouts/slideLayout6.xml"/><Relationship Id="R523b489d03de4322" Type="http://schemas.openxmlformats.org/officeDocument/2006/relationships/hyperlink" Target="https://soundscape-ai-city-sound-detective.vercel.app/" TargetMode="External"/><Relationship Id="R5a93ab29e37246eb" Type="http://schemas.openxmlformats.org/officeDocument/2006/relationships/hyperlink" Target="https://foodlens-school.vercel.app/students" TargetMode="External"/><Relationship Id="Re5fc0a76cfb44f1b" Type="http://schemas.openxmlformats.org/officeDocument/2006/relationships/notesSlide" Target="../notesSlides/notesSlide10.xml"/><Relationship Id="rId6" Type="http://schemas.openxmlformats.org/officeDocument/2006/relationships/image" Target="../media/image8.png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B6129B-A7DE-488A-92CA-A0597B4FA9F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a932adaacc4bd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聲景智探">
            <a:extLst xmlns:a="http://schemas.openxmlformats.org/drawingml/2006/main">
              <a:ext uri="{FF2B5EF4-FFF2-40B4-BE49-F238E27FC236}">
                <a16:creationId xmlns:a16="http://schemas.microsoft.com/office/drawing/2014/main" id="{CF0BDD7D-1592-4BDC-8270-46CD10648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53340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9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69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690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聲景智探</a:t>
            </a:r>
          </a:p>
        </p:txBody>
      </p:sp>
      <p:sp>
        <p:nvSpPr>
          <p:cNvPr id="3" name="跟著耳朵，&#10;發現城市">
            <a:extLst xmlns:a="http://schemas.openxmlformats.org/drawingml/2006/main">
              <a:ext uri="{FF2B5EF4-FFF2-40B4-BE49-F238E27FC236}">
                <a16:creationId xmlns:a16="http://schemas.microsoft.com/office/drawing/2014/main" id="{48A066E7-640F-48B5-A053-6A9A04BD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38475"/>
            <a:ext cx="49530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5265A0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450" b="1">
                <a:solidFill>
                  <a:srgbClr val="5265A0"/>
                </a:solidFill>
                <a:latin typeface="Heiti TC"/>
                <a:ea typeface="Heiti TC"/>
                <a:cs typeface="Heiti TC"/>
              </a:defRPr>
            </a:pPr>
            <a:r>
              <a:rPr sz="3450" b="1">
                <a:solidFill>
                  <a:srgbClr val="5265A0"/>
                </a:solidFill>
                <a:latin typeface="Heiti TC"/>
                <a:ea typeface="Heiti TC"/>
                <a:cs typeface="Heiti TC"/>
              </a:rPr>
              <a:t>跟著耳朵，</a:t>
            </a:r>
          </a:p>
          <a:p xmlns:a="http://schemas.openxmlformats.org/drawingml/2006/main">
            <a:pPr algn="l">
              <a:buNone/>
              <a:defRPr sz="3450" b="1">
                <a:solidFill>
                  <a:srgbClr val="5265A0"/>
                </a:solidFill>
                <a:latin typeface="Heiti TC"/>
                <a:ea typeface="Heiti TC"/>
                <a:cs typeface="Heiti TC"/>
              </a:defRPr>
            </a:pPr>
            <a:r>
              <a:rPr sz="3450" b="1">
                <a:solidFill>
                  <a:srgbClr val="5265A0"/>
                </a:solidFill>
                <a:latin typeface="Heiti TC"/>
                <a:ea typeface="Heiti TC"/>
                <a:cs typeface="Heiti TC"/>
              </a:rPr>
              <a:t>發現城市</a:t>
            </a:r>
          </a:p>
        </p:txBody>
      </p:sp>
      <p:sp>
        <p:nvSpPr>
          <p:cNvPr id="4" name="泰北聽路隊">
            <a:extLst xmlns:a="http://schemas.openxmlformats.org/drawingml/2006/main">
              <a:ext uri="{FF2B5EF4-FFF2-40B4-BE49-F238E27FC236}">
                <a16:creationId xmlns:a16="http://schemas.microsoft.com/office/drawing/2014/main" id="{5AF4E1EB-48D8-414E-96CF-978984A54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10125"/>
            <a:ext cx="5286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325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2325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泰北聽路隊</a:t>
            </a:r>
          </a:p>
        </p:txBody>
      </p:sp>
      <p:sp>
        <p:nvSpPr>
          <p:cNvPr id="5" name="泰北國際雙語學校-國小部">
            <a:extLst xmlns:a="http://schemas.openxmlformats.org/drawingml/2006/main">
              <a:ext uri="{FF2B5EF4-FFF2-40B4-BE49-F238E27FC236}">
                <a16:creationId xmlns:a16="http://schemas.microsoft.com/office/drawing/2014/main" id="{5E093C08-1450-45F9-8BE7-2B88A5635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14950"/>
            <a:ext cx="561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2025" b="0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泰北國際雙語學校-國小部</a:t>
            </a:r>
          </a:p>
        </p:txBody>
      </p:sp>
      <p:sp>
        <p:nvSpPr>
          <p:cNvPr id="6" name="AI 概念插畫">
            <a:extLst xmlns:a="http://schemas.openxmlformats.org/drawingml/2006/main">
              <a:ext uri="{FF2B5EF4-FFF2-40B4-BE49-F238E27FC236}">
                <a16:creationId xmlns:a16="http://schemas.microsoft.com/office/drawing/2014/main" id="{065040A7-0BF5-446A-85FE-3B653268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500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AI 概念插畫</a:t>
            </a:r>
          </a:p>
        </p:txBody>
      </p:sp>
    </p:spTree>
    <p:extLst>
      <p:ext uri="{BB962C8B-B14F-4D97-AF65-F5344CB8AC3E}">
        <p14:creationId xmlns:p14="http://schemas.microsoft.com/office/powerpoint/2010/main" val="18185991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60BF702A-AABA-4C53-A359-D0618AA16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5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360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同一條路，會聽到什麼？</a:t>
            </a:r>
          </a:p>
        </p:txBody>
      </p:sp>
      <p:sp>
        <p:nvSpPr>
          <p:cNvPr id="2" name="聲景智探  泰北聽路隊">
            <a:extLst xmlns:a="http://schemas.openxmlformats.org/drawingml/2006/main">
              <a:ext uri="{FF2B5EF4-FFF2-40B4-BE49-F238E27FC236}">
                <a16:creationId xmlns:a16="http://schemas.microsoft.com/office/drawing/2014/main" id="{04CF62F6-7008-48C0-9984-1334EA9D1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聲景智探  泰北聽路隊</a:t>
            </a:r>
          </a:p>
        </p:txBody>
      </p:sp>
      <p:sp>
        <p:nvSpPr>
          <p:cNvPr id="3" name="02 / 10">
            <a:extLst xmlns:a="http://schemas.openxmlformats.org/drawingml/2006/main">
              <a:ext uri="{FF2B5EF4-FFF2-40B4-BE49-F238E27FC236}">
                <a16:creationId xmlns:a16="http://schemas.microsoft.com/office/drawing/2014/main" id="{27CD6421-A04D-42F2-BDF4-3D2F4324A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02 / 11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8180E4-C35F-4D28-B7EA-941FCA568A5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ea7dc9e3934f8d"/>
          <a:stretch xmlns:a="http://schemas.openxmlformats.org/drawingml/2006/main"/>
        </p:blipFill>
        <p:spPr>
          <a:xfrm xmlns:a="http://schemas.openxmlformats.org/drawingml/2006/main">
            <a:off x="762000" y="1828800"/>
            <a:ext cx="4076700" cy="4076700"/>
          </a:xfrm>
          <a:prstGeom xmlns:a="http://schemas.openxmlformats.org/drawingml/2006/main" prst="rect">
            <a:avLst/>
          </a:prstGeom>
        </p:spPr>
      </p:pic>
      <p:sp>
        <p:nvSpPr>
          <p:cNvPr id="5" name="鳥叫、車聲，&#10;還是人聲？">
            <a:extLst xmlns:a="http://schemas.openxmlformats.org/drawingml/2006/main">
              <a:ext uri="{FF2B5EF4-FFF2-40B4-BE49-F238E27FC236}">
                <a16:creationId xmlns:a16="http://schemas.microsoft.com/office/drawing/2014/main" id="{55919654-3FB9-49CB-AF8E-3BE833EE7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971675"/>
            <a:ext cx="5819775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525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525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3525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鳥叫、車聲，</a:t>
            </a:r>
          </a:p>
          <a:p xmlns:a="http://schemas.openxmlformats.org/drawingml/2006/main">
            <a:pPr algn="l">
              <a:buNone/>
              <a:defRPr sz="3525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3525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還是人聲？</a:t>
            </a:r>
          </a:p>
        </p:txBody>
      </p:sp>
      <p:sp>
        <p:nvSpPr>
          <p:cNvPr id="6" name="換個地方或時間，&#10;會不會不一樣？">
            <a:extLst xmlns:a="http://schemas.openxmlformats.org/drawingml/2006/main">
              <a:ext uri="{FF2B5EF4-FFF2-40B4-BE49-F238E27FC236}">
                <a16:creationId xmlns:a16="http://schemas.microsoft.com/office/drawing/2014/main" id="{C97FECED-C361-4518-9144-B750579A9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971925"/>
            <a:ext cx="5810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5265A0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850" b="1">
                <a:solidFill>
                  <a:srgbClr val="5265A0"/>
                </a:solidFill>
                <a:latin typeface="Heiti TC"/>
                <a:ea typeface="Heiti TC"/>
                <a:cs typeface="Heiti TC"/>
              </a:defRPr>
            </a:pPr>
            <a:r>
              <a:rPr sz="2850" b="1">
                <a:solidFill>
                  <a:srgbClr val="5265A0"/>
                </a:solidFill>
                <a:latin typeface="Heiti TC"/>
                <a:ea typeface="Heiti TC"/>
                <a:cs typeface="Heiti TC"/>
              </a:rPr>
              <a:t>換個地方或時間，</a:t>
            </a:r>
          </a:p>
          <a:p xmlns:a="http://schemas.openxmlformats.org/drawingml/2006/main">
            <a:pPr algn="l">
              <a:buNone/>
              <a:defRPr sz="2850" b="1">
                <a:solidFill>
                  <a:srgbClr val="5265A0"/>
                </a:solidFill>
                <a:latin typeface="Heiti TC"/>
                <a:ea typeface="Heiti TC"/>
                <a:cs typeface="Heiti TC"/>
              </a:defRPr>
            </a:pPr>
            <a:r>
              <a:rPr sz="2850" b="1">
                <a:solidFill>
                  <a:srgbClr val="5265A0"/>
                </a:solidFill>
                <a:latin typeface="Heiti TC"/>
                <a:ea typeface="Heiti TC"/>
                <a:cs typeface="Heiti TC"/>
              </a:rPr>
              <a:t>會不會不一樣？</a:t>
            </a:r>
          </a:p>
        </p:txBody>
      </p:sp>
      <p:sp>
        <p:nvSpPr>
          <p:cNvPr id="7" name="我們想做一張聽得到的地圖">
            <a:extLst xmlns:a="http://schemas.openxmlformats.org/drawingml/2006/main">
              <a:ext uri="{FF2B5EF4-FFF2-40B4-BE49-F238E27FC236}">
                <a16:creationId xmlns:a16="http://schemas.microsoft.com/office/drawing/2014/main" id="{B7B75488-030A-41CF-A840-8E3980811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5572125"/>
            <a:ext cx="5810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217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我們想做一張聽得到的地圖</a:t>
            </a:r>
          </a:p>
        </p:txBody>
      </p:sp>
      <p:sp>
        <p:nvSpPr>
          <p:cNvPr id="8" name="AI 概念插畫">
            <a:extLst xmlns:a="http://schemas.openxmlformats.org/drawingml/2006/main">
              <a:ext uri="{FF2B5EF4-FFF2-40B4-BE49-F238E27FC236}">
                <a16:creationId xmlns:a16="http://schemas.microsoft.com/office/drawing/2014/main" id="{60400334-3668-4DB8-B2C0-4A5485A4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1980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57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AI 概念插畫</a:t>
            </a:r>
          </a:p>
        </p:txBody>
      </p:sp>
    </p:spTree>
    <p:extLst>
      <p:ext uri="{BB962C8B-B14F-4D97-AF65-F5344CB8AC3E}">
        <p14:creationId xmlns:p14="http://schemas.microsoft.com/office/powerpoint/2010/main" val="3148094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CB4355-C6B8-4C37-B416-DCC93B20D3B0}"/>
              </a:ext>
            </a:extLst>
          </p:cNvPr>
          <p:cNvCxnSpPr/>
          <p:nvPr/>
        </p:nvCxnSpPr>
        <p:spPr>
          <a:xfrm xmlns:a="http://schemas.openxmlformats.org/drawingml/2006/main">
            <a:off x="8048625" y="3257550"/>
            <a:ext cx="504825" cy="13430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265A0"/>
            </a:solidFill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D0DB8E-693D-4953-A857-09FB4C141DC1}"/>
              </a:ext>
            </a:extLst>
          </p:cNvPr>
          <p:cNvCxnSpPr/>
          <p:nvPr/>
        </p:nvCxnSpPr>
        <p:spPr>
          <a:xfrm xmlns:a="http://schemas.openxmlformats.org/drawingml/2006/main" flipV="1">
            <a:off x="8048625" y="2466975"/>
            <a:ext cx="504825" cy="7905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265A0"/>
            </a:solidFill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B2B261-3D31-48E9-8447-7D4AB5BF2E58}"/>
              </a:ext>
            </a:extLst>
          </p:cNvPr>
          <p:cNvCxnSpPr/>
          <p:nvPr/>
        </p:nvCxnSpPr>
        <p:spPr>
          <a:xfrm xmlns:a="http://schemas.openxmlformats.org/drawingml/2006/main" flipH="1">
            <a:off x="3743325" y="3257550"/>
            <a:ext cx="400050" cy="13430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265A0"/>
            </a:solidFill>
          </a:ln>
        </p:spPr>
      </p:cxn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11DBE9-93BA-491D-B55E-D52E2A429DE6}"/>
              </a:ext>
            </a:extLst>
          </p:cNvPr>
          <p:cNvCxnSpPr/>
          <p:nvPr/>
        </p:nvCxnSpPr>
        <p:spPr>
          <a:xfrm xmlns:a="http://schemas.openxmlformats.org/drawingml/2006/main" flipH="1" flipV="1">
            <a:off x="3743325" y="2466975"/>
            <a:ext cx="400050" cy="7905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265A0"/>
            </a:solidFill>
          </a:ln>
        </p:spPr>
      </p:cxnSp>
      <p:sp>
        <p:nvSpPr>
          <p:cNvPr id="14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85E52D29-917D-4423-A43D-67EB3CEF4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5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360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破案前，先列疑問</a:t>
            </a:r>
          </a:p>
        </p:txBody>
      </p:sp>
      <p:sp>
        <p:nvSpPr>
          <p:cNvPr id="2" name="聲景智探  泰北聽路隊">
            <a:extLst xmlns:a="http://schemas.openxmlformats.org/drawingml/2006/main">
              <a:ext uri="{FF2B5EF4-FFF2-40B4-BE49-F238E27FC236}">
                <a16:creationId xmlns:a16="http://schemas.microsoft.com/office/drawing/2014/main" id="{76A8B81E-02E4-490B-89E5-349353E49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聲景智探  泰北聽路隊</a:t>
            </a:r>
          </a:p>
        </p:txBody>
      </p:sp>
      <p:sp>
        <p:nvSpPr>
          <p:cNvPr id="3" name="03 / 10">
            <a:extLst xmlns:a="http://schemas.openxmlformats.org/drawingml/2006/main">
              <a:ext uri="{FF2B5EF4-FFF2-40B4-BE49-F238E27FC236}">
                <a16:creationId xmlns:a16="http://schemas.microsoft.com/office/drawing/2014/main" id="{14735290-8B4E-4696-9776-C33BB357B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03 / 11</a:t>
            </a:r>
          </a:p>
        </p:txBody>
      </p:sp>
      <p:sp>
        <p:nvSpPr>
          <p:cNvPr id="4" name="mindmap-center">
            <a:extLst xmlns:a="http://schemas.openxmlformats.org/drawingml/2006/main">
              <a:ext uri="{FF2B5EF4-FFF2-40B4-BE49-F238E27FC236}">
                <a16:creationId xmlns:a16="http://schemas.microsoft.com/office/drawing/2014/main" id="{6EEBCEE1-36F5-4470-BE93-4D62C4D57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638425"/>
            <a:ext cx="3905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3225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buNone/>
              <a:defRPr sz="3225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3225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這裡的聲音</a:t>
            </a:r>
          </a:p>
          <a:p xmlns:a="http://schemas.openxmlformats.org/drawingml/2006/main">
            <a:pPr algn="ctr">
              <a:buNone/>
              <a:defRPr sz="3225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3225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從哪裡來？</a:t>
            </a:r>
          </a:p>
        </p:txBody>
      </p:sp>
      <p:sp>
        <p:nvSpPr>
          <p:cNvPr id="5" name="mindmap-branch-0">
            <a:extLst xmlns:a="http://schemas.openxmlformats.org/drawingml/2006/main">
              <a:ext uri="{FF2B5EF4-FFF2-40B4-BE49-F238E27FC236}">
                <a16:creationId xmlns:a16="http://schemas.microsoft.com/office/drawing/2014/main" id="{EC0D7C28-23F8-493A-B183-518B037E6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76450"/>
            <a:ext cx="30003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325" b="1">
                <a:solidFill>
                  <a:srgbClr val="5265A0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buNone/>
              <a:defRPr sz="2325" b="1">
                <a:solidFill>
                  <a:srgbClr val="5265A0"/>
                </a:solidFill>
                <a:latin typeface="Heiti TC"/>
                <a:ea typeface="Heiti TC"/>
                <a:cs typeface="Heiti TC"/>
              </a:defRPr>
            </a:pPr>
            <a:r>
              <a:rPr sz="2325" b="1">
                <a:solidFill>
                  <a:srgbClr val="5265A0"/>
                </a:solidFill>
                <a:latin typeface="Heiti TC"/>
                <a:ea typeface="Heiti TC"/>
                <a:cs typeface="Heiti TC"/>
              </a:rPr>
              <a:t>鳥叫還是車聲？</a:t>
            </a:r>
          </a:p>
        </p:txBody>
      </p:sp>
      <p:sp>
        <p:nvSpPr>
          <p:cNvPr id="7" name="mindmap-branch-1">
            <a:extLst xmlns:a="http://schemas.openxmlformats.org/drawingml/2006/main">
              <a:ext uri="{FF2B5EF4-FFF2-40B4-BE49-F238E27FC236}">
                <a16:creationId xmlns:a16="http://schemas.microsoft.com/office/drawing/2014/main" id="{0EE35C7C-E8CD-4A50-A439-FCC02864C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0050"/>
            <a:ext cx="30003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325" b="1">
                <a:solidFill>
                  <a:srgbClr val="5265A0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buNone/>
              <a:defRPr sz="2325" b="1">
                <a:solidFill>
                  <a:srgbClr val="5265A0"/>
                </a:solidFill>
                <a:latin typeface="Heiti TC"/>
                <a:ea typeface="Heiti TC"/>
                <a:cs typeface="Heiti TC"/>
              </a:defRPr>
            </a:pPr>
            <a:r>
              <a:rPr sz="2325" b="1">
                <a:solidFill>
                  <a:srgbClr val="5265A0"/>
                </a:solidFill>
                <a:latin typeface="Heiti TC"/>
                <a:ea typeface="Heiti TC"/>
                <a:cs typeface="Heiti TC"/>
              </a:rPr>
              <a:t>同地不同時間？</a:t>
            </a:r>
          </a:p>
        </p:txBody>
      </p:sp>
      <p:sp>
        <p:nvSpPr>
          <p:cNvPr id="9" name="mindmap-branch-2">
            <a:extLst xmlns:a="http://schemas.openxmlformats.org/drawingml/2006/main">
              <a:ext uri="{FF2B5EF4-FFF2-40B4-BE49-F238E27FC236}">
                <a16:creationId xmlns:a16="http://schemas.microsoft.com/office/drawing/2014/main" id="{CA90B668-AB00-4F85-A3DC-8B6BB164E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076450"/>
            <a:ext cx="30003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325" b="1">
                <a:solidFill>
                  <a:srgbClr val="5265A0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buNone/>
              <a:defRPr sz="2325" b="1">
                <a:solidFill>
                  <a:srgbClr val="5265A0"/>
                </a:solidFill>
                <a:latin typeface="Heiti TC"/>
                <a:ea typeface="Heiti TC"/>
                <a:cs typeface="Heiti TC"/>
              </a:defRPr>
            </a:pPr>
            <a:r>
              <a:rPr sz="2325" b="1">
                <a:solidFill>
                  <a:srgbClr val="5265A0"/>
                </a:solidFill>
                <a:latin typeface="Heiti TC"/>
                <a:ea typeface="Heiti TC"/>
                <a:cs typeface="Heiti TC"/>
              </a:rPr>
              <a:t>換個地點呢？</a:t>
            </a:r>
          </a:p>
        </p:txBody>
      </p:sp>
      <p:sp>
        <p:nvSpPr>
          <p:cNvPr id="11" name="mindmap-branch-3">
            <a:extLst xmlns:a="http://schemas.openxmlformats.org/drawingml/2006/main">
              <a:ext uri="{FF2B5EF4-FFF2-40B4-BE49-F238E27FC236}">
                <a16:creationId xmlns:a16="http://schemas.microsoft.com/office/drawing/2014/main" id="{A4E1353F-66D3-45B9-8427-D128D924A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210050"/>
            <a:ext cx="30003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325" b="1">
                <a:solidFill>
                  <a:srgbClr val="5265A0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buNone/>
              <a:defRPr sz="2325" b="1">
                <a:solidFill>
                  <a:srgbClr val="5265A0"/>
                </a:solidFill>
                <a:latin typeface="Heiti TC"/>
                <a:ea typeface="Heiti TC"/>
                <a:cs typeface="Heiti TC"/>
              </a:defRPr>
            </a:pPr>
            <a:r>
              <a:rPr sz="2325" b="1">
                <a:solidFill>
                  <a:srgbClr val="5265A0"/>
                </a:solidFill>
                <a:latin typeface="Heiti TC"/>
                <a:ea typeface="Heiti TC"/>
                <a:cs typeface="Heiti TC"/>
              </a:rPr>
              <a:t>回來再聽一次？</a:t>
            </a:r>
          </a:p>
        </p:txBody>
      </p:sp>
      <p:sp>
        <p:nvSpPr>
          <p:cNvPr id="13" name="依既有手寫方向整理，問題要能親自去聽">
            <a:extLst xmlns:a="http://schemas.openxmlformats.org/drawingml/2006/main">
              <a:ext uri="{FF2B5EF4-FFF2-40B4-BE49-F238E27FC236}">
                <a16:creationId xmlns:a16="http://schemas.microsoft.com/office/drawing/2014/main" id="{BBEB1177-0465-4F27-9BCD-78FBF56DC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76900"/>
            <a:ext cx="942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17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buNone/>
              <a:defRPr sz="217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217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每次先挑一個問題</a:t>
            </a:r>
          </a:p>
        </p:txBody>
      </p:sp>
    </p:spTree>
    <p:extLst>
      <p:ext uri="{BB962C8B-B14F-4D97-AF65-F5344CB8AC3E}">
        <p14:creationId xmlns:p14="http://schemas.microsoft.com/office/powerpoint/2010/main" val="4201341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BDCE567C-5F6B-4B28-8F27-5EF2B2797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5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360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我想去這裡聽</a:t>
            </a:r>
          </a:p>
        </p:txBody>
      </p:sp>
      <p:sp>
        <p:nvSpPr>
          <p:cNvPr id="2" name="聲景智探  泰北聽路隊">
            <a:extLst xmlns:a="http://schemas.openxmlformats.org/drawingml/2006/main">
              <a:ext uri="{FF2B5EF4-FFF2-40B4-BE49-F238E27FC236}">
                <a16:creationId xmlns:a16="http://schemas.microsoft.com/office/drawing/2014/main" id="{8B4F3507-6E97-4127-B80E-210557887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聲景智探  泰北聽路隊</a:t>
            </a:r>
          </a:p>
        </p:txBody>
      </p:sp>
      <p:sp>
        <p:nvSpPr>
          <p:cNvPr id="3" name="04 / 10">
            <a:extLst xmlns:a="http://schemas.openxmlformats.org/drawingml/2006/main">
              <a:ext uri="{FF2B5EF4-FFF2-40B4-BE49-F238E27FC236}">
                <a16:creationId xmlns:a16="http://schemas.microsoft.com/office/drawing/2014/main" id="{A1223488-2BB1-414D-AFC9-62DC62E9C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04 / 11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44B1EA-9178-4885-8AAB-0F23383252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319ea900b24bc1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9600" y="1864826"/>
            <a:ext cx="7286625" cy="3909397"/>
          </a:xfrm>
          <a:prstGeom xmlns:a="http://schemas.openxmlformats.org/drawingml/2006/main" prst="rect">
            <a:avLst/>
          </a:prstGeom>
        </p:spPr>
      </p:pic>
      <p:sp>
        <p:nvSpPr>
          <p:cNvPr id="5" name="50">
            <a:extLst xmlns:a="http://schemas.openxmlformats.org/drawingml/2006/main">
              <a:ext uri="{FF2B5EF4-FFF2-40B4-BE49-F238E27FC236}">
                <a16:creationId xmlns:a16="http://schemas.microsoft.com/office/drawing/2014/main" id="{D5B70872-0BDA-462E-9A91-BB8CA7E2E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00250"/>
            <a:ext cx="3086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5268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625" b="1">
                <a:solidFill>
                  <a:srgbClr val="5268AC"/>
                </a:solidFill>
                <a:latin typeface="Heiti TC"/>
                <a:ea typeface="Heiti TC"/>
                <a:cs typeface="Heiti TC"/>
              </a:defRPr>
            </a:pPr>
            <a:r>
              <a:rPr sz="2625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選地點</a:t>
            </a:r>
          </a:p>
        </p:txBody>
      </p:sp>
      <p:sp>
        <p:nvSpPr>
          <p:cNvPr id="6" name="個政府參考地點">
            <a:extLst xmlns:a="http://schemas.openxmlformats.org/drawingml/2006/main">
              <a:ext uri="{FF2B5EF4-FFF2-40B4-BE49-F238E27FC236}">
                <a16:creationId xmlns:a16="http://schemas.microsoft.com/office/drawing/2014/main" id="{7A99BB23-5D20-4FED-A766-69A5939BD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52775"/>
            <a:ext cx="3067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27325E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400" b="0">
                <a:solidFill>
                  <a:srgbClr val="27325E"/>
                </a:solidFill>
                <a:latin typeface="Heiti TC"/>
                <a:ea typeface="Heiti TC"/>
                <a:cs typeface="Heiti TC"/>
              </a:defRPr>
            </a:pPr>
            <a:r>
              <a:rPr sz="24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翻一個故事</a:t>
            </a:r>
          </a:p>
        </p:txBody>
      </p:sp>
      <p:sp>
        <p:nvSpPr>
          <p:cNvPr id="7" name="24 公園&#10;26 交通據點">
            <a:extLst xmlns:a="http://schemas.openxmlformats.org/drawingml/2006/main">
              <a:ext uri="{FF2B5EF4-FFF2-40B4-BE49-F238E27FC236}">
                <a16:creationId xmlns:a16="http://schemas.microsoft.com/office/drawing/2014/main" id="{31AC8A8D-13A3-4B94-8696-AC9E32286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210050"/>
            <a:ext cx="3086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27325E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400" b="0">
                <a:solidFill>
                  <a:srgbClr val="27325E"/>
                </a:solidFill>
                <a:latin typeface="Heiti TC"/>
                <a:ea typeface="Heiti TC"/>
                <a:cs typeface="Heiti TC"/>
              </a:defRPr>
            </a:pPr>
            <a:r>
              <a:rPr sz="24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想一個問題</a:t>
            </a:r>
          </a:p>
        </p:txBody>
      </p:sp>
      <p:sp>
        <p:nvSpPr>
          <p:cNvPr id="8" name="位置是起點&#10;聲音要自己錄">
            <a:extLst xmlns:a="http://schemas.openxmlformats.org/drawingml/2006/main">
              <a:ext uri="{FF2B5EF4-FFF2-40B4-BE49-F238E27FC236}">
                <a16:creationId xmlns:a16="http://schemas.microsoft.com/office/drawing/2014/main" id="{674214C2-40D8-4ABF-A074-7E25F8CD1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305425"/>
            <a:ext cx="3086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950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950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故事是情境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950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聲音自己去錄</a:t>
            </a:r>
          </a:p>
        </p:txBody>
      </p:sp>
    </p:spTree>
    <p:extLst>
      <p:ext uri="{BB962C8B-B14F-4D97-AF65-F5344CB8AC3E}">
        <p14:creationId xmlns:p14="http://schemas.microsoft.com/office/powerpoint/2010/main" val="113372664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4E832491-8FA5-4DBF-8DD8-C61B54EF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5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360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盲聽小遊戲</a:t>
            </a:r>
          </a:p>
        </p:txBody>
      </p:sp>
      <p:sp>
        <p:nvSpPr>
          <p:cNvPr id="2" name="聲景智探  泰北聽路隊">
            <a:extLst xmlns:a="http://schemas.openxmlformats.org/drawingml/2006/main">
              <a:ext uri="{FF2B5EF4-FFF2-40B4-BE49-F238E27FC236}">
                <a16:creationId xmlns:a16="http://schemas.microsoft.com/office/drawing/2014/main" id="{6D5F24C5-39F6-4F0F-BE10-7EE5AD3D7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聲景智探  泰北聽路隊</a:t>
            </a:r>
          </a:p>
        </p:txBody>
      </p:sp>
      <p:sp>
        <p:nvSpPr>
          <p:cNvPr id="3" name="07 / 10">
            <a:extLst xmlns:a="http://schemas.openxmlformats.org/drawingml/2006/main">
              <a:ext uri="{FF2B5EF4-FFF2-40B4-BE49-F238E27FC236}">
                <a16:creationId xmlns:a16="http://schemas.microsoft.com/office/drawing/2014/main" id="{BA526737-E8FB-4B02-BB20-450F9CC0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05 / 11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70DCF0-C296-491B-9F0A-DF3E404188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6dd6fc38be43fc"/>
          <a:srcRect xmlns:a="http://schemas.openxmlformats.org/drawingml/2006/main" l="7500" t="8333" r="7500" b="16500"/>
          <a:stretch xmlns:a="http://schemas.openxmlformats.org/drawingml/2006/main"/>
        </p:blipFill>
        <p:spPr>
          <a:xfrm xmlns:a="http://schemas.openxmlformats.org/drawingml/2006/main">
            <a:off x="762000" y="1701800"/>
            <a:ext cx="6604000" cy="4380025"/>
          </a:xfrm>
          <a:prstGeom xmlns:a="http://schemas.openxmlformats.org/drawingml/2006/main" prst="rect">
            <a:avLst/>
          </a:prstGeom>
          <a:ln xmlns:a="http://schemas.openxmlformats.org/drawingml/2006/main" w="15875">
            <a:solidFill>
              <a:srgbClr val="27325E"/>
            </a:solidFill>
          </a:ln>
        </p:spPr>
      </p:pic>
      <p:sp>
        <p:nvSpPr>
          <p:cNvPr id="16" name="blind-listen-caption">
            <a:extLst xmlns:a="http://schemas.openxmlformats.org/drawingml/2006/main">
              <a:ext uri="{FF2B5EF4-FFF2-40B4-BE49-F238E27FC236}">
                <a16:creationId xmlns:a16="http://schemas.microsoft.com/office/drawing/2014/main" id="{4A6EAB89-B649-4D66-82FC-303582902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924050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625" b="1">
                <a:solidFill>
                  <a:srgbClr val="5268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625" b="1">
                <a:solidFill>
                  <a:srgbClr val="5268AC"/>
                </a:solidFill>
                <a:latin typeface="Heiti TC"/>
                <a:ea typeface="Heiti TC"/>
                <a:cs typeface="Heiti TC"/>
              </a:defRPr>
            </a:pPr>
            <a:r>
              <a:rPr sz="2625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先聽，再選</a:t>
            </a:r>
          </a:p>
        </p:txBody>
      </p:sp>
      <p:sp>
        <p:nvSpPr>
          <p:cNvPr id="17" name="blind-listen-caption">
            <a:extLst xmlns:a="http://schemas.openxmlformats.org/drawingml/2006/main">
              <a:ext uri="{FF2B5EF4-FFF2-40B4-BE49-F238E27FC236}">
                <a16:creationId xmlns:a16="http://schemas.microsoft.com/office/drawing/2014/main" id="{840D8991-2DA7-4604-9A57-3539A436C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000375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325" b="0">
                <a:solidFill>
                  <a:srgbClr val="27325E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27325E"/>
                </a:solidFill>
                <a:latin typeface="Heiti TC"/>
                <a:ea typeface="Heiti TC"/>
                <a:cs typeface="Heiti TC"/>
              </a:defRPr>
            </a:pPr>
            <a:r>
              <a:rPr sz="2325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「我聽到什麼？」</a:t>
            </a:r>
          </a:p>
        </p:txBody>
      </p:sp>
      <p:sp>
        <p:nvSpPr>
          <p:cNvPr id="18" name="blind-listen-caption">
            <a:extLst xmlns:a="http://schemas.openxmlformats.org/drawingml/2006/main">
              <a:ext uri="{FF2B5EF4-FFF2-40B4-BE49-F238E27FC236}">
                <a16:creationId xmlns:a16="http://schemas.microsoft.com/office/drawing/2014/main" id="{FE01B621-7D14-4CE8-8374-F6DAFF480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71925"/>
            <a:ext cx="3143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2325" b="0">
                <a:solidFill>
                  <a:srgbClr val="27325E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27325E"/>
                </a:solidFill>
                <a:latin typeface="Heiti TC"/>
                <a:ea typeface="Heiti TC"/>
                <a:cs typeface="Heiti TC"/>
              </a:defRPr>
            </a:pPr>
            <a:r>
              <a:rPr sz="2325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猜完再看 AI</a:t>
            </a:r>
          </a:p>
          <a:p xmlns:a="http://schemas.openxmlformats.org/drawingml/2006/main">
            <a:pPr>
              <a:defRPr sz="2325" b="0">
                <a:solidFill>
                  <a:srgbClr val="27325E"/>
                </a:solidFill>
                <a:latin typeface="Heiti TC"/>
                <a:ea typeface="Heiti TC"/>
                <a:cs typeface="Heiti TC"/>
              </a:defRPr>
            </a:pPr>
            <a:r>
              <a:rPr sz="2325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也說說我的理由</a:t>
            </a:r>
          </a:p>
        </p:txBody>
      </p:sp>
      <p:sp>
        <p:nvSpPr>
          <p:cNvPr id="19" name="blind-listen-caption">
            <a:extLst xmlns:a="http://schemas.openxmlformats.org/drawingml/2006/main">
              <a:ext uri="{FF2B5EF4-FFF2-40B4-BE49-F238E27FC236}">
                <a16:creationId xmlns:a16="http://schemas.microsoft.com/office/drawing/2014/main" id="{13298F39-A5EE-4FEC-B720-13DD2167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391150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950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950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猜不同也沒關係</a:t>
            </a:r>
          </a:p>
        </p:txBody>
      </p:sp>
    </p:spTree>
    <p:extLst>
      <p:ext uri="{BB962C8B-B14F-4D97-AF65-F5344CB8AC3E}">
        <p14:creationId xmlns:p14="http://schemas.microsoft.com/office/powerpoint/2010/main" val="195323453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6BFAA577-F335-4507-AB02-D6ECF41F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5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360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AI 和我一起聽</a:t>
            </a:r>
          </a:p>
        </p:txBody>
      </p:sp>
      <p:sp>
        <p:nvSpPr>
          <p:cNvPr id="2" name="聲景智探  泰北聽路隊">
            <a:extLst xmlns:a="http://schemas.openxmlformats.org/drawingml/2006/main">
              <a:ext uri="{FF2B5EF4-FFF2-40B4-BE49-F238E27FC236}">
                <a16:creationId xmlns:a16="http://schemas.microsoft.com/office/drawing/2014/main" id="{604A50C4-5894-4025-BE62-B5683808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聲景智探  泰北聽路隊</a:t>
            </a:r>
          </a:p>
        </p:txBody>
      </p:sp>
      <p:sp>
        <p:nvSpPr>
          <p:cNvPr id="3" name="05 / 10">
            <a:extLst xmlns:a="http://schemas.openxmlformats.org/drawingml/2006/main">
              <a:ext uri="{FF2B5EF4-FFF2-40B4-BE49-F238E27FC236}">
                <a16:creationId xmlns:a16="http://schemas.microsoft.com/office/drawing/2014/main" id="{88DED55B-5A6E-471D-905D-AA592A30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06 / 11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AB2E4-FBCF-4429-A82F-CF3A325EC9E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39d542156d46f0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9600" y="1708920"/>
            <a:ext cx="7286625" cy="4078335"/>
          </a:xfrm>
          <a:prstGeom xmlns:a="http://schemas.openxmlformats.org/drawingml/2006/main" prst="rect">
            <a:avLst/>
          </a:prstGeom>
        </p:spPr>
      </p:pic>
      <p:sp>
        <p:nvSpPr>
          <p:cNvPr id="5" name="真實 YAMNet">
            <a:extLst xmlns:a="http://schemas.openxmlformats.org/drawingml/2006/main">
              <a:ext uri="{FF2B5EF4-FFF2-40B4-BE49-F238E27FC236}">
                <a16:creationId xmlns:a16="http://schemas.microsoft.com/office/drawing/2014/main" id="{D3200A23-C789-45D7-9CDA-93A205173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866900"/>
            <a:ext cx="31432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5268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625" b="1">
                <a:solidFill>
                  <a:srgbClr val="5268AC"/>
                </a:solidFill>
                <a:latin typeface="Heiti TC"/>
                <a:ea typeface="Heiti TC"/>
                <a:cs typeface="Heiti TC"/>
              </a:defRPr>
            </a:pPr>
            <a:r>
              <a:rPr sz="2625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我先猜，AI 再猜</a:t>
            </a:r>
          </a:p>
        </p:txBody>
      </p:sp>
      <p:sp>
        <p:nvSpPr>
          <p:cNvPr id="6" name="AI 提供聲音線索">
            <a:extLst xmlns:a="http://schemas.openxmlformats.org/drawingml/2006/main">
              <a:ext uri="{FF2B5EF4-FFF2-40B4-BE49-F238E27FC236}">
                <a16:creationId xmlns:a16="http://schemas.microsoft.com/office/drawing/2014/main" id="{C0E62EE6-1B1D-4CCC-BE59-C2069CF03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14675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0">
                <a:solidFill>
                  <a:srgbClr val="27325E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475" b="0">
                <a:solidFill>
                  <a:srgbClr val="27325E"/>
                </a:solidFill>
                <a:latin typeface="Heiti TC"/>
                <a:ea typeface="Heiti TC"/>
                <a:cs typeface="Heiti TC"/>
              </a:defRPr>
            </a:pPr>
            <a:r>
              <a:rPr sz="2475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看圖，找聲音</a:t>
            </a:r>
          </a:p>
        </p:txBody>
      </p:sp>
      <p:sp>
        <p:nvSpPr>
          <p:cNvPr id="7" name="我再聽一次，&#10;寫自己的依據">
            <a:extLst xmlns:a="http://schemas.openxmlformats.org/drawingml/2006/main">
              <a:ext uri="{FF2B5EF4-FFF2-40B4-BE49-F238E27FC236}">
                <a16:creationId xmlns:a16="http://schemas.microsoft.com/office/drawing/2014/main" id="{CBBFB313-DED3-47A3-ABC2-C8A2FC962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086225"/>
            <a:ext cx="314325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27325E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400" b="0">
                <a:solidFill>
                  <a:srgbClr val="27325E"/>
                </a:solidFill>
                <a:latin typeface="Heiti TC"/>
                <a:ea typeface="Heiti TC"/>
                <a:cs typeface="Heiti TC"/>
              </a:defRPr>
            </a:pPr>
            <a:r>
              <a:rPr sz="24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重聽一次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27325E"/>
                </a:solidFill>
                <a:latin typeface="Heiti TC"/>
                <a:ea typeface="Heiti TC"/>
                <a:cs typeface="Heiti TC"/>
              </a:defRPr>
            </a:pPr>
            <a:r>
              <a:rPr sz="24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說說我的理由</a:t>
            </a:r>
          </a:p>
        </p:txBody>
      </p:sp>
      <p:sp>
        <p:nvSpPr>
          <p:cNvPr id="8" name="3 段授權原音可先暖身">
            <a:extLst xmlns:a="http://schemas.openxmlformats.org/drawingml/2006/main">
              <a:ext uri="{FF2B5EF4-FFF2-40B4-BE49-F238E27FC236}">
                <a16:creationId xmlns:a16="http://schemas.microsoft.com/office/drawing/2014/main" id="{AF5D4D33-EB41-4EC7-A61E-05F672410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102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2025" b="0">
                <a:solidFill>
                  <a:srgbClr val="59637C"/>
                </a:solidFill>
                <a:latin typeface="Heiti TC"/>
                <a:ea typeface="Heiti TC"/>
                <a:cs typeface="Heiti TC"/>
                <a:hlinkClick xmlns:r="http://schemas.openxmlformats.org/officeDocument/2006/relationships" r:id="Re6d7ca0540ac4067"/>
              </a:rPr>
              <a:t>9 段公開原音</a:t>
            </a:r>
          </a:p>
        </p:txBody>
      </p:sp>
      <p:sp>
        <p:nvSpPr>
          <p:cNvPr id="9" name="2026/10/08 Preview 功">
            <a:extLst xmlns:a="http://schemas.openxmlformats.org/drawingml/2006/main">
              <a:ext uri="{FF2B5EF4-FFF2-40B4-BE49-F238E27FC236}">
                <a16:creationId xmlns:a16="http://schemas.microsoft.com/office/drawing/2014/main" id="{0B5AF22D-EBF0-4A72-A8C6-A50A44AF4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81700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950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950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公開原音練習聽，我的現場聲音另外錄</a:t>
            </a:r>
          </a:p>
        </p:txBody>
      </p:sp>
    </p:spTree>
    <p:extLst>
      <p:ext uri="{BB962C8B-B14F-4D97-AF65-F5344CB8AC3E}">
        <p14:creationId xmlns:p14="http://schemas.microsoft.com/office/powerpoint/2010/main" val="40406976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C6DEC051-BF9E-4A54-8BAA-609B1E8CC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717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245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同地跨時段回訪：現場照片與原音雙重比對</a:t>
            </a:r>
          </a:p>
        </p:txBody>
      </p:sp>
      <p:sp>
        <p:nvSpPr>
          <p:cNvPr id="2" name="聲景智探  泰北聽路隊">
            <a:extLst xmlns:a="http://schemas.openxmlformats.org/drawingml/2006/main">
              <a:ext uri="{FF2B5EF4-FFF2-40B4-BE49-F238E27FC236}">
                <a16:creationId xmlns:a16="http://schemas.microsoft.com/office/drawing/2014/main" id="{E5226E96-0455-467A-A22C-44BA8A6B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聲景智探  泰北聽路隊</a:t>
            </a:r>
          </a:p>
        </p:txBody>
      </p:sp>
      <p:sp>
        <p:nvSpPr>
          <p:cNvPr id="3" name="08 / 10">
            <a:extLst xmlns:a="http://schemas.openxmlformats.org/drawingml/2006/main">
              <a:ext uri="{FF2B5EF4-FFF2-40B4-BE49-F238E27FC236}">
                <a16:creationId xmlns:a16="http://schemas.microsoft.com/office/drawing/2014/main" id="{CC159035-11E2-4100-BFFC-F510A0BC1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07 / 11</a:t>
            </a:r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7112000" y="812800"/>
            <a:ext cx="44196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2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拍下現場照片＋錄 15 秒原音，比對早晚與位置差異</a:t>
            </a:r>
          </a:p>
        </p:txBody>
      </p:sp>
      <p:sp xmlns:a="http://schemas.openxmlformats.org/drawingml/2006/main">
        <p:nvSpPr>
          <p:cNvPr id="16" name="Rounded Rectangle 15"/>
          <p:cNvSpPr/>
          <p:nvPr/>
        </p:nvSpPr>
        <p:spPr>
          <a:xfrm>
            <a:off x="660400" y="1524000"/>
            <a:ext cx="5029200" cy="3632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7" name="Rounded Rectangle 16"/>
          <p:cNvSpPr/>
          <p:nvPr/>
        </p:nvSpPr>
        <p:spPr>
          <a:xfrm>
            <a:off x="863600" y="1701800"/>
            <a:ext cx="2946400" cy="355600"/>
          </a:xfrm>
          <a:prstGeom prst="roundRect">
            <a:avLst>
              <a:gd name="adj" fmla="val 45000"/>
            </a:avLst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939800" y="1701800"/>
            <a:ext cx="2794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B45309"/>
                </a:solidFill>
                <a:latin typeface="Heiti TC"/>
                <a:ea typeface="Heiti TC"/>
                <a:cs typeface="Heiti TC"/>
              </a:rPr>
              <a:t>第一次採集｜通學尖峰・大馬路側</a:t>
            </a:r>
          </a:p>
        </p:txBody>
      </p:sp>
      <p:sp xmlns:a="http://schemas.openxmlformats.org/drawingml/2006/main">
        <p:nvSpPr>
          <p:cNvPr id="19" name="Rounded Rectangle 18"/>
          <p:cNvSpPr/>
          <p:nvPr/>
        </p:nvSpPr>
        <p:spPr>
          <a:xfrm>
            <a:off x="3911600" y="1701800"/>
            <a:ext cx="1574800" cy="355600"/>
          </a:xfrm>
          <a:prstGeom prst="roundRect">
            <a:avLst>
              <a:gd name="adj" fmla="val 45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3987800" y="1701800"/>
            <a:ext cx="14224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🔊 -17.8 dBFS</a:t>
            </a:r>
          </a:p>
        </p:txBody>
      </p:sp>
      <p:pic xmlns:a="http://schemas.openxmlformats.org/drawingml/2006/main" xmlns:r="http://schemas.openxmlformats.org/officeDocument/2006/relationships">
        <p:nvPicPr>
          <p:cNvPr id="21" name="Picture 20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600" y="2184400"/>
            <a:ext cx="2286000" cy="18034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22" name="TextBox 21"/>
          <p:cNvSpPr txBox="1"/>
          <p:nvPr/>
        </p:nvSpPr>
        <p:spPr>
          <a:xfrm>
            <a:off x="3276600" y="2184400"/>
            <a:ext cx="2235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福林路通學車流實測</a:t>
            </a:r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3276600" y="2540000"/>
            <a:ext cx="2235200" cy="14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時段：上學／放學車流尖峰</a:t>
            </a:r>
          </a:p>
          <a:p>
            <a:pPr algn="l">
              <a:lnSpc>
                <a:spcPct val="122000"/>
              </a:lnSpc>
            </a:pPr>
            <a:r>
              <a:rPr sz="13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峰值：-2.3 dBFS（公車煞車）</a:t>
            </a:r>
          </a:p>
          <a:p>
            <a:pPr algn="l">
              <a:lnSpc>
                <a:spcPct val="122000"/>
              </a:lnSpc>
            </a:pPr>
            <a:r>
              <a:rPr sz="13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AI 辨識：公車引擎、機車</a:t>
            </a:r>
          </a:p>
          <a:p>
            <a:pPr algn="l">
              <a:lnSpc>
                <a:spcPct val="122000"/>
              </a:lnSpc>
            </a:pPr>
            <a:r>
              <a:rPr sz="13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  加速聲、路口號誌與人聲</a:t>
            </a:r>
          </a:p>
        </p:txBody>
      </p:sp>
      <p:sp xmlns:a="http://schemas.openxmlformats.org/drawingml/2006/main">
        <p:nvSpPr>
          <p:cNvPr id="24" name="Rounded Rectangle 23"/>
          <p:cNvSpPr/>
          <p:nvPr/>
        </p:nvSpPr>
        <p:spPr>
          <a:xfrm>
            <a:off x="863600" y="4140200"/>
            <a:ext cx="4622800" cy="838200"/>
          </a:xfrm>
          <a:prstGeom prst="roundRect">
            <a:avLst>
              <a:gd name="adj" fmla="val 8000"/>
            </a:avLst>
          </a:prstGeom>
          <a:solidFill>
            <a:srgbClr val="FFF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990600" y="4241800"/>
            <a:ext cx="43688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92400E"/>
                </a:solidFill>
                <a:latin typeface="Heiti TC"/>
                <a:ea typeface="Heiti TC"/>
                <a:cs typeface="Heiti TC"/>
              </a:rPr>
              <a:t>📌 現場照片＋原音證據：貼著大馬路走時，</a:t>
            </a:r>
          </a:p>
          <a:p>
            <a:pPr algn="l">
              <a:lnSpc>
                <a:spcPct val="118000"/>
              </a:lnSpc>
            </a:pPr>
            <a:r>
              <a:rPr sz="1300" b="1">
                <a:solidFill>
                  <a:srgbClr val="92400E"/>
                </a:solidFill>
                <a:latin typeface="Heiti TC"/>
                <a:ea typeface="Heiti TC"/>
                <a:cs typeface="Heiti TC"/>
              </a:rPr>
              <a:t>低頻車流聲連續不斷，同學講話需要提高音量。</a:t>
            </a:r>
          </a:p>
        </p:txBody>
      </p:sp>
      <p:cxnSp xmlns:a="http://schemas.openxmlformats.org/drawingml/2006/main">
        <p:nvCxnSpPr>
          <p:cNvPr id="26" name="Connector 25"/>
          <p:cNvCxnSpPr/>
          <p:nvPr/>
        </p:nvCxnSpPr>
        <p:spPr>
          <a:xfrm>
            <a:off x="5791200" y="3340100"/>
            <a:ext cx="457200" cy="0"/>
          </a:xfrm>
          <a:prstGeom prst="line">
            <a:avLst/>
          </a:prstGeom>
          <a:ln w="38100">
            <a:solidFill>
              <a:srgbClr val="5268A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27" name="Rounded Rectangle 26"/>
          <p:cNvSpPr/>
          <p:nvPr/>
        </p:nvSpPr>
        <p:spPr>
          <a:xfrm>
            <a:off x="6350000" y="1524000"/>
            <a:ext cx="5181600" cy="3632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5268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8" name="Rounded Rectangle 27"/>
          <p:cNvSpPr/>
          <p:nvPr/>
        </p:nvSpPr>
        <p:spPr>
          <a:xfrm>
            <a:off x="6553200" y="1701800"/>
            <a:ext cx="3048000" cy="355600"/>
          </a:xfrm>
          <a:prstGeom prst="roundRect">
            <a:avLst>
              <a:gd name="adj" fmla="val 45000"/>
            </a:avLst>
          </a:prstGeom>
          <a:solidFill>
            <a:srgbClr val="E8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9" name="TextBox 28"/>
          <p:cNvSpPr txBox="1"/>
          <p:nvPr/>
        </p:nvSpPr>
        <p:spPr>
          <a:xfrm>
            <a:off x="6629400" y="1701800"/>
            <a:ext cx="28956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第二次回訪｜離峰・退縮綠蔭與公園</a:t>
            </a:r>
          </a:p>
        </p:txBody>
      </p:sp>
      <p:sp xmlns:a="http://schemas.openxmlformats.org/drawingml/2006/main">
        <p:nvSpPr>
          <p:cNvPr id="30" name="Rounded Rectangle 29"/>
          <p:cNvSpPr/>
          <p:nvPr/>
        </p:nvSpPr>
        <p:spPr>
          <a:xfrm>
            <a:off x="9702800" y="1701800"/>
            <a:ext cx="1625600" cy="355600"/>
          </a:xfrm>
          <a:prstGeom prst="roundRect">
            <a:avLst>
              <a:gd name="adj" fmla="val 45000"/>
            </a:avLst>
          </a:prstGeom>
          <a:solidFill>
            <a:srgbClr val="526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1" name="TextBox 30"/>
          <p:cNvSpPr txBox="1"/>
          <p:nvPr/>
        </p:nvSpPr>
        <p:spPr>
          <a:xfrm>
            <a:off x="9779000" y="1701800"/>
            <a:ext cx="1473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🌿 -25.9 dBFS</a:t>
            </a:r>
          </a:p>
        </p:txBody>
      </p:sp>
      <p:pic xmlns:a="http://schemas.openxmlformats.org/drawingml/2006/main" xmlns:r="http://schemas.openxmlformats.org/officeDocument/2006/relationships">
        <p:nvPicPr>
          <p:cNvPr id="32" name="Picture 31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200" y="2184400"/>
            <a:ext cx="2286000" cy="1803400"/>
          </a:xfrm>
          <a:prstGeom prst="rect">
            <a:avLst/>
          </a:prstGeom>
          <a:ln w="12700">
            <a:solidFill>
              <a:srgbClr val="5268AC"/>
            </a:solidFill>
          </a:ln>
        </p:spPr>
      </p:pic>
      <p:sp xmlns:a="http://schemas.openxmlformats.org/drawingml/2006/main">
        <p:nvSpPr>
          <p:cNvPr id="33" name="TextBox 32"/>
          <p:cNvSpPr txBox="1"/>
          <p:nvPr/>
        </p:nvSpPr>
        <p:spPr>
          <a:xfrm>
            <a:off x="8966200" y="2184400"/>
            <a:ext cx="2387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志成公園與綠蔭步道</a:t>
            </a:r>
          </a:p>
        </p:txBody>
      </p:sp>
      <p:sp xmlns:a="http://schemas.openxmlformats.org/drawingml/2006/main">
        <p:nvSpPr>
          <p:cNvPr id="34" name="TextBox 33"/>
          <p:cNvSpPr txBox="1"/>
          <p:nvPr/>
        </p:nvSpPr>
        <p:spPr>
          <a:xfrm>
            <a:off x="8966200" y="2540000"/>
            <a:ext cx="2387600" cy="14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時段：早晨／綠蔭退縮側</a:t>
            </a:r>
          </a:p>
          <a:p>
            <a:pPr algn="l">
              <a:lnSpc>
                <a:spcPct val="122000"/>
              </a:lnSpc>
            </a:pPr>
            <a:r>
              <a:rPr sz="13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音量下降：減弱逾 8 dB</a:t>
            </a:r>
          </a:p>
          <a:p>
            <a:pPr algn="l">
              <a:lnSpc>
                <a:spcPct val="122000"/>
              </a:lnSpc>
            </a:pPr>
            <a:r>
              <a:rPr sz="13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AI 辨識：白頭翁鳥鳴、微風</a:t>
            </a:r>
          </a:p>
          <a:p>
            <a:pPr algn="l">
              <a:lnSpc>
                <a:spcPct val="122000"/>
              </a:lnSpc>
            </a:pPr>
            <a:r>
              <a:rPr sz="13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  樹葉聲、遠處輕微車流聲</a:t>
            </a:r>
          </a:p>
        </p:txBody>
      </p:sp>
      <p:sp xmlns:a="http://schemas.openxmlformats.org/drawingml/2006/main">
        <p:nvSpPr>
          <p:cNvPr id="35" name="Rounded Rectangle 34"/>
          <p:cNvSpPr/>
          <p:nvPr/>
        </p:nvSpPr>
        <p:spPr>
          <a:xfrm>
            <a:off x="6553200" y="4140200"/>
            <a:ext cx="4775200" cy="838200"/>
          </a:xfrm>
          <a:prstGeom prst="roundRect">
            <a:avLst>
              <a:gd name="adj" fmla="val 8000"/>
            </a:avLst>
          </a:prstGeom>
          <a:solidFill>
            <a:srgbClr val="E8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6" name="TextBox 35"/>
          <p:cNvSpPr txBox="1"/>
          <p:nvPr/>
        </p:nvSpPr>
        <p:spPr>
          <a:xfrm>
            <a:off x="6680200" y="4241800"/>
            <a:ext cx="45212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✨ 回訪比對發現：只要轉進退縮步道或錯開尖峰，</a:t>
            </a:r>
          </a:p>
          <a:p>
            <a:pPr algn="l">
              <a:lnSpc>
                <a:spcPct val="118000"/>
              </a:lnSpc>
            </a:pPr>
            <a:r>
              <a:rPr sz="130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車聲退到背景，自然鳥鳴與風聲就會清楚浮現！</a:t>
            </a:r>
          </a:p>
        </p:txBody>
      </p:sp>
      <p:sp xmlns:a="http://schemas.openxmlformats.org/drawingml/2006/main">
        <p:nvSpPr>
          <p:cNvPr id="37" name="Rounded Rectangle 36"/>
          <p:cNvSpPr/>
          <p:nvPr/>
        </p:nvSpPr>
        <p:spPr>
          <a:xfrm>
            <a:off x="660400" y="5334000"/>
            <a:ext cx="10871200" cy="711200"/>
          </a:xfrm>
          <a:prstGeom prst="roundRect">
            <a:avLst>
              <a:gd name="adj" fmla="val 12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8" name="TextBox 37"/>
          <p:cNvSpPr txBox="1"/>
          <p:nvPr/>
        </p:nvSpPr>
        <p:spPr>
          <a:xfrm>
            <a:off x="812800" y="5334000"/>
            <a:ext cx="105664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音量小百科：dBFS 越接近 0 聲音越大！🔊 -17.8 dBFS 通學車流 ←─ 相差 35 dB ─→ 🏡 -52.6 dBFS 住家山景陽台</a:t>
            </a:r>
          </a:p>
        </p:txBody>
      </p:sp>
    </p:spTree>
    <p:extLst>
      <p:ext uri="{BB962C8B-B14F-4D97-AF65-F5344CB8AC3E}">
        <p14:creationId xmlns:p14="http://schemas.microsoft.com/office/powerpoint/2010/main" val="4703151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48A2A1CF-D86D-45F4-BAC2-A2823011E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717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245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擴充聲音地圖：結合現場照片與 17 處實測原音</a:t>
            </a:r>
          </a:p>
        </p:txBody>
      </p:sp>
      <p:sp>
        <p:nvSpPr>
          <p:cNvPr id="2" name="聲景智探  泰北聽路隊">
            <a:extLst xmlns:a="http://schemas.openxmlformats.org/drawingml/2006/main">
              <a:ext uri="{FF2B5EF4-FFF2-40B4-BE49-F238E27FC236}">
                <a16:creationId xmlns:a16="http://schemas.microsoft.com/office/drawing/2014/main" id="{59F1A153-8C2D-4D5B-AC9B-26DEDFECD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聲景智探  泰北聽路隊</a:t>
            </a:r>
          </a:p>
        </p:txBody>
      </p:sp>
      <p:sp>
        <p:nvSpPr>
          <p:cNvPr id="3" name="06 / 10">
            <a:extLst xmlns:a="http://schemas.openxmlformats.org/drawingml/2006/main">
              <a:ext uri="{FF2B5EF4-FFF2-40B4-BE49-F238E27FC236}">
                <a16:creationId xmlns:a16="http://schemas.microsoft.com/office/drawing/2014/main" id="{ADDECF54-09AD-4812-9AA2-990C93B80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08 / 11</a:t>
            </a:r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7112000" y="812800"/>
            <a:ext cx="44196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2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施工、上課、操場、捷運與公園，點地圖看照片聽原音</a:t>
            </a:r>
          </a:p>
        </p:txBody>
      </p:sp>
      <p:sp xmlns:a="http://schemas.openxmlformats.org/drawingml/2006/main">
        <p:nvSpPr>
          <p:cNvPr id="24" name="Rounded Rectangle 23"/>
          <p:cNvSpPr/>
          <p:nvPr/>
        </p:nvSpPr>
        <p:spPr>
          <a:xfrm>
            <a:off x="660400" y="1498600"/>
            <a:ext cx="3479800" cy="1752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25" name="Picture 2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00" y="1625600"/>
            <a:ext cx="1473200" cy="14986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26" name="Rounded Rectangle 25"/>
          <p:cNvSpPr/>
          <p:nvPr/>
        </p:nvSpPr>
        <p:spPr>
          <a:xfrm>
            <a:off x="2362200" y="1651000"/>
            <a:ext cx="1651000" cy="304800"/>
          </a:xfrm>
          <a:prstGeom prst="roundRect">
            <a:avLst>
              <a:gd name="adj" fmla="val 45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7" name="TextBox 26"/>
          <p:cNvSpPr txBox="1"/>
          <p:nvPr/>
        </p:nvSpPr>
        <p:spPr>
          <a:xfrm>
            <a:off x="2438400" y="1651000"/>
            <a:ext cx="1498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🔊 -21.5 dBFS</a:t>
            </a:r>
          </a:p>
        </p:txBody>
      </p:sp>
      <p:sp xmlns:a="http://schemas.openxmlformats.org/drawingml/2006/main">
        <p:nvSpPr>
          <p:cNvPr id="28" name="TextBox 27"/>
          <p:cNvSpPr txBox="1"/>
          <p:nvPr/>
        </p:nvSpPr>
        <p:spPr>
          <a:xfrm>
            <a:off x="2362200" y="2057400"/>
            <a:ext cx="16764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道路與人行道施工</a:t>
            </a:r>
          </a:p>
        </p:txBody>
      </p:sp>
      <p:sp xmlns:a="http://schemas.openxmlformats.org/drawingml/2006/main">
        <p:nvSpPr>
          <p:cNvPr id="29" name="TextBox 28"/>
          <p:cNvSpPr txBox="1"/>
          <p:nvPr/>
        </p:nvSpPr>
        <p:spPr>
          <a:xfrm>
            <a:off x="2362200" y="2641600"/>
            <a:ext cx="16764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電鑽敲擊與安全錐警示</a:t>
            </a:r>
          </a:p>
        </p:txBody>
      </p:sp>
      <p:sp xmlns:a="http://schemas.openxmlformats.org/drawingml/2006/main">
        <p:nvSpPr>
          <p:cNvPr id="30" name="Rounded Rectangle 29"/>
          <p:cNvSpPr/>
          <p:nvPr/>
        </p:nvSpPr>
        <p:spPr>
          <a:xfrm>
            <a:off x="4343400" y="1498600"/>
            <a:ext cx="3479800" cy="1752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31" name="Picture 3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70400" y="1625600"/>
            <a:ext cx="1473200" cy="14986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32" name="Rounded Rectangle 31"/>
          <p:cNvSpPr/>
          <p:nvPr/>
        </p:nvSpPr>
        <p:spPr>
          <a:xfrm>
            <a:off x="6045200" y="1651000"/>
            <a:ext cx="1651000" cy="304800"/>
          </a:xfrm>
          <a:prstGeom prst="roundRect">
            <a:avLst>
              <a:gd name="adj" fmla="val 45000"/>
            </a:avLst>
          </a:prstGeom>
          <a:solidFill>
            <a:srgbClr val="526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3" name="TextBox 32"/>
          <p:cNvSpPr txBox="1"/>
          <p:nvPr/>
        </p:nvSpPr>
        <p:spPr>
          <a:xfrm>
            <a:off x="6121400" y="1651000"/>
            <a:ext cx="1498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🏫 -21.9 dBFS</a:t>
            </a:r>
          </a:p>
        </p:txBody>
      </p:sp>
      <p:sp xmlns:a="http://schemas.openxmlformats.org/drawingml/2006/main">
        <p:nvSpPr>
          <p:cNvPr id="34" name="TextBox 33"/>
          <p:cNvSpPr txBox="1"/>
          <p:nvPr/>
        </p:nvSpPr>
        <p:spPr>
          <a:xfrm>
            <a:off x="6045200" y="2057400"/>
            <a:ext cx="16764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校園上課鐘聲與朗讀</a:t>
            </a:r>
          </a:p>
        </p:txBody>
      </p:sp>
      <p:sp xmlns:a="http://schemas.openxmlformats.org/drawingml/2006/main">
        <p:nvSpPr>
          <p:cNvPr id="35" name="TextBox 34"/>
          <p:cNvSpPr txBox="1"/>
          <p:nvPr/>
        </p:nvSpPr>
        <p:spPr>
          <a:xfrm>
            <a:off x="6045200" y="2641600"/>
            <a:ext cx="16764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鐘聲、課堂朗讀與翻書</a:t>
            </a:r>
          </a:p>
        </p:txBody>
      </p:sp>
      <p:sp xmlns:a="http://schemas.openxmlformats.org/drawingml/2006/main">
        <p:nvSpPr>
          <p:cNvPr id="36" name="Rounded Rectangle 35"/>
          <p:cNvSpPr/>
          <p:nvPr/>
        </p:nvSpPr>
        <p:spPr>
          <a:xfrm>
            <a:off x="8026400" y="1498600"/>
            <a:ext cx="3479800" cy="1752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37" name="Picture 36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3400" y="1625600"/>
            <a:ext cx="1473200" cy="14986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38" name="Rounded Rectangle 37"/>
          <p:cNvSpPr/>
          <p:nvPr/>
        </p:nvSpPr>
        <p:spPr>
          <a:xfrm>
            <a:off x="9728200" y="1651000"/>
            <a:ext cx="1651000" cy="304800"/>
          </a:xfrm>
          <a:prstGeom prst="roundRect">
            <a:avLst>
              <a:gd name="adj" fmla="val 45000"/>
            </a:avLst>
          </a:prstGeom>
          <a:solidFill>
            <a:srgbClr val="526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9" name="TextBox 38"/>
          <p:cNvSpPr txBox="1"/>
          <p:nvPr/>
        </p:nvSpPr>
        <p:spPr>
          <a:xfrm>
            <a:off x="9804400" y="1651000"/>
            <a:ext cx="1498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🏀 -20.4 dBFS</a:t>
            </a:r>
          </a:p>
        </p:txBody>
      </p:sp>
      <p:sp xmlns:a="http://schemas.openxmlformats.org/drawingml/2006/main">
        <p:nvSpPr>
          <p:cNvPr id="40" name="TextBox 39"/>
          <p:cNvSpPr txBox="1"/>
          <p:nvPr/>
        </p:nvSpPr>
        <p:spPr>
          <a:xfrm>
            <a:off x="9728200" y="2057400"/>
            <a:ext cx="16764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下課十分鐘操場</a:t>
            </a:r>
          </a:p>
        </p:txBody>
      </p:sp>
      <p:sp xmlns:a="http://schemas.openxmlformats.org/drawingml/2006/main">
        <p:nvSpPr>
          <p:cNvPr id="41" name="TextBox 40"/>
          <p:cNvSpPr txBox="1"/>
          <p:nvPr/>
        </p:nvSpPr>
        <p:spPr>
          <a:xfrm>
            <a:off x="9728200" y="2641600"/>
            <a:ext cx="16764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歡呼笑聲、哨音與運球</a:t>
            </a:r>
          </a:p>
        </p:txBody>
      </p:sp>
      <p:sp xmlns:a="http://schemas.openxmlformats.org/drawingml/2006/main">
        <p:nvSpPr>
          <p:cNvPr id="42" name="Rounded Rectangle 41"/>
          <p:cNvSpPr/>
          <p:nvPr/>
        </p:nvSpPr>
        <p:spPr>
          <a:xfrm>
            <a:off x="660400" y="3403600"/>
            <a:ext cx="3479800" cy="1752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43" name="Picture 42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7400" y="3530600"/>
            <a:ext cx="1473200" cy="14986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44" name="Rounded Rectangle 43"/>
          <p:cNvSpPr/>
          <p:nvPr/>
        </p:nvSpPr>
        <p:spPr>
          <a:xfrm>
            <a:off x="2362200" y="3556000"/>
            <a:ext cx="1651000" cy="304800"/>
          </a:xfrm>
          <a:prstGeom prst="roundRect">
            <a:avLst>
              <a:gd name="adj" fmla="val 45000"/>
            </a:avLst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5" name="TextBox 44"/>
          <p:cNvSpPr txBox="1"/>
          <p:nvPr/>
        </p:nvSpPr>
        <p:spPr>
          <a:xfrm>
            <a:off x="2438400" y="3556000"/>
            <a:ext cx="1498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🚇 -20.2 dBFS</a:t>
            </a:r>
          </a:p>
        </p:txBody>
      </p:sp>
      <p:sp xmlns:a="http://schemas.openxmlformats.org/drawingml/2006/main">
        <p:nvSpPr>
          <p:cNvPr id="46" name="TextBox 45"/>
          <p:cNvSpPr txBox="1"/>
          <p:nvPr/>
        </p:nvSpPr>
        <p:spPr>
          <a:xfrm>
            <a:off x="2362200" y="3962400"/>
            <a:ext cx="16764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捷運芝山站列車進站</a:t>
            </a:r>
          </a:p>
        </p:txBody>
      </p:sp>
      <p:sp xmlns:a="http://schemas.openxmlformats.org/drawingml/2006/main">
        <p:nvSpPr>
          <p:cNvPr id="47" name="TextBox 46"/>
          <p:cNvSpPr txBox="1"/>
          <p:nvPr/>
        </p:nvSpPr>
        <p:spPr>
          <a:xfrm>
            <a:off x="2362200" y="4546600"/>
            <a:ext cx="16764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高架列車滑行與進站音</a:t>
            </a:r>
          </a:p>
        </p:txBody>
      </p:sp>
      <p:sp xmlns:a="http://schemas.openxmlformats.org/drawingml/2006/main">
        <p:nvSpPr>
          <p:cNvPr id="48" name="Rounded Rectangle 47"/>
          <p:cNvSpPr/>
          <p:nvPr/>
        </p:nvSpPr>
        <p:spPr>
          <a:xfrm>
            <a:off x="4343400" y="3403600"/>
            <a:ext cx="3479800" cy="1752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49" name="Picture 48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70400" y="3530600"/>
            <a:ext cx="1473200" cy="14986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50" name="Rounded Rectangle 49"/>
          <p:cNvSpPr/>
          <p:nvPr/>
        </p:nvSpPr>
        <p:spPr>
          <a:xfrm>
            <a:off x="6045200" y="3556000"/>
            <a:ext cx="1651000" cy="304800"/>
          </a:xfrm>
          <a:prstGeom prst="roundRect">
            <a:avLst>
              <a:gd name="adj" fmla="val 45000"/>
            </a:avLst>
          </a:prstGeom>
          <a:solidFill>
            <a:srgbClr val="2E7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1" name="TextBox 50"/>
          <p:cNvSpPr txBox="1"/>
          <p:nvPr/>
        </p:nvSpPr>
        <p:spPr>
          <a:xfrm>
            <a:off x="6121400" y="3556000"/>
            <a:ext cx="1498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🌿 -25.9 dBFS</a:t>
            </a:r>
          </a:p>
        </p:txBody>
      </p:sp>
      <p:sp xmlns:a="http://schemas.openxmlformats.org/drawingml/2006/main">
        <p:nvSpPr>
          <p:cNvPr id="52" name="TextBox 51"/>
          <p:cNvSpPr txBox="1"/>
          <p:nvPr/>
        </p:nvSpPr>
        <p:spPr>
          <a:xfrm>
            <a:off x="6045200" y="3962400"/>
            <a:ext cx="16764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志成公園晨間鳥鳴</a:t>
            </a:r>
          </a:p>
        </p:txBody>
      </p:sp>
      <p:sp xmlns:a="http://schemas.openxmlformats.org/drawingml/2006/main">
        <p:nvSpPr>
          <p:cNvPr id="53" name="TextBox 52"/>
          <p:cNvSpPr txBox="1"/>
          <p:nvPr/>
        </p:nvSpPr>
        <p:spPr>
          <a:xfrm>
            <a:off x="6045200" y="4546600"/>
            <a:ext cx="16764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樹冠鳥鳴與微風吹葉聲</a:t>
            </a:r>
          </a:p>
        </p:txBody>
      </p:sp>
      <p:sp xmlns:a="http://schemas.openxmlformats.org/drawingml/2006/main">
        <p:nvSpPr>
          <p:cNvPr id="54" name="Rounded Rectangle 53"/>
          <p:cNvSpPr/>
          <p:nvPr/>
        </p:nvSpPr>
        <p:spPr>
          <a:xfrm>
            <a:off x="8026400" y="3403600"/>
            <a:ext cx="3479800" cy="1752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55" name="Picture 54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53400" y="3530600"/>
            <a:ext cx="1473200" cy="14986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56" name="Rounded Rectangle 55"/>
          <p:cNvSpPr/>
          <p:nvPr/>
        </p:nvSpPr>
        <p:spPr>
          <a:xfrm>
            <a:off x="9728200" y="3556000"/>
            <a:ext cx="1651000" cy="304800"/>
          </a:xfrm>
          <a:prstGeom prst="roundRect">
            <a:avLst>
              <a:gd name="adj" fmla="val 45000"/>
            </a:avLst>
          </a:prstGeom>
          <a:solidFill>
            <a:srgbClr val="2E7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7" name="TextBox 56"/>
          <p:cNvSpPr txBox="1"/>
          <p:nvPr/>
        </p:nvSpPr>
        <p:spPr>
          <a:xfrm>
            <a:off x="9804400" y="3556000"/>
            <a:ext cx="1498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🏡 -52.6 dBFS</a:t>
            </a:r>
          </a:p>
        </p:txBody>
      </p:sp>
      <p:sp xmlns:a="http://schemas.openxmlformats.org/drawingml/2006/main">
        <p:nvSpPr>
          <p:cNvPr id="58" name="TextBox 57"/>
          <p:cNvSpPr txBox="1"/>
          <p:nvPr/>
        </p:nvSpPr>
        <p:spPr>
          <a:xfrm>
            <a:off x="9728200" y="3962400"/>
            <a:ext cx="16764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住家山景陽台清晨</a:t>
            </a:r>
          </a:p>
        </p:txBody>
      </p:sp>
      <p:sp xmlns:a="http://schemas.openxmlformats.org/drawingml/2006/main">
        <p:nvSpPr>
          <p:cNvPr id="59" name="TextBox 58"/>
          <p:cNvSpPr txBox="1"/>
          <p:nvPr/>
        </p:nvSpPr>
        <p:spPr>
          <a:xfrm>
            <a:off x="9728200" y="4546600"/>
            <a:ext cx="16764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極安靜山林底噪與蟲鳴</a:t>
            </a:r>
          </a:p>
        </p:txBody>
      </p:sp>
      <p:sp xmlns:a="http://schemas.openxmlformats.org/drawingml/2006/main">
        <p:nvSpPr>
          <p:cNvPr id="60" name="Rounded Rectangle 59"/>
          <p:cNvSpPr/>
          <p:nvPr/>
        </p:nvSpPr>
        <p:spPr>
          <a:xfrm>
            <a:off x="660400" y="5308600"/>
            <a:ext cx="10871200" cy="736600"/>
          </a:xfrm>
          <a:prstGeom prst="roundRect">
            <a:avLst>
              <a:gd name="adj" fmla="val 12000"/>
            </a:avLst>
          </a:prstGeom>
          <a:solidFill>
            <a:srgbClr val="E8ECFA"/>
          </a:solidFill>
          <a:ln w="15875">
            <a:solidFill>
              <a:srgbClr val="C3C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61" name="TextBox 60"/>
          <p:cNvSpPr txBox="1"/>
          <p:nvPr/>
        </p:nvSpPr>
        <p:spPr>
          <a:xfrm>
            <a:off x="812800" y="5308600"/>
            <a:ext cx="10566400" cy="736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聲音地圖全面擴充：整合 50 個政府公開據點 ＋ 17 處校園與街廓實拍照片與原音（含音樂課、垃圾車、午後陣雨、公車進站與河濱）！</a:t>
            </a:r>
          </a:p>
        </p:txBody>
      </p:sp>
    </p:spTree>
    <p:extLst>
      <p:ext uri="{BB962C8B-B14F-4D97-AF65-F5344CB8AC3E}">
        <p14:creationId xmlns:p14="http://schemas.microsoft.com/office/powerpoint/2010/main" val="50024053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4E832491-8FA5-4DBF-8DD8-C61B54EF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717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245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城市聲音時光機：累積大數據紀錄環境演變</a:t>
            </a:r>
          </a:p>
        </p:txBody>
      </p:sp>
      <p:sp>
        <p:nvSpPr>
          <p:cNvPr id="2" name="聲景智探  泰北聽路隊">
            <a:extLst xmlns:a="http://schemas.openxmlformats.org/drawingml/2006/main">
              <a:ext uri="{FF2B5EF4-FFF2-40B4-BE49-F238E27FC236}">
                <a16:creationId xmlns:a16="http://schemas.microsoft.com/office/drawing/2014/main" id="{6D5F24C5-39F6-4F0F-BE10-7EE5AD3D7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聲景智探  泰北聽路隊</a:t>
            </a:r>
          </a:p>
        </p:txBody>
      </p:sp>
      <p:sp>
        <p:nvSpPr>
          <p:cNvPr id="3" name="07 / 10">
            <a:extLst xmlns:a="http://schemas.openxmlformats.org/drawingml/2006/main">
              <a:ext uri="{FF2B5EF4-FFF2-40B4-BE49-F238E27FC236}">
                <a16:creationId xmlns:a16="http://schemas.microsoft.com/office/drawing/2014/main" id="{BA526737-E8FB-4B02-BB20-450F9CC0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09 / 11</a:t>
            </a:r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7112000" y="812800"/>
            <a:ext cx="44196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2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聲音＋照片＋時間軸，回溯城市與校園變化</a:t>
            </a:r>
          </a:p>
        </p:txBody>
      </p:sp>
      <p:sp xmlns:a="http://schemas.openxmlformats.org/drawingml/2006/main">
        <p:nvSpPr>
          <p:cNvPr id="16" name="Rounded Rectangle 15"/>
          <p:cNvSpPr/>
          <p:nvPr/>
        </p:nvSpPr>
        <p:spPr>
          <a:xfrm>
            <a:off x="660400" y="1524000"/>
            <a:ext cx="2584450" cy="3632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7" name="Rounded Rectangle 16"/>
          <p:cNvSpPr/>
          <p:nvPr/>
        </p:nvSpPr>
        <p:spPr>
          <a:xfrm>
            <a:off x="787400" y="1676400"/>
            <a:ext cx="2330450" cy="3302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863600" y="1676400"/>
            <a:ext cx="217805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07:30 早晨通學</a:t>
            </a:r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787400" y="2057400"/>
            <a:ext cx="233045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城市甦醒與綠蔭鳥鳴</a:t>
            </a:r>
          </a:p>
        </p:txBody>
      </p:sp>
      <p:pic xmlns:a="http://schemas.openxmlformats.org/drawingml/2006/main" xmlns:r="http://schemas.openxmlformats.org/officeDocument/2006/relationships">
        <p:nvPicPr>
          <p:cNvPr id="20" name="Picture 1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00" y="2336800"/>
            <a:ext cx="2330450" cy="14224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21" name="TextBox 20"/>
          <p:cNvSpPr txBox="1"/>
          <p:nvPr/>
        </p:nvSpPr>
        <p:spPr>
          <a:xfrm>
            <a:off x="787400" y="3860800"/>
            <a:ext cx="2330450" cy="116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路口車流 -18.5 dBFS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公園鳥鳴 -25.9 dBFS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紀錄早晨通學聲景對比</a:t>
            </a:r>
          </a:p>
        </p:txBody>
      </p:sp>
      <p:cxnSp xmlns:a="http://schemas.openxmlformats.org/drawingml/2006/main">
        <p:nvCxnSpPr>
          <p:cNvPr id="22" name="Connector 21"/>
          <p:cNvCxnSpPr/>
          <p:nvPr/>
        </p:nvCxnSpPr>
        <p:spPr>
          <a:xfrm>
            <a:off x="3257550" y="3340100"/>
            <a:ext cx="152400" cy="0"/>
          </a:xfrm>
          <a:prstGeom prst="line">
            <a:avLst/>
          </a:prstGeom>
          <a:ln w="25400">
            <a:solidFill>
              <a:srgbClr val="5268A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23" name="Rounded Rectangle 22"/>
          <p:cNvSpPr/>
          <p:nvPr/>
        </p:nvSpPr>
        <p:spPr>
          <a:xfrm>
            <a:off x="3422650" y="1524000"/>
            <a:ext cx="2584450" cy="3632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4" name="Rounded Rectangle 23"/>
          <p:cNvSpPr/>
          <p:nvPr/>
        </p:nvSpPr>
        <p:spPr>
          <a:xfrm>
            <a:off x="3549650" y="1676400"/>
            <a:ext cx="2330450" cy="330200"/>
          </a:xfrm>
          <a:prstGeom prst="roundRect">
            <a:avLst>
              <a:gd name="adj" fmla="val 45000"/>
            </a:avLst>
          </a:prstGeom>
          <a:solidFill>
            <a:srgbClr val="526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3625850" y="1676400"/>
            <a:ext cx="217805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10:30 上課與施工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3549650" y="2057400"/>
            <a:ext cx="233045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校園學習與街廓工程</a:t>
            </a:r>
          </a:p>
        </p:txBody>
      </p:sp>
      <p:pic xmlns:a="http://schemas.openxmlformats.org/drawingml/2006/main" xmlns:r="http://schemas.openxmlformats.org/officeDocument/2006/relationships">
        <p:nvPicPr>
          <p:cNvPr id="27" name="Picture 26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9650" y="2336800"/>
            <a:ext cx="2330450" cy="14224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28" name="TextBox 27"/>
          <p:cNvSpPr txBox="1"/>
          <p:nvPr/>
        </p:nvSpPr>
        <p:spPr>
          <a:xfrm>
            <a:off x="3549650" y="3860800"/>
            <a:ext cx="2330450" cy="116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課堂朗讀 -21.9 dBFS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音樂直笛 -23.7 dBFS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追蹤施工路段工程期間變化</a:t>
            </a:r>
          </a:p>
        </p:txBody>
      </p:sp>
      <p:cxnSp xmlns:a="http://schemas.openxmlformats.org/drawingml/2006/main">
        <p:nvCxnSpPr>
          <p:cNvPr id="29" name="Connector 28"/>
          <p:cNvCxnSpPr/>
          <p:nvPr/>
        </p:nvCxnSpPr>
        <p:spPr>
          <a:xfrm>
            <a:off x="6019800" y="3340100"/>
            <a:ext cx="152400" cy="0"/>
          </a:xfrm>
          <a:prstGeom prst="line">
            <a:avLst/>
          </a:prstGeom>
          <a:ln w="25400">
            <a:solidFill>
              <a:srgbClr val="5268A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30" name="Rounded Rectangle 29"/>
          <p:cNvSpPr/>
          <p:nvPr/>
        </p:nvSpPr>
        <p:spPr>
          <a:xfrm>
            <a:off x="6184900" y="1524000"/>
            <a:ext cx="2584450" cy="3632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1" name="Rounded Rectangle 30"/>
          <p:cNvSpPr/>
          <p:nvPr/>
        </p:nvSpPr>
        <p:spPr>
          <a:xfrm>
            <a:off x="6311900" y="1676400"/>
            <a:ext cx="2330450" cy="330200"/>
          </a:xfrm>
          <a:prstGeom prst="roundRect">
            <a:avLst>
              <a:gd name="adj" fmla="val 45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2" name="TextBox 31"/>
          <p:cNvSpPr txBox="1"/>
          <p:nvPr/>
        </p:nvSpPr>
        <p:spPr>
          <a:xfrm>
            <a:off x="6388100" y="1676400"/>
            <a:ext cx="217805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16:30 放學與傍晚</a:t>
            </a:r>
          </a:p>
        </p:txBody>
      </p:sp>
      <p:sp xmlns:a="http://schemas.openxmlformats.org/drawingml/2006/main">
        <p:nvSpPr>
          <p:cNvPr id="33" name="TextBox 32"/>
          <p:cNvSpPr txBox="1"/>
          <p:nvPr/>
        </p:nvSpPr>
        <p:spPr>
          <a:xfrm>
            <a:off x="6311900" y="2057400"/>
            <a:ext cx="233045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公車進站與台灣日常</a:t>
            </a:r>
          </a:p>
        </p:txBody>
      </p:sp>
      <p:pic xmlns:a="http://schemas.openxmlformats.org/drawingml/2006/main" xmlns:r="http://schemas.openxmlformats.org/officeDocument/2006/relationships">
        <p:nvPicPr>
          <p:cNvPr id="34" name="Picture 33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1900" y="2336800"/>
            <a:ext cx="2330450" cy="14224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35" name="TextBox 34"/>
          <p:cNvSpPr txBox="1"/>
          <p:nvPr/>
        </p:nvSpPr>
        <p:spPr>
          <a:xfrm>
            <a:off x="6311900" y="3860800"/>
            <a:ext cx="2330450" cy="116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公車進站 -17.2 dBFS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午後陣雨 -24.8 dBFS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巷弄垃圾車少女的祈禱琴聲</a:t>
            </a:r>
          </a:p>
        </p:txBody>
      </p:sp>
      <p:cxnSp xmlns:a="http://schemas.openxmlformats.org/drawingml/2006/main">
        <p:nvCxnSpPr>
          <p:cNvPr id="36" name="Connector 35"/>
          <p:cNvCxnSpPr/>
          <p:nvPr/>
        </p:nvCxnSpPr>
        <p:spPr>
          <a:xfrm>
            <a:off x="8782050" y="3340100"/>
            <a:ext cx="152400" cy="0"/>
          </a:xfrm>
          <a:prstGeom prst="line">
            <a:avLst/>
          </a:prstGeom>
          <a:ln w="25400">
            <a:solidFill>
              <a:srgbClr val="5268A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37" name="Rounded Rectangle 36"/>
          <p:cNvSpPr/>
          <p:nvPr/>
        </p:nvSpPr>
        <p:spPr>
          <a:xfrm>
            <a:off x="8947150" y="1524000"/>
            <a:ext cx="2584450" cy="3632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5268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8" name="Rounded Rectangle 37"/>
          <p:cNvSpPr/>
          <p:nvPr/>
        </p:nvSpPr>
        <p:spPr>
          <a:xfrm>
            <a:off x="9074150" y="1676400"/>
            <a:ext cx="2330450" cy="330200"/>
          </a:xfrm>
          <a:prstGeom prst="roundRect">
            <a:avLst>
              <a:gd name="adj" fmla="val 45000"/>
            </a:avLst>
          </a:prstGeom>
          <a:solidFill>
            <a:srgbClr val="526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9" name="TextBox 38"/>
          <p:cNvSpPr txBox="1"/>
          <p:nvPr/>
        </p:nvSpPr>
        <p:spPr>
          <a:xfrm>
            <a:off x="9150350" y="1676400"/>
            <a:ext cx="217805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21:00 夜晚與跨月</a:t>
            </a:r>
          </a:p>
        </p:txBody>
      </p:sp>
      <p:sp xmlns:a="http://schemas.openxmlformats.org/drawingml/2006/main">
        <p:nvSpPr>
          <p:cNvPr id="40" name="TextBox 39"/>
          <p:cNvSpPr txBox="1"/>
          <p:nvPr/>
        </p:nvSpPr>
        <p:spPr>
          <a:xfrm>
            <a:off x="9074150" y="2057400"/>
            <a:ext cx="233045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萬籟俱寂與四季時光檔</a:t>
            </a:r>
          </a:p>
        </p:txBody>
      </p:sp>
      <p:pic xmlns:a="http://schemas.openxmlformats.org/drawingml/2006/main" xmlns:r="http://schemas.openxmlformats.org/officeDocument/2006/relationships">
        <p:nvPicPr>
          <p:cNvPr id="41" name="Picture 40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74150" y="2336800"/>
            <a:ext cx="2330450" cy="1422400"/>
          </a:xfrm>
          <a:prstGeom prst="rect">
            <a:avLst/>
          </a:prstGeom>
          <a:ln w="12700">
            <a:solidFill>
              <a:srgbClr val="D6DEFA"/>
            </a:solidFill>
          </a:ln>
        </p:spPr>
      </p:pic>
      <p:sp xmlns:a="http://schemas.openxmlformats.org/drawingml/2006/main">
        <p:nvSpPr>
          <p:cNvPr id="42" name="TextBox 41"/>
          <p:cNvSpPr txBox="1"/>
          <p:nvPr/>
        </p:nvSpPr>
        <p:spPr>
          <a:xfrm>
            <a:off x="9074150" y="3860800"/>
            <a:ext cx="2330450" cy="116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夜間陽台 -48.2 dBFS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清晨陽台 -52.6 dBFS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累積跨月大數據回看環境演變</a:t>
            </a:r>
          </a:p>
        </p:txBody>
      </p:sp>
      <p:sp xmlns:a="http://schemas.openxmlformats.org/drawingml/2006/main">
        <p:nvSpPr>
          <p:cNvPr id="43" name="Rounded Rectangle 42"/>
          <p:cNvSpPr/>
          <p:nvPr/>
        </p:nvSpPr>
        <p:spPr>
          <a:xfrm>
            <a:off x="660400" y="5334000"/>
            <a:ext cx="10871200" cy="711200"/>
          </a:xfrm>
          <a:prstGeom prst="roundRect">
            <a:avLst>
              <a:gd name="adj" fmla="val 12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4" name="TextBox 43"/>
          <p:cNvSpPr txBox="1"/>
          <p:nvPr/>
        </p:nvSpPr>
        <p:spPr>
          <a:xfrm>
            <a:off x="812800" y="5334000"/>
            <a:ext cx="105664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時光機器大數據價值：當全校持續累積不同月份、晴雨與施工前後的「聲音＋照片」，就能隨時拉動時間軸聽見城市演變！</a:t>
            </a:r>
          </a:p>
        </p:txBody>
      </p:sp>
    </p:spTree>
    <p:extLst>
      <p:ext uri="{BB962C8B-B14F-4D97-AF65-F5344CB8AC3E}">
        <p14:creationId xmlns:p14="http://schemas.microsoft.com/office/powerpoint/2010/main" val="195323453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E5BD6F43-EC3E-4FD6-B41C-DAA3083AF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717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245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聲音大數據 × 智慧通學與探索路線規劃</a:t>
            </a:r>
          </a:p>
        </p:txBody>
      </p:sp>
      <p:sp>
        <p:nvSpPr>
          <p:cNvPr id="2" name="聲景智探  泰北聽路隊">
            <a:extLst xmlns:a="http://schemas.openxmlformats.org/drawingml/2006/main">
              <a:ext uri="{FF2B5EF4-FFF2-40B4-BE49-F238E27FC236}">
                <a16:creationId xmlns:a16="http://schemas.microsoft.com/office/drawing/2014/main" id="{9D2E0D84-F696-4812-A5CB-735077530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聲景智探  泰北聽路隊</a:t>
            </a:r>
          </a:p>
        </p:txBody>
      </p:sp>
      <p:sp>
        <p:nvSpPr>
          <p:cNvPr id="3" name="09 / 10">
            <a:extLst xmlns:a="http://schemas.openxmlformats.org/drawingml/2006/main">
              <a:ext uri="{FF2B5EF4-FFF2-40B4-BE49-F238E27FC236}">
                <a16:creationId xmlns:a16="http://schemas.microsoft.com/office/drawing/2014/main" id="{871EFF84-0862-4666-A946-438C7E32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10 / 11</a:t>
            </a:r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7112000" y="812800"/>
            <a:ext cx="44196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2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比較不同路線的分貝與聲源，找出最安靜舒適的路</a:t>
            </a:r>
          </a:p>
        </p:txBody>
      </p:sp>
      <p:sp xmlns:a="http://schemas.openxmlformats.org/drawingml/2006/main">
        <p:nvSpPr>
          <p:cNvPr id="8" name="Rounded Rectangle 7"/>
          <p:cNvSpPr/>
          <p:nvPr/>
        </p:nvSpPr>
        <p:spPr>
          <a:xfrm>
            <a:off x="660400" y="1473200"/>
            <a:ext cx="5308600" cy="170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5C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00" y="1600200"/>
            <a:ext cx="1676400" cy="1447800"/>
          </a:xfrm>
          <a:prstGeom prst="rect">
            <a:avLst/>
          </a:prstGeom>
          <a:ln w="12700">
            <a:solidFill>
              <a:srgbClr val="E5C3A6"/>
            </a:solidFill>
          </a:ln>
        </p:spPr>
      </p:pic>
      <p:sp xmlns:a="http://schemas.openxmlformats.org/drawingml/2006/main">
        <p:nvSpPr>
          <p:cNvPr id="10" name="Rounded Rectangle 9"/>
          <p:cNvSpPr/>
          <p:nvPr/>
        </p:nvSpPr>
        <p:spPr>
          <a:xfrm>
            <a:off x="2590800" y="1625600"/>
            <a:ext cx="3225800" cy="304800"/>
          </a:xfrm>
          <a:prstGeom prst="roundRect">
            <a:avLst>
              <a:gd name="adj" fmla="val 45000"/>
            </a:avLst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1" name="TextBox 10"/>
          <p:cNvSpPr txBox="1"/>
          <p:nvPr/>
        </p:nvSpPr>
        <p:spPr>
          <a:xfrm>
            <a:off x="2667000" y="1625600"/>
            <a:ext cx="30734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B45309"/>
                </a:solidFill>
                <a:latin typeface="Heiti TC"/>
                <a:ea typeface="Heiti TC"/>
                <a:cs typeface="Heiti TC"/>
              </a:rPr>
              <a:t>路線 A｜大馬路與施工側（-17.8 dBFS）</a:t>
            </a:r>
          </a:p>
        </p:txBody>
      </p:sp>
      <p:sp xmlns:a="http://schemas.openxmlformats.org/drawingml/2006/main">
        <p:nvSpPr>
          <p:cNvPr id="12" name="TextBox 11"/>
          <p:cNvSpPr txBox="1"/>
          <p:nvPr/>
        </p:nvSpPr>
        <p:spPr>
          <a:xfrm>
            <a:off x="2590800" y="2006600"/>
            <a:ext cx="32258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途經：雙向車道旁、公車站與道路施工點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聲景特徵：氣壓煞車（-17.2 dBFS）與鑽地聲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建議：尖峰時段較吵雜，行走需注意車流</a:t>
            </a:r>
          </a:p>
        </p:txBody>
      </p:sp>
      <p:sp xmlns:a="http://schemas.openxmlformats.org/drawingml/2006/main">
        <p:nvSpPr>
          <p:cNvPr id="13" name="Rounded Rectangle 12"/>
          <p:cNvSpPr/>
          <p:nvPr/>
        </p:nvSpPr>
        <p:spPr>
          <a:xfrm>
            <a:off x="6223000" y="1473200"/>
            <a:ext cx="5308600" cy="170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5268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14" name="Picture 13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00" y="1600200"/>
            <a:ext cx="1676400" cy="1447800"/>
          </a:xfrm>
          <a:prstGeom prst="rect">
            <a:avLst/>
          </a:prstGeom>
          <a:ln w="12700">
            <a:solidFill>
              <a:srgbClr val="5268AC"/>
            </a:solidFill>
          </a:ln>
        </p:spPr>
      </p:pic>
      <p:sp xmlns:a="http://schemas.openxmlformats.org/drawingml/2006/main">
        <p:nvSpPr>
          <p:cNvPr id="15" name="Rounded Rectangle 14"/>
          <p:cNvSpPr/>
          <p:nvPr/>
        </p:nvSpPr>
        <p:spPr>
          <a:xfrm>
            <a:off x="8153400" y="1625600"/>
            <a:ext cx="3225800" cy="304800"/>
          </a:xfrm>
          <a:prstGeom prst="roundRect">
            <a:avLst>
              <a:gd name="adj" fmla="val 45000"/>
            </a:avLst>
          </a:prstGeom>
          <a:solidFill>
            <a:srgbClr val="526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6" name="TextBox 15"/>
          <p:cNvSpPr txBox="1"/>
          <p:nvPr/>
        </p:nvSpPr>
        <p:spPr>
          <a:xfrm>
            <a:off x="8229600" y="1625600"/>
            <a:ext cx="30734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路線 B｜退縮綠蔭與河濱（-26.5 dBFS）</a:t>
            </a:r>
          </a:p>
        </p:txBody>
      </p:sp>
      <p:sp xmlns:a="http://schemas.openxmlformats.org/drawingml/2006/main">
        <p:nvSpPr>
          <p:cNvPr id="17" name="TextBox 16"/>
          <p:cNvSpPr txBox="1"/>
          <p:nvPr/>
        </p:nvSpPr>
        <p:spPr>
          <a:xfrm>
            <a:off x="8153400" y="2006600"/>
            <a:ext cx="32258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途經：退縮人行道、志成公園與雙溪河濱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聲景特徵：音量降低逾 8 dB，聽見鳥鳴與風聲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• AI 路線推薦：最適合上下學與散步的舒適路線！</a:t>
            </a:r>
          </a:p>
        </p:txBody>
      </p:sp>
      <p:sp xmlns:a="http://schemas.openxmlformats.org/drawingml/2006/main">
        <p:nvSpPr>
          <p:cNvPr id="18" name="Rounded Rectangle 17"/>
          <p:cNvSpPr/>
          <p:nvPr/>
        </p:nvSpPr>
        <p:spPr>
          <a:xfrm>
            <a:off x="660400" y="3327400"/>
            <a:ext cx="10871200" cy="431800"/>
          </a:xfrm>
          <a:prstGeom prst="roundRect">
            <a:avLst>
              <a:gd name="adj" fmla="val 6000"/>
            </a:avLst>
          </a:prstGeom>
          <a:solidFill>
            <a:srgbClr val="273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914400" y="3327400"/>
            <a:ext cx="2921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聲景大數據核心功能</a:t>
            </a:r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3962400" y="3327400"/>
            <a:ext cx="3683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累積的資料規模與內容</a:t>
            </a:r>
          </a:p>
        </p:txBody>
      </p:sp>
      <p:sp xmlns:a="http://schemas.openxmlformats.org/drawingml/2006/main">
        <p:nvSpPr>
          <p:cNvPr id="21" name="TextBox 20"/>
          <p:cNvSpPr txBox="1"/>
          <p:nvPr/>
        </p:nvSpPr>
        <p:spPr>
          <a:xfrm>
            <a:off x="7772400" y="3327400"/>
            <a:ext cx="3632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長期資料參照與實際幫助</a:t>
            </a:r>
          </a:p>
        </p:txBody>
      </p:sp>
      <p:sp xmlns:a="http://schemas.openxmlformats.org/drawingml/2006/main">
        <p:nvSpPr>
          <p:cNvPr id="22" name="Rounded Rectangle 21"/>
          <p:cNvSpPr/>
          <p:nvPr/>
        </p:nvSpPr>
        <p:spPr>
          <a:xfrm>
            <a:off x="660400" y="3810000"/>
            <a:ext cx="10871200" cy="53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914400" y="3810000"/>
            <a:ext cx="2921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擴充聲音地圖＋現場照片</a:t>
            </a:r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3962400" y="3810000"/>
            <a:ext cx="3683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50 個政府據點 × 17 處實拍照片與原音</a:t>
            </a:r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7772400" y="3810000"/>
            <a:ext cx="36322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每個聲音點都有照片、波形與 AI 聲源，建立可視化地圖</a:t>
            </a:r>
          </a:p>
        </p:txBody>
      </p:sp>
      <p:sp xmlns:a="http://schemas.openxmlformats.org/drawingml/2006/main">
        <p:nvSpPr>
          <p:cNvPr id="26" name="Rounded Rectangle 25"/>
          <p:cNvSpPr/>
          <p:nvPr/>
        </p:nvSpPr>
        <p:spPr>
          <a:xfrm>
            <a:off x="660400" y="4394200"/>
            <a:ext cx="10871200" cy="533400"/>
          </a:xfrm>
          <a:prstGeom prst="roundRect">
            <a:avLst>
              <a:gd name="adj" fmla="val 5000"/>
            </a:avLst>
          </a:prstGeom>
          <a:solidFill>
            <a:srgbClr val="E8ECFA"/>
          </a:solidFill>
          <a:ln w="1270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7" name="TextBox 26"/>
          <p:cNvSpPr txBox="1"/>
          <p:nvPr/>
        </p:nvSpPr>
        <p:spPr>
          <a:xfrm>
            <a:off x="914400" y="4394200"/>
            <a:ext cx="2921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城市與校園聲音時光機</a:t>
            </a:r>
          </a:p>
        </p:txBody>
      </p:sp>
      <p:sp xmlns:a="http://schemas.openxmlformats.org/drawingml/2006/main">
        <p:nvSpPr>
          <p:cNvPr id="28" name="TextBox 27"/>
          <p:cNvSpPr txBox="1"/>
          <p:nvPr/>
        </p:nvSpPr>
        <p:spPr>
          <a:xfrm>
            <a:off x="3962400" y="4394200"/>
            <a:ext cx="3683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跨時段（早／午／晚）與跨月份錄音紀錄</a:t>
            </a:r>
          </a:p>
        </p:txBody>
      </p:sp>
      <p:sp xmlns:a="http://schemas.openxmlformats.org/drawingml/2006/main">
        <p:nvSpPr>
          <p:cNvPr id="29" name="TextBox 28"/>
          <p:cNvSpPr txBox="1"/>
          <p:nvPr/>
        </p:nvSpPr>
        <p:spPr>
          <a:xfrm>
            <a:off x="7772400" y="4394200"/>
            <a:ext cx="36322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回溯施工前後、晴雨與季節變化，見證城市環境演變</a:t>
            </a:r>
          </a:p>
        </p:txBody>
      </p:sp>
      <p:sp xmlns:a="http://schemas.openxmlformats.org/drawingml/2006/main">
        <p:nvSpPr>
          <p:cNvPr id="30" name="Rounded Rectangle 29"/>
          <p:cNvSpPr/>
          <p:nvPr/>
        </p:nvSpPr>
        <p:spPr>
          <a:xfrm>
            <a:off x="660400" y="4978400"/>
            <a:ext cx="10871200" cy="53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1" name="TextBox 30"/>
          <p:cNvSpPr txBox="1"/>
          <p:nvPr/>
        </p:nvSpPr>
        <p:spPr>
          <a:xfrm>
            <a:off x="914400" y="4978400"/>
            <a:ext cx="2921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智慧通學與探索路線規劃</a:t>
            </a:r>
          </a:p>
        </p:txBody>
      </p:sp>
      <p:sp xmlns:a="http://schemas.openxmlformats.org/drawingml/2006/main">
        <p:nvSpPr>
          <p:cNvPr id="32" name="TextBox 31"/>
          <p:cNvSpPr txBox="1"/>
          <p:nvPr/>
        </p:nvSpPr>
        <p:spPr>
          <a:xfrm>
            <a:off x="3962400" y="4978400"/>
            <a:ext cx="3683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7325E"/>
                </a:solidFill>
                <a:latin typeface="Heiti TC"/>
                <a:ea typeface="Heiti TC"/>
                <a:cs typeface="Heiti TC"/>
              </a:rPr>
              <a:t>比對各路段平均 dBFS 音量與自然聲比例</a:t>
            </a:r>
          </a:p>
        </p:txBody>
      </p:sp>
      <p:sp xmlns:a="http://schemas.openxmlformats.org/drawingml/2006/main">
        <p:nvSpPr>
          <p:cNvPr id="33" name="TextBox 32"/>
          <p:cNvSpPr txBox="1"/>
          <p:nvPr/>
        </p:nvSpPr>
        <p:spPr>
          <a:xfrm>
            <a:off x="7772400" y="4978400"/>
            <a:ext cx="36322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幫同學與社區居民避開噪音熱區，推薦最安靜安全的路線</a:t>
            </a:r>
          </a:p>
        </p:txBody>
      </p:sp>
    </p:spTree>
    <p:extLst>
      <p:ext uri="{BB962C8B-B14F-4D97-AF65-F5344CB8AC3E}">
        <p14:creationId xmlns:p14="http://schemas.microsoft.com/office/powerpoint/2010/main" val="57364855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A86B2AAC-20A9-4934-A371-ADDEA2FFE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5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360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換你來破案</a:t>
            </a:r>
          </a:p>
        </p:txBody>
      </p:sp>
      <p:sp>
        <p:nvSpPr>
          <p:cNvPr id="2" name="聲景智探  泰北聽路隊">
            <a:extLst xmlns:a="http://schemas.openxmlformats.org/drawingml/2006/main">
              <a:ext uri="{FF2B5EF4-FFF2-40B4-BE49-F238E27FC236}">
                <a16:creationId xmlns:a16="http://schemas.microsoft.com/office/drawing/2014/main" id="{5B0C7754-B56F-456F-90D5-8CFE4D2D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聲景智探  泰北聽路隊</a:t>
            </a:r>
          </a:p>
        </p:txBody>
      </p:sp>
      <p:sp>
        <p:nvSpPr>
          <p:cNvPr id="3" name="10 / 10">
            <a:extLst xmlns:a="http://schemas.openxmlformats.org/drawingml/2006/main">
              <a:ext uri="{FF2B5EF4-FFF2-40B4-BE49-F238E27FC236}">
                <a16:creationId xmlns:a16="http://schemas.microsoft.com/office/drawing/2014/main" id="{65A5B6F8-74AA-4AE4-9E2D-8EA5A1CC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11 / 11</a:t>
            </a:r>
          </a:p>
        </p:txBody>
      </p:sp>
      <p:sp>
        <p:nvSpPr>
          <p:cNvPr id="4" name="打開聲景智探">
            <a:extLst xmlns:a="http://schemas.openxmlformats.org/drawingml/2006/main">
              <a:ext uri="{FF2B5EF4-FFF2-40B4-BE49-F238E27FC236}">
                <a16:creationId xmlns:a16="http://schemas.microsoft.com/office/drawing/2014/main" id="{B127820C-E1EB-497B-B4C5-DF00CC629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14525"/>
            <a:ext cx="8128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500" b="1">
                <a:solidFill>
                  <a:srgbClr val="5265A0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4500" b="1">
                <a:solidFill>
                  <a:srgbClr val="5265A0"/>
                </a:solidFill>
                <a:latin typeface="Heiti TC"/>
                <a:ea typeface="Heiti TC"/>
                <a:cs typeface="Heiti TC"/>
              </a:defRPr>
            </a:pPr>
            <a:r>
              <a:rPr sz="4500" b="1">
                <a:solidFill>
                  <a:srgbClr val="5265A0"/>
                </a:solidFill>
                <a:latin typeface="Heiti TC"/>
                <a:ea typeface="Heiti TC"/>
                <a:cs typeface="Heiti TC"/>
                <a:hlinkClick xmlns:r="http://schemas.openxmlformats.org/officeDocument/2006/relationships" r:id="R523b489d03de4322"/>
              </a:rPr>
              <a:t>打開聲景智探</a:t>
            </a:r>
          </a:p>
        </p:txBody>
      </p:sp>
      <p:sp>
        <p:nvSpPr>
          <p:cNvPr id="5" name="soundscape-ai-city-s">
            <a:extLst xmlns:a="http://schemas.openxmlformats.org/drawingml/2006/main">
              <a:ext uri="{FF2B5EF4-FFF2-40B4-BE49-F238E27FC236}">
                <a16:creationId xmlns:a16="http://schemas.microsoft.com/office/drawing/2014/main" id="{ED5B5E16-EAA7-4C7E-9431-AD2FBD85A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90850"/>
            <a:ext cx="812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25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27345D"/>
                </a:solidFill>
                <a:latin typeface="Heiti TC"/>
                <a:ea typeface="Heiti TC"/>
                <a:cs typeface="Heiti TC"/>
                <a:hlinkClick xmlns:r="http://schemas.openxmlformats.org/officeDocument/2006/relationships" r:id="R42515ceb131f48da"/>
              </a:rPr>
              <a:t>先聽一題，猜猜看</a:t>
            </a:r>
          </a:p>
        </p:txBody>
      </p:sp>
      <p:sp>
        <p:nvSpPr>
          <p:cNvPr id="6" name="先聽一題，再放上第一個自己的點">
            <a:extLst xmlns:a="http://schemas.openxmlformats.org/drawingml/2006/main">
              <a:ext uri="{FF2B5EF4-FFF2-40B4-BE49-F238E27FC236}">
                <a16:creationId xmlns:a16="http://schemas.microsoft.com/office/drawing/2014/main" id="{78C2C10B-93EE-4592-A68E-4E5CB1149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114800"/>
            <a:ext cx="812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150" b="1">
                <a:solidFill>
                  <a:srgbClr val="27345D"/>
                </a:solidFill>
                <a:latin typeface="Heiti TC"/>
                <a:ea typeface="Heiti TC"/>
                <a:cs typeface="Heiti TC"/>
              </a:defRPr>
            </a:pPr>
            <a:r>
              <a:rPr sz="3150" b="1">
                <a:solidFill>
                  <a:srgbClr val="27345D"/>
                </a:solidFill>
                <a:latin typeface="Heiti TC"/>
                <a:ea typeface="Heiti TC"/>
                <a:cs typeface="Heiti TC"/>
              </a:rPr>
              <a:t>安全錄一段，留下自己的聲音點</a:t>
            </a:r>
          </a:p>
        </p:txBody>
      </p:sp>
      <p:sp>
        <p:nvSpPr>
          <p:cNvPr id="7" name="下一次回來，看看聽到的聲音有沒有不同">
            <a:extLst xmlns:a="http://schemas.openxmlformats.org/drawingml/2006/main">
              <a:ext uri="{FF2B5EF4-FFF2-40B4-BE49-F238E27FC236}">
                <a16:creationId xmlns:a16="http://schemas.microsoft.com/office/drawing/2014/main" id="{78BE9A9E-1A30-46ED-AD98-1A6125093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305425"/>
            <a:ext cx="81280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475" b="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2475" b="0">
                <a:solidFill>
                  <a:srgbClr val="59637C"/>
                </a:solidFill>
                <a:latin typeface="Heiti TC"/>
                <a:ea typeface="Heiti TC"/>
                <a:cs typeface="Heiti TC"/>
              </a:rPr>
              <a:t>下次再來，一起聽聽看</a:t>
            </a:r>
          </a:p>
        </p:txBody>
      </p:sp>
      <p:sp>
        <p:nvSpPr>
          <p:cNvPr id="9" name="student-sharing-page">
            <a:extLst xmlns:a="http://schemas.openxmlformats.org/drawingml/2006/main">
              <a:ext uri="{FF2B5EF4-FFF2-40B4-BE49-F238E27FC236}">
                <a16:creationId xmlns:a16="http://schemas.microsoft.com/office/drawing/2014/main" id="{D07AC8AE-B44F-43CA-A41C-F4503C2FD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62650"/>
            <a:ext cx="8128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>
            <a:defPPr>
              <a:defRPr sz="180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buNone/>
              <a:defRPr sz="1800">
                <a:solidFill>
                  <a:srgbClr val="59637C"/>
                </a:solidFill>
                <a:latin typeface="Heiti TC"/>
                <a:ea typeface="Heiti TC"/>
                <a:cs typeface="Heiti TC"/>
              </a:defRPr>
            </a:pPr>
            <a:r>
              <a:rPr sz="1800">
                <a:solidFill>
                  <a:srgbClr val="59637C"/>
                </a:solidFill>
                <a:latin typeface="Heiti TC"/>
                <a:ea typeface="Heiti TC"/>
                <a:cs typeface="Heiti TC"/>
                <a:hlinkClick xmlns:r="http://schemas.openxmlformats.org/officeDocument/2006/relationships" r:id="R5a93ab29e37246eb"/>
              </a:rPr>
              <a:t>兩隊簡報、操作圖和問卷，都在分享頁</a:t>
            </a:r>
          </a:p>
        </p:txBody>
      </p:sp>
      <p:pic xmlns:a="http://schemas.openxmlformats.org/drawingml/2006/main" xmlns:r="http://schemas.openxmlformats.org/officeDocument/2006/relationships">
        <p:nvPicPr>
          <p:cNvPr id="10" name="Picture 9" descr="sound-q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26600" y="1905000"/>
            <a:ext cx="1905000" cy="1905000"/>
          </a:xfrm>
          <a:prstGeom prst="rect">
            <a:avLst/>
          </a:prstGeom>
        </p:spPr>
      </p:pic>
      <p:sp xmlns:a="http://schemas.openxmlformats.org/drawingml/2006/main">
        <p:nvSpPr>
          <p:cNvPr id="11" name="TextBox 10"/>
          <p:cNvSpPr txBox="1"/>
          <p:nvPr/>
        </p:nvSpPr>
        <p:spPr>
          <a:xfrm>
            <a:off x="9372600" y="3937000"/>
            <a:ext cx="2159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5268AC"/>
                </a:solidFill>
                <a:latin typeface="Heiti TC"/>
                <a:ea typeface="Heiti TC"/>
                <a:cs typeface="Heiti TC"/>
              </a:rPr>
              <a:t>掃描，現在就聽</a:t>
            </a:r>
          </a:p>
        </p:txBody>
      </p:sp>
    </p:spTree>
    <p:extLst>
      <p:ext uri="{BB962C8B-B14F-4D97-AF65-F5344CB8AC3E}">
        <p14:creationId xmlns:p14="http://schemas.microsoft.com/office/powerpoint/2010/main" val="10708531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268AC"/>
      </a:hlink>
      <a:folHlink>
        <a:srgbClr val="5268AC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2026-10-13T02:37:51.4360000Z</dcterms:created>
  <dcterms:modified xsi:type="dcterms:W3CDTF">2026-10-13T02:37:51.4360000Z</dcterms:modified>
</coreProperties>
</file>