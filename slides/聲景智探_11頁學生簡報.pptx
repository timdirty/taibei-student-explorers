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5cf7669f59b45bc" Type="http://schemas.openxmlformats.org/package/2006/relationships/metadata/core-properties" Target="docProps/core.xml"/><Relationship Id="Re4df170b849c45ff" Type="http://schemas.openxmlformats.org/officeDocument/2006/relationships/extended-properties" Target="docProps/app.xml"/><Relationship Id="Rf0f68e0e5d6b4468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6ec2c5d208465b"/>
  </p:sldMasterIdLst>
  <p:notesMasterIdLst>
    <p:notesMasterId xmlns:r="http://schemas.openxmlformats.org/officeDocument/2006/relationships" r:id="Re4343c88d90f40ee"/>
  </p:notesMasterIdLst>
  <p:sldIdLst>
    <p:sldId xmlns:r="http://schemas.openxmlformats.org/officeDocument/2006/relationships" id="256" r:id="R9aa611398f4442a8"/>
    <p:sldId xmlns:r="http://schemas.openxmlformats.org/officeDocument/2006/relationships" id="257" r:id="Rec1ff7bcb9a34e2e"/>
    <p:sldId xmlns:r="http://schemas.openxmlformats.org/officeDocument/2006/relationships" id="258" r:id="R8b1fb1e24f314701"/>
    <p:sldId xmlns:r="http://schemas.openxmlformats.org/officeDocument/2006/relationships" id="259" r:id="R6af7d9a662ec4e67"/>
    <p:sldId xmlns:r="http://schemas.openxmlformats.org/officeDocument/2006/relationships" id="262" r:id="Rf09c6d8862d94b07"/>
    <p:sldId xmlns:r="http://schemas.openxmlformats.org/officeDocument/2006/relationships" id="260" r:id="R3ef84f5b29c54fe2"/>
    <p:sldId xmlns:r="http://schemas.openxmlformats.org/officeDocument/2006/relationships" id="263" r:id="R03ecb90713674430"/>
    <p:sldId xmlns:r="http://schemas.openxmlformats.org/officeDocument/2006/relationships" id="261" r:id="Ra54bd9e24d8a4ba6"/>
    <p:sldId xmlns:r="http://schemas.openxmlformats.org/officeDocument/2006/relationships" id="266" r:id="rId1"/>
    <p:sldId xmlns:r="http://schemas.openxmlformats.org/officeDocument/2006/relationships" id="264" r:id="R675a2547e4214089"/>
    <p:sldId xmlns:r="http://schemas.openxmlformats.org/officeDocument/2006/relationships" id="265" r:id="Rd8f63a91054242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3ecb90713674430" Type="http://schemas.openxmlformats.org/officeDocument/2006/relationships/slide" Target="slides/slide7.xml"/><Relationship Id="R3ef84f5b29c54fe2" Type="http://schemas.openxmlformats.org/officeDocument/2006/relationships/slide" Target="slides/slide6.xml"/><Relationship Id="R481f7afb7fbc4778" Type="http://schemas.openxmlformats.org/officeDocument/2006/relationships/tableStyles" Target="tableStyles.xml"/><Relationship Id="R675a2547e4214089" Type="http://schemas.openxmlformats.org/officeDocument/2006/relationships/slide" Target="slides/slide10.xml"/><Relationship Id="R696ec2c5d208465b" Type="http://schemas.openxmlformats.org/officeDocument/2006/relationships/slideMaster" Target="slideMasters/slideMaster1.xml"/><Relationship Id="R6af7d9a662ec4e67" Type="http://schemas.openxmlformats.org/officeDocument/2006/relationships/slide" Target="slides/slide4.xml"/><Relationship Id="R8b1fb1e24f314701" Type="http://schemas.openxmlformats.org/officeDocument/2006/relationships/slide" Target="slides/slide3.xml"/><Relationship Id="R9aa611398f4442a8" Type="http://schemas.openxmlformats.org/officeDocument/2006/relationships/slide" Target="slides/slide1.xml"/><Relationship Id="Ra0cd754b098e4dd7" Type="http://schemas.openxmlformats.org/officeDocument/2006/relationships/theme" Target="theme/theme1.xml"/><Relationship Id="Ra339f1c60e9046d0" Type="http://schemas.openxmlformats.org/officeDocument/2006/relationships/presProps" Target="presProps.xml"/><Relationship Id="Ra54bd9e24d8a4ba6" Type="http://schemas.openxmlformats.org/officeDocument/2006/relationships/slide" Target="slides/slide8.xml"/><Relationship Id="Rd8f63a9105424241" Type="http://schemas.openxmlformats.org/officeDocument/2006/relationships/slide" Target="slides/slide11.xml"/><Relationship Id="Re4343c88d90f40ee" Type="http://schemas.openxmlformats.org/officeDocument/2006/relationships/notesMaster" Target="notesMasters/notesMaster1.xml"/><Relationship Id="Rec1ff7bcb9a34e2e" Type="http://schemas.openxmlformats.org/officeDocument/2006/relationships/slide" Target="slides/slide2.xml"/><Relationship Id="Rf09c6d8862d94b07" Type="http://schemas.openxmlformats.org/officeDocument/2006/relationships/slide" Target="slides/slide5.xml"/><Relationship Id="rId1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3d25c16564164b50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6f38845625774751" Type="http://schemas.openxmlformats.org/officeDocument/2006/relationships/notesMaster" Target="../notesMasters/notesMaster1.xml"/><Relationship Id="R8d28738f23e84aa7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34ab161cf89e4178" Type="http://schemas.openxmlformats.org/officeDocument/2006/relationships/slide" Target="../slides/slide2.xml"/><Relationship Id="R8f08ad2a74994ef4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6d4763970d4f4158" Type="http://schemas.openxmlformats.org/officeDocument/2006/relationships/notesMaster" Target="../notesMasters/notesMaster1.xml"/><Relationship Id="Rdeb051a5642a4d25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871e1cce188141c5" Type="http://schemas.openxmlformats.org/officeDocument/2006/relationships/slide" Target="../slides/slide4.xml"/><Relationship Id="Rd436791b92b04445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624923907f1d4631" Type="http://schemas.openxmlformats.org/officeDocument/2006/relationships/notesMaster" Target="../notesMasters/notesMaster1.xml"/><Relationship Id="R80e4d5e4c04147cb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835930bf7c6143ff" Type="http://schemas.openxmlformats.org/officeDocument/2006/relationships/notesMaster" Target="../notesMasters/notesMaster1.xml"/><Relationship Id="Rb87d2f912f95428a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3b30f5ea7e9c480b" Type="http://schemas.openxmlformats.org/officeDocument/2006/relationships/notesMaster" Target="../notesMasters/notesMaster1.xml"/><Relationship Id="R46d8384a3df64336" Type="http://schemas.openxmlformats.org/officeDocument/2006/relationships/slide" Target="../slides/slide5.xml"/></Relationships>
</file>

<file path=ppt/notesSlides/_rels/notesSlide8.xml.rels><?xml version='1.0' encoding='UTF-8' standalone='yes'?>
<Relationships xmlns="http://schemas.openxmlformats.org/package/2006/relationships"><Relationship Id="R4191119cae8a433e" Type="http://schemas.openxmlformats.org/officeDocument/2006/relationships/notesMaster" Target="../notesMasters/notesMaster1.xml"/><Relationship Id="Rdd634e27c06742d9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255890b9e09f402b" Type="http://schemas.openxmlformats.org/officeDocument/2006/relationships/slide" Target="../slides/slide10.xml"/><Relationship Id="Rb534a6ac627d4407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04baab04a46641d2" Type="http://schemas.openxmlformats.org/officeDocument/2006/relationships/slide" Target="../slides/slide11.xml"/><Relationship Id="Rebdc3f7b33eb4a59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講稿</a:t>
            </a:r>
          </a:p>
          <a:p xmlns:a="http://schemas.openxmlformats.org/drawingml/2006/main">
            <a:r>
              <a:t>大家好，我們是泰北聽路隊。我們想做一張聽得到的地圖。先用耳朵聽，再請 AI 一起找聲音，留下自己的發現。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圖片與資料出處</a:t>
            </a:r>
          </a:p>
          <a:p xmlns:a="http://schemas.openxmlformats.org/drawingml/2006/main">
            <a:r>
              <a:t>封面：AI繪圖</a:t>
            </a:r>
          </a:p>
          <a:p xmlns:a="http://schemas.openxmlformats.org/drawingml/2006/main">
            <a:r>
              <a:t>泰北國際雙語學校-國小部，隊名由家長確認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講稿</a:t>
            </a:r>
          </a:p>
          <a:p xmlns:a="http://schemas.openxmlformats.org/drawingml/2006/main">
            <a:r>
              <a:t>同一條路可能有鳥叫、車聲和人聲。換個地方或時間，會不會不同？我們想留下聲音，下次再來一起聽。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圖片與資料出處</a:t>
            </a:r>
          </a:p>
          <a:p xmlns:a="http://schemas.openxmlformats.org/drawingml/2006/main">
            <a:r>
              <a:t>https://soundscape-ai-city-sound-detective.vercel.app/</a:t>
            </a:r>
          </a:p>
          <a:p xmlns:a="http://schemas.openxmlformats.org/drawingml/2006/main">
            <a:r>
              <a:t>插畫：AI繪圖。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講稿</a:t>
            </a:r>
          </a:p>
          <a:p xmlns:a="http://schemas.openxmlformats.org/drawingml/2006/main">
            <a:r>
              <a:t>聲音從哪裡來？早上和下午一樣嗎？我們先挑一個小問題，再到安全的地方聽。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圖片與資料出處</a:t>
            </a:r>
          </a:p>
          <a:p xmlns:a="http://schemas.openxmlformats.org/drawingml/2006/main">
            <a:r>
              <a:t>https://soundscape-ai-city-sound-detective.vercel.app/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講稿</a:t>
            </a:r>
          </a:p>
          <a:p xmlns:a="http://schemas.openxmlformats.org/drawingml/2006/main">
            <a:r>
              <a:t>五十個政府地點幫我找起點，每個地點有八則編寫的情境故事，共四百則。我翻故事找問題，自己的照片和聲音再另外保存。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圖片與資料出處</a:t>
            </a:r>
          </a:p>
          <a:p xmlns:a="http://schemas.openxmlformats.org/drawingml/2006/main">
            <a:r>
              <a:t>http://localhost:3101/explore</a:t>
            </a:r>
          </a:p>
          <a:p xmlns:a="http://schemas.openxmlformats.org/drawingml/2006/main">
            <a:r>
              <a:t>App 實際畫面：2026-10-13 本機截圖，圖片檔案時間 10:25:51 Asia/Taipei</a:t>
            </a:r>
          </a:p>
          <a:p xmlns:a="http://schemas.openxmlformats.org/drawingml/2006/main">
            <a:r>
              <a:t>來源版本：7a68dcb 加上未提交的圖片操作與故事地圖改善，2026-10-12 至 10-13 本機截圖</a:t>
            </a:r>
          </a:p>
          <a:p xmlns:a="http://schemas.openxmlformats.org/drawingml/2006/main">
            <a:r>
              <a:t>主代理保存的新版實際聲音故事地圖核心區，無灰色手勢遮罩，回看全部50個探索地點，保留原地圖署名。完整實際介面另存 sound-map-current.jpg。這些地點與聲音故事是公開參考素材，不是學生已到訪或錄音的50筆紀錄；截圖沒有新增學生現場聲音。</a:t>
            </a:r>
          </a:p>
          <a:p xmlns:a="http://schemas.openxmlformats.org/drawingml/2006/main">
            <a:r>
              <a:t>底圖：OpenFreeMap、OpenMapTiles、OpenStreetMap contributors，原署名保留在截圖上。公開原音作者與授權依 App 各段來源顯示，並非學生現場採集。</a:t>
            </a:r>
          </a:p>
          <a:p xmlns:a="http://schemas.openxmlformats.org/drawingml/2006/main">
            <a:r>
              <a:t>臺北市公園及 YouBike 公開資料。400 則故事為編寫的情境。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講稿</a:t>
            </a:r>
          </a:p>
          <a:p xmlns:a="http://schemas.openxmlformats.org/drawingml/2006/main">
            <a:r>
              <a:t>我先聽原音、猜聲音，再叫 AI 一起聽。畫面用圖和名稱提示它聽到什麼。AI 也會猜錯，我再重聽、說自己的理由。這段是公開原音，來源留在畫面上。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圖片與資料出處</a:t>
            </a:r>
          </a:p>
          <a:p xmlns:a="http://schemas.openxmlformats.org/drawingml/2006/main">
            <a:r>
              <a:t>http://localhost:3101/#sound-practice</a:t>
            </a:r>
          </a:p>
          <a:p xmlns:a="http://schemas.openxmlformats.org/drawingml/2006/main">
            <a:r>
              <a:t>App 實際畫面：2026-10-12 約 17:21 Asia/Taipei</a:t>
            </a:r>
          </a:p>
          <a:p xmlns:a="http://schemas.openxmlformats.org/drawingml/2006/main">
            <a:r>
              <a:t>來源版本：7a68dcb 加上未提交的圖片操作與故事地圖改善，2026-10-12 至 10-13 本機截圖</a:t>
            </a:r>
          </a:p>
          <a:p xmlns:a="http://schemas.openxmlformats.org/drawingml/2006/main">
            <a:r>
              <a:t>本機新版實際功能操作，第5段公開原音完整播放0:10/0:10，選自然聲後按叫AI一起聽，取得真實本機模型新結果。我猜自然聲，AI猜自然/水聲並標示液體聲線索。沒有保存新筆記，沒有麥克風、GPS或上傳，非學生現場採集。</a:t>
            </a:r>
          </a:p>
          <a:p xmlns:a="http://schemas.openxmlformats.org/drawingml/2006/main">
            <a:r>
              <a:t>原音：Secretlondon，CC BY-SA 3.0。https://commons.wikimedia.org/wiki/File:Fountainnoise2.ogg</a:t>
            </a:r>
          </a:p>
          <a:p xmlns:a="http://schemas.openxmlformats.org/drawingml/2006/main">
            <a:r>
              <a:t>https://creativecommons.org/licenses/by-sa/3.0/</a:t>
            </a:r>
          </a:p>
          <a:p xmlns:a="http://schemas.openxmlformats.org/drawingml/2006/main">
            <a:r>
              <a:t>依App原音資料保留前10秒，轉成單聲道16kHz MP3。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講稿</a:t>
            </a:r>
          </a:p>
          <a:p xmlns:a="http://schemas.openxmlformats.org/drawingml/2006/main">
            <a:r>
              <a:t>我們不是到處亂錄音。實測清單有三步：在校內 2 到 3 個地點各錄 15 秒；回到同一個地點再錄一次；最後用問題卡把兩次錄音接起來。存好以後，卡片會跳出「這張問題卡可以上台了」，按一下就進破案故事。</a:t>
            </a:r>
          </a:p>
          <a:p xmlns:a="http://schemas.openxmlformats.org/drawingml/2006/main"/>
          <a:p xmlns:a="http://schemas.openxmlformats.org/drawingml/2006/main">
            <a:r>
              <a:t>圖片與資料出處</a:t>
            </a:r>
          </a:p>
          <a:p xmlns:a="http://schemas.openxmlformats.org/drawingml/2006/main">
            <a:r>
              <a:t>步驟圖示：聲景智探 App「實測成果」頁的實測清單圖示（2026-10-15 截圖）。清單只算這台平板上真的存下來的現場錄音。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講稿</a:t>
            </a:r>
          </a:p>
          <a:p xmlns:a="http://schemas.openxmlformats.org/drawingml/2006/main">
            <a:r>
              <a:t>先聽一題，猜猜聲音從哪裡來。選自己的答案後，再看 AI 的線索。九段公開原音讓我練習，自己的現場聲音要另外去錄。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圖片與資料出處</a:t>
            </a:r>
          </a:p>
          <a:p xmlns:a="http://schemas.openxmlformats.org/drawingml/2006/main">
            <a:r>
              <a:t>http://localhost:3101/#sound-practice</a:t>
            </a:r>
          </a:p>
          <a:p xmlns:a="http://schemas.openxmlformats.org/drawingml/2006/main">
            <a:r>
              <a:t>App 實際畫面：2026-10-12 本機截圖，圖片檔案時間 17:05:27 Asia/Taipei</a:t>
            </a:r>
          </a:p>
          <a:p xmlns:a="http://schemas.openxmlformats.org/drawingml/2006/main">
            <a:r>
              <a:t>來源版本：7a68dcb 加上未提交的圖片操作與故事地圖改善，2026-10-12 至 10-13 本機截圖</a:t>
            </a:r>
          </a:p>
          <a:p xmlns:a="http://schemas.openxmlformats.org/drawingml/2006/main">
            <a:r>
              <a:t>新版盲聽介面，在第 5 段公開原音開始播放與猜測前的 0:00 狀態，呈現四張一般聲音選擇圖卡，沒有先揭露這題答案。</a:t>
            </a:r>
          </a:p>
          <a:p xmlns:a="http://schemas.openxmlformats.org/drawingml/2006/main">
            <a:r>
              <a:t>原音：Secretlondon，CC BY-SA 3.0，公開原音練習來源，非學生現場錄音。https://commons.wikimedia.org/wiki/File:Fountainnoise2.ogg</a:t>
            </a:r>
          </a:p>
          <a:p xmlns:a="http://schemas.openxmlformats.org/drawingml/2006/main">
            <a:r>
              <a:t>https://creativecommons.org/licenses/by-sa/3.0/</a:t>
            </a:r>
          </a:p>
          <a:p xmlns:a="http://schemas.openxmlformats.org/drawingml/2006/main">
            <a:r>
              <a:t>依App原音資料保留前10秒，轉成單聲道16kHz MP3。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講稿</a:t>
            </a:r>
          </a:p>
          <a:p xmlns:a="http://schemas.openxmlformats.org/drawingml/2006/main">
            <a:r>
              <a:t>我想知道同一個地方早上和下午有沒有不同。從自己的地圖開問題卡，再回來錄另一段。把兩段一起聽，也看看時間、天氣和站的位置。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圖片與資料出處</a:t>
            </a:r>
          </a:p>
          <a:p xmlns:a="http://schemas.openxmlformats.org/drawingml/2006/main">
            <a:r>
              <a:t>https://soundscape-ai-city-sound-detective.vercel.app/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講稿</a:t>
            </a:r>
          </a:p>
          <a:p xmlns:a="http://schemas.openxmlformats.org/drawingml/2006/main">
            <a:r>
              <a:t>政府地點幫我找起點，情境故事幫我想問題，自己的照片和原音幫我記住現場。分享前，要避開別人的私人對話和住家位置。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圖片與資料出處</a:t>
            </a:r>
          </a:p>
          <a:p xmlns:a="http://schemas.openxmlformats.org/drawingml/2006/main">
            <a:r>
              <a:t>https://soundscape-ai-city-sound-detective.vercel.app/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講稿</a:t>
            </a:r>
          </a:p>
          <a:p xmlns:a="http://schemas.openxmlformats.org/drawingml/2006/main">
            <a:r>
              <a:t>換你來破案！掃這個 QR code，先玩一題盲聽，再選一個學校附近的地點。安全地錄一段，下次回到同一個地方再錄一次，用問題卡接起來，你也有自己的破案故事。分享頁有操作圖和兩隊簡報。</a:t>
            </a:r>
          </a:p>
          <a:p xmlns:a="http://schemas.openxmlformats.org/drawingml/2006/main"/>
          <a:p xmlns:a="http://schemas.openxmlformats.org/drawingml/2006/main">
            <a:r>
              <a:t>圖片與資料出處</a:t>
            </a:r>
          </a:p>
          <a:p xmlns:a="http://schemas.openxmlformats.org/drawingml/2006/main">
            <a:r>
              <a:t>QR code 連到 https://soundscape-ai-city-sound-detective.vercel.app/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講稿</a:t>
            </a:r>
          </a:p>
          <a:p>
            <a:r>
              <a:t>請評審當法官！先聽聲音甲和聲音乙，我們不說哪一段是第一次、哪一段是回訪。覺得哪一段比較舒服，就投一票。投完我們再一章一章揭曉，也說說我們聽到的改變和理由。</a:t>
            </a:r>
          </a:p>
          <a:p/>
          <a:p>
            <a:r>
              <a:t>圖片與資料出處</a:t>
            </a:r>
          </a:p>
          <a:p>
            <a:r>
              <a:t>聲景智探 App「破案故事」第 1 章盲聽法庭畫面（2026-10-15 截圖），畫面是 App 內建的示範卷宗；投票只留在畫面上，不會存起來。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5adcaab428a64b95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0f106fa8ae164fe5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87c9a24e59bf4110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43769a89c97d4c10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e2730ac0011f4745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94800fe0c1b84a5c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304DDCE-A497-4C89-9109-92FA0A41E1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1299EB9-B399-4C3B-8045-D9F91CD7F65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12D1FA3-ABE5-4130-8F38-97B4E04F68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953C12-A7D8-46BD-BC6A-9B6B03BE8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3CEE7D7-A66D-44F1-961A-F3F8F21833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2CAA9C5-D99E-42A3-90B0-3300D084C2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0693102-7A33-4EBE-9933-89EBD77519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D9BF252-A983-48AB-A2E5-0DB51AFB568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67FBA0-DC4C-4071-9CC2-A924439AD4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A9A6438-73F2-4208-99F9-4FFAEC38C4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07af9dd340e4a92" Type="http://schemas.openxmlformats.org/officeDocument/2006/relationships/theme" Target="theme/theme2.xml"/><Relationship Id="R1784c5215bb249ab" Type="http://schemas.openxmlformats.org/officeDocument/2006/relationships/slideLayout" Target="../slideLayouts/slideLayout5.xml"/><Relationship Id="R45ebc3c2a381484b" Type="http://schemas.openxmlformats.org/officeDocument/2006/relationships/slideLayout" Target="../slideLayouts/slideLayout3.xml"/><Relationship Id="R559e8808401144e8" Type="http://schemas.openxmlformats.org/officeDocument/2006/relationships/slideLayout" Target="../slideLayouts/slideLayout4.xml"/><Relationship Id="R7844de63500e48e1" Type="http://schemas.openxmlformats.org/officeDocument/2006/relationships/slideLayout" Target="../slideLayouts/slideLayout2.xml"/><Relationship Id="R9a2b639fc3ee441f" Type="http://schemas.openxmlformats.org/officeDocument/2006/relationships/slideLayout" Target="../slideLayouts/slideLayout1.xml"/><Relationship Id="Rf3cc2b7c62814966" Type="http://schemas.openxmlformats.org/officeDocument/2006/relationships/slideLayout" Target="../slideLayouts/slideLayout6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2b639fc3ee441f"/>
    <p:sldLayoutId xmlns:r="http://schemas.openxmlformats.org/officeDocument/2006/relationships" id="2147483650" r:id="R7844de63500e48e1"/>
    <p:sldLayoutId xmlns:r="http://schemas.openxmlformats.org/officeDocument/2006/relationships" id="2147483651" r:id="R45ebc3c2a381484b"/>
    <p:sldLayoutId xmlns:r="http://schemas.openxmlformats.org/officeDocument/2006/relationships" id="2147483652" r:id="R559e8808401144e8"/>
    <p:sldLayoutId xmlns:r="http://schemas.openxmlformats.org/officeDocument/2006/relationships" id="2147483653" r:id="R1784c5215bb249ab"/>
    <p:sldLayoutId xmlns:r="http://schemas.openxmlformats.org/officeDocument/2006/relationships" id="2147483654" r:id="Rf3cc2b7c628149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5cbe501618346aa" Type="http://schemas.openxmlformats.org/officeDocument/2006/relationships/notesSlide" Target="../notesSlides/notesSlide1.xml"/><Relationship Id="Rdfa932adaacc4bd8" Type="http://schemas.openxmlformats.org/officeDocument/2006/relationships/image" Target="../media/image.png"/><Relationship Id="Rf0ff24f662a9403f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24ea7dc9e3934f8d" Type="http://schemas.openxmlformats.org/officeDocument/2006/relationships/image" Target="../media/image2.png"/><Relationship Id="R77bdca34200545b0" Type="http://schemas.openxmlformats.org/officeDocument/2006/relationships/slideLayout" Target="../slideLayouts/slideLayout6.xml"/><Relationship Id="Re4ab953eb7cb4629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9ea3a39e1be64b47" Type="http://schemas.openxmlformats.org/officeDocument/2006/relationships/slideLayout" Target="../slideLayouts/slideLayout6.xml"/><Relationship Id="Rcaaed2e1e0db477c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1369842323784f5e" Type="http://schemas.openxmlformats.org/officeDocument/2006/relationships/slideLayout" Target="../slideLayouts/slideLayout6.xml"/><Relationship Id="R737a2c8aa62c4e43" Type="http://schemas.openxmlformats.org/officeDocument/2006/relationships/notesSlide" Target="../notesSlides/notesSlide4.xml"/><Relationship Id="Rd8319ea900b24bc1" Type="http://schemas.openxmlformats.org/officeDocument/2006/relationships/image" Target="../media/image.jpeg"/></Relationships>
</file>

<file path=ppt/slides/_rels/slide5.xml.rels><?xml version='1.0' encoding='UTF-8' standalone='yes'?>
<Relationships xmlns="http://schemas.openxmlformats.org/package/2006/relationships"><Relationship Id="R724d3aa7666248dd" Type="http://schemas.openxmlformats.org/officeDocument/2006/relationships/notesSlide" Target="../notesSlides/notesSlide7.xml"/><Relationship Id="R806dd6fc38be43fc" Type="http://schemas.openxmlformats.org/officeDocument/2006/relationships/image" Target="../media/image3.jpeg"/><Relationship Id="Rf4da8ec8eba74df8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6f39d542156d46f0" Type="http://schemas.openxmlformats.org/officeDocument/2006/relationships/image" Target="../media/image2.jpeg"/><Relationship Id="R935ab8306b494d81" Type="http://schemas.openxmlformats.org/officeDocument/2006/relationships/notesSlide" Target="../notesSlides/notesSlide5.xml"/><Relationship Id="Raa72d4ff7ee44d97" Type="http://schemas.openxmlformats.org/officeDocument/2006/relationships/slideLayout" Target="../slideLayouts/slideLayout6.xml"/><Relationship Id="Re6d7ca0540ac4067" Type="http://schemas.openxmlformats.org/officeDocument/2006/relationships/hyperlink" Target="https://soundscape-ai-city-sound-detective.vercel.app/#sound-practice" TargetMode="External"/></Relationships>
</file>

<file path=ppt/slides/_rels/slide7.xml.rels><?xml version='1.0' encoding='UTF-8' standalone='yes'?>
<Relationships xmlns="http://schemas.openxmlformats.org/package/2006/relationships"><Relationship Id="R700f40a8638f41bd" Type="http://schemas.openxmlformats.org/officeDocument/2006/relationships/notesSlide" Target="../notesSlides/notesSlide8.xml"/><Relationship Id="Rbcb405ebed744870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70fd2c2a19ed410b" Type="http://schemas.openxmlformats.org/officeDocument/2006/relationships/slideLayout" Target="../slideLayouts/slideLayout6.xml"/><Relationship Id="Rccab31a56462431d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806dd6fc38be43fc" Type="http://schemas.openxmlformats.org/officeDocument/2006/relationships/image" Target="../media/image3.jpeg"/><Relationship Id="Rf4da8ec8eba74df8" Type="http://schemas.openxmlformats.org/officeDocument/2006/relationships/slideLayout" Target="../slideLayouts/slideLayout6.xml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45765c504fb34708" Type="http://schemas.openxmlformats.org/officeDocument/2006/relationships/slideLayout" Target="../slideLayouts/slideLayout6.xml"/><Relationship Id="R96ba12c971d44769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42515ceb131f48da" Type="http://schemas.openxmlformats.org/officeDocument/2006/relationships/hyperlink" Target="https://soundscape-ai-city-sound-detective.vercel.app/" TargetMode="External"/><Relationship Id="R44bfcd790eff43c5" Type="http://schemas.openxmlformats.org/officeDocument/2006/relationships/slideLayout" Target="../slideLayouts/slideLayout6.xml"/><Relationship Id="R523b489d03de4322" Type="http://schemas.openxmlformats.org/officeDocument/2006/relationships/hyperlink" Target="https://soundscape-ai-city-sound-detective.vercel.app/" TargetMode="External"/><Relationship Id="R5a93ab29e37246eb" Type="http://schemas.openxmlformats.org/officeDocument/2006/relationships/hyperlink" Target="https://foodlens-school.vercel.app/students" TargetMode="External"/><Relationship Id="Re5fc0a76cfb44f1b" Type="http://schemas.openxmlformats.org/officeDocument/2006/relationships/notesSlide" Target="../notesSlides/notesSlide10.xml"/><Relationship Id="rId6" Type="http://schemas.openxmlformats.org/officeDocument/2006/relationships/image" Target="../media/image8.png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B6129B-A7DE-488A-92CA-A0597B4FA9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a932adaacc4bd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聲景智探">
            <a:extLst xmlns:a="http://schemas.openxmlformats.org/drawingml/2006/main">
              <a:ext uri="{FF2B5EF4-FFF2-40B4-BE49-F238E27FC236}">
                <a16:creationId xmlns:a16="http://schemas.microsoft.com/office/drawing/2014/main" id="{CF0BDD7D-1592-4BDC-8270-46CD1064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53340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900" b="1">
                <a:solidFill>
                  <a:srgbClr val="27345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6900" b="1">
                <a:solidFill>
                  <a:srgbClr val="27345D"/>
                </a:solidFill>
                <a:latin typeface="Heiti TC"/>
                <a:ea typeface="Heiti TC"/>
                <a:cs typeface="Heiti TC"/>
              </a:defRPr>
            </a:pPr>
            <a:r>
              <a:rPr sz="6900" b="1">
                <a:solidFill>
                  <a:srgbClr val="27345D"/>
                </a:solidFill>
                <a:latin typeface="Heiti TC"/>
                <a:ea typeface="Heiti TC"/>
                <a:cs typeface="Heiti TC"/>
              </a:rPr>
              <a:t>聲景智探</a:t>
            </a:r>
          </a:p>
        </p:txBody>
      </p:sp>
      <p:sp>
        <p:nvSpPr>
          <p:cNvPr id="3" name="跟著耳朵，&#10;發現城市">
            <a:extLst xmlns:a="http://schemas.openxmlformats.org/drawingml/2006/main">
              <a:ext uri="{FF2B5EF4-FFF2-40B4-BE49-F238E27FC236}">
                <a16:creationId xmlns:a16="http://schemas.microsoft.com/office/drawing/2014/main" id="{48A066E7-640F-48B5-A053-6A9A04BD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38475"/>
            <a:ext cx="4953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5265A0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5265A0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5265A0"/>
                </a:solidFill>
                <a:latin typeface="Heiti TC"/>
                <a:ea typeface="Heiti TC"/>
                <a:cs typeface="Heiti TC"/>
              </a:rPr>
              <a:t>跟著耳朵，</a:t>
            </a:r>
          </a:p>
          <a:p xmlns:a="http://schemas.openxmlformats.org/drawingml/2006/main">
            <a:pPr algn="l">
              <a:buNone/>
              <a:defRPr sz="3450" b="1">
                <a:solidFill>
                  <a:srgbClr val="5265A0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5265A0"/>
                </a:solidFill>
                <a:latin typeface="Heiti TC"/>
                <a:ea typeface="Heiti TC"/>
                <a:cs typeface="Heiti TC"/>
              </a:rPr>
              <a:t>發現城市</a:t>
            </a:r>
          </a:p>
        </p:txBody>
      </p:sp>
      <p:sp>
        <p:nvSpPr>
          <p:cNvPr id="4" name="泰北聽路隊">
            <a:extLst xmlns:a="http://schemas.openxmlformats.org/drawingml/2006/main">
              <a:ext uri="{FF2B5EF4-FFF2-40B4-BE49-F238E27FC236}">
                <a16:creationId xmlns:a16="http://schemas.microsoft.com/office/drawing/2014/main" id="{5AF4E1EB-48D8-414E-96CF-978984A5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0125"/>
            <a:ext cx="5286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7345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27345D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27345D"/>
                </a:solidFill>
                <a:latin typeface="Heiti TC"/>
                <a:ea typeface="Heiti TC"/>
                <a:cs typeface="Heiti TC"/>
              </a:rPr>
              <a:t>泰北聽路隊</a:t>
            </a:r>
          </a:p>
        </p:txBody>
      </p:sp>
      <p:sp>
        <p:nvSpPr>
          <p:cNvPr id="5" name="泰北國際雙語學校-國小部">
            <a:extLst xmlns:a="http://schemas.openxmlformats.org/drawingml/2006/main">
              <a:ext uri="{FF2B5EF4-FFF2-40B4-BE49-F238E27FC236}">
                <a16:creationId xmlns:a16="http://schemas.microsoft.com/office/drawing/2014/main" id="{5E093C08-1450-45F9-8BE7-2B88A563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561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7345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7345D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27345D"/>
                </a:solidFill>
                <a:latin typeface="Heiti TC"/>
                <a:ea typeface="Heiti TC"/>
                <a:cs typeface="Heiti TC"/>
              </a:rPr>
              <a:t>泰北國際雙語學校-國小部</a:t>
            </a:r>
          </a:p>
        </p:txBody>
      </p:sp>
      <p:sp>
        <p:nvSpPr>
          <p:cNvPr id="6" name="AI 概念插畫">
            <a:extLst xmlns:a="http://schemas.openxmlformats.org/drawingml/2006/main">
              <a:ext uri="{FF2B5EF4-FFF2-40B4-BE49-F238E27FC236}">
                <a16:creationId xmlns:a16="http://schemas.microsoft.com/office/drawing/2014/main" id="{065040A7-0BF5-446A-85FE-3B653268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9637C"/>
                </a:solidFill>
                <a:latin typeface="Heiti TC"/>
                <a:ea typeface="Heiti TC"/>
                <a:cs typeface="Heiti TC"/>
              </a:rPr>
              <a:t>AI 概念插畫</a:t>
            </a:r>
          </a:p>
        </p:txBody>
      </p:sp>
    </p:spTree>
    <p:extLst>
      <p:ext uri="{BB962C8B-B14F-4D97-AF65-F5344CB8AC3E}">
        <p14:creationId xmlns:p14="http://schemas.microsoft.com/office/powerpoint/2010/main" val="18185991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heading">
            <a:extLst xmlns:a="http://schemas.openxmlformats.org/drawingml/2006/main">
              <a:ext uri="{FF2B5EF4-FFF2-40B4-BE49-F238E27FC236}">
                <a16:creationId xmlns:a16="http://schemas.microsoft.com/office/drawing/2014/main" id="{60BF702A-AABA-4C53-A359-D0618AA1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5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7345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27345D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27345D"/>
                </a:solidFill>
                <a:latin typeface="Heiti TC"/>
                <a:ea typeface="Heiti TC"/>
                <a:cs typeface="Heiti TC"/>
              </a:rPr>
              <a:t>同一條路，會聽到什麼？</a:t>
            </a:r>
          </a:p>
        </p:txBody>
      </p:sp>
      <p:sp>
        <p:nvSpPr>
          <p:cNvPr id="2" name="聲景智探  泰北聽路隊">
            <a:extLst xmlns:a="http://schemas.openxmlformats.org/drawingml/2006/main">
              <a:ext uri="{FF2B5EF4-FFF2-40B4-BE49-F238E27FC236}">
                <a16:creationId xmlns:a16="http://schemas.microsoft.com/office/drawing/2014/main" id="{04CF62F6-7008-48C0-9984-1334EA9D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59637C"/>
                </a:solidFill>
                <a:latin typeface="Heiti TC"/>
                <a:ea typeface="Heiti TC"/>
                <a:cs typeface="Heiti TC"/>
              </a:rPr>
              <a:t>聲景智探  泰北聽路隊</a:t>
            </a:r>
          </a:p>
        </p:txBody>
      </p:sp>
      <p:sp>
        <p:nvSpPr>
          <p:cNvPr id="3" name="02 / 10">
            <a:extLst xmlns:a="http://schemas.openxmlformats.org/drawingml/2006/main">
              <a:ext uri="{FF2B5EF4-FFF2-40B4-BE49-F238E27FC236}">
                <a16:creationId xmlns:a16="http://schemas.microsoft.com/office/drawing/2014/main" id="{27CD6421-A04D-42F2-BDF4-3D2F4324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59637C"/>
                </a:solidFill>
                <a:latin typeface="Heiti TC"/>
                <a:ea typeface="Heiti TC"/>
                <a:cs typeface="Heiti TC"/>
              </a:rPr>
              <a:t>02 / 11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8180E4-C35F-4D28-B7EA-941FCA568A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ea7dc9e3934f8d"/>
          <a:stretch xmlns:a="http://schemas.openxmlformats.org/drawingml/2006/main"/>
        </p:blipFill>
        <p:spPr>
          <a:xfrm xmlns:a="http://schemas.openxmlformats.org/drawingml/2006/main">
            <a:off x="762000" y="1828800"/>
            <a:ext cx="4076700" cy="4076700"/>
          </a:xfrm>
          <a:prstGeom xmlns:a="http://schemas.openxmlformats.org/drawingml/2006/main" prst="rect">
            <a:avLst/>
          </a:prstGeom>
        </p:spPr>
      </p:pic>
      <p:sp>
        <p:nvSpPr>
          <p:cNvPr id="5" name="鳥叫、車聲，&#10;還是人聲？">
            <a:extLst xmlns:a="http://schemas.openxmlformats.org/drawingml/2006/main">
              <a:ext uri="{FF2B5EF4-FFF2-40B4-BE49-F238E27FC236}">
                <a16:creationId xmlns:a16="http://schemas.microsoft.com/office/drawing/2014/main" id="{55919654-3FB9-49CB-AF8E-3BE833EE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971675"/>
            <a:ext cx="5819775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27345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525" b="1">
                <a:solidFill>
                  <a:srgbClr val="27345D"/>
                </a:solidFill>
                <a:latin typeface="Heiti TC"/>
                <a:ea typeface="Heiti TC"/>
                <a:cs typeface="Heiti TC"/>
              </a:defRPr>
            </a:pPr>
            <a:r>
              <a:rPr sz="3525" b="1">
                <a:solidFill>
                  <a:srgbClr val="27345D"/>
                </a:solidFill>
                <a:latin typeface="Heiti TC"/>
                <a:ea typeface="Heiti TC"/>
                <a:cs typeface="Heiti TC"/>
              </a:rPr>
              <a:t>鳥叫、車聲，</a:t>
            </a:r>
          </a:p>
          <a:p xmlns:a="http://schemas.openxmlformats.org/drawingml/2006/main">
            <a:pPr algn="l">
              <a:buNone/>
              <a:defRPr sz="3525" b="1">
                <a:solidFill>
                  <a:srgbClr val="27345D"/>
                </a:solidFill>
                <a:latin typeface="Heiti TC"/>
                <a:ea typeface="Heiti TC"/>
                <a:cs typeface="Heiti TC"/>
              </a:defRPr>
            </a:pPr>
            <a:r>
              <a:rPr sz="3525" b="1">
                <a:solidFill>
                  <a:srgbClr val="27345D"/>
                </a:solidFill>
                <a:latin typeface="Heiti TC"/>
                <a:ea typeface="Heiti TC"/>
                <a:cs typeface="Heiti TC"/>
              </a:rPr>
              <a:t>還是人聲？</a:t>
            </a:r>
          </a:p>
        </p:txBody>
      </p:sp>
      <p:sp>
        <p:nvSpPr>
          <p:cNvPr id="6" name="換個地方或時間，&#10;會不會不一樣？">
            <a:extLst xmlns:a="http://schemas.openxmlformats.org/drawingml/2006/main">
              <a:ext uri="{FF2B5EF4-FFF2-40B4-BE49-F238E27FC236}">
                <a16:creationId xmlns:a16="http://schemas.microsoft.com/office/drawing/2014/main" id="{C97FECED-C361-4518-9144-B750579A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971925"/>
            <a:ext cx="5810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5265A0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850" b="1">
                <a:solidFill>
                  <a:srgbClr val="5265A0"/>
                </a:solidFill>
                <a:latin typeface="Heiti TC"/>
                <a:ea typeface="Heiti TC"/>
                <a:cs typeface="Heiti TC"/>
              </a:defRPr>
            </a:pPr>
            <a:r>
              <a:rPr sz="2850" b="1">
                <a:solidFill>
                  <a:srgbClr val="5265A0"/>
                </a:solidFill>
                <a:latin typeface="Heiti TC"/>
                <a:ea typeface="Heiti TC"/>
                <a:cs typeface="Heiti TC"/>
              </a:rPr>
              <a:t>換個地方或時間，</a:t>
            </a:r>
          </a:p>
          <a:p xmlns:a="http://schemas.openxmlformats.org/drawingml/2006/main">
            <a:pPr algn="l">
              <a:buNone/>
              <a:defRPr sz="2850" b="1">
                <a:solidFill>
                  <a:srgbClr val="5265A0"/>
                </a:solidFill>
                <a:latin typeface="Heiti TC"/>
                <a:ea typeface="Heiti TC"/>
                <a:cs typeface="Heiti TC"/>
              </a:defRPr>
            </a:pPr>
            <a:r>
              <a:rPr sz="2850" b="1">
                <a:solidFill>
                  <a:srgbClr val="5265A0"/>
                </a:solidFill>
                <a:latin typeface="Heiti TC"/>
                <a:ea typeface="Heiti TC"/>
                <a:cs typeface="Heiti TC"/>
              </a:rPr>
              <a:t>會不會不一樣？</a:t>
            </a:r>
          </a:p>
        </p:txBody>
      </p:sp>
      <p:sp>
        <p:nvSpPr>
          <p:cNvPr id="7" name="我們想做一張聽得到的地圖">
            <a:extLst xmlns:a="http://schemas.openxmlformats.org/drawingml/2006/main">
              <a:ext uri="{FF2B5EF4-FFF2-40B4-BE49-F238E27FC236}">
                <a16:creationId xmlns:a16="http://schemas.microsoft.com/office/drawing/2014/main" id="{B7B75488-030A-41CF-A840-8E398081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572125"/>
            <a:ext cx="5810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59637C"/>
                </a:solidFill>
                <a:latin typeface="Heiti TC"/>
                <a:ea typeface="Heiti TC"/>
                <a:cs typeface="Heiti TC"/>
              </a:rPr>
              <a:t>我們想做一張聽得到的地圖</a:t>
            </a:r>
          </a:p>
        </p:txBody>
      </p:sp>
      <p:sp>
        <p:nvSpPr>
          <p:cNvPr id="8" name="AI 概念插畫">
            <a:extLst xmlns:a="http://schemas.openxmlformats.org/drawingml/2006/main">
              <a:ext uri="{FF2B5EF4-FFF2-40B4-BE49-F238E27FC236}">
                <a16:creationId xmlns:a16="http://schemas.microsoft.com/office/drawing/2014/main" id="{60400334-3668-4DB8-B2C0-4A5485A4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98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pPr>
            <a:r>
              <a:rPr sz="1575" b="0">
                <a:solidFill>
                  <a:srgbClr val="59637C"/>
                </a:solidFill>
                <a:latin typeface="Heiti TC"/>
                <a:ea typeface="Heiti TC"/>
                <a:cs typeface="Heiti TC"/>
              </a:rPr>
              <a:t>AI 概念插畫</a:t>
            </a:r>
          </a:p>
        </p:txBody>
      </p:sp>
    </p:spTree>
    <p:extLst>
      <p:ext uri="{BB962C8B-B14F-4D97-AF65-F5344CB8AC3E}">
        <p14:creationId xmlns:p14="http://schemas.microsoft.com/office/powerpoint/2010/main" val="314809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CB4355-C6B8-4C37-B416-DCC93B20D3B0}"/>
              </a:ext>
            </a:extLst>
          </p:cNvPr>
          <p:cNvCxnSpPr/>
          <p:nvPr/>
        </p:nvCxnSpPr>
        <p:spPr>
          <a:xfrm xmlns:a="http://schemas.openxmlformats.org/drawingml/2006/main">
            <a:off x="8048625" y="3257550"/>
            <a:ext cx="504825" cy="1343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A0"/>
            </a:solidFill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D0DB8E-693D-4953-A857-09FB4C141DC1}"/>
              </a:ext>
            </a:extLst>
          </p:cNvPr>
          <p:cNvCxnSpPr/>
          <p:nvPr/>
        </p:nvCxnSpPr>
        <p:spPr>
          <a:xfrm xmlns:a="http://schemas.openxmlformats.org/drawingml/2006/main" flipV="1">
            <a:off x="8048625" y="2466975"/>
            <a:ext cx="504825" cy="790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A0"/>
            </a:solidFill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2B261-3D31-48E9-8447-7D4AB5BF2E58}"/>
              </a:ext>
            </a:extLst>
          </p:cNvPr>
          <p:cNvCxnSpPr/>
          <p:nvPr/>
        </p:nvCxnSpPr>
        <p:spPr>
          <a:xfrm xmlns:a="http://schemas.openxmlformats.org/drawingml/2006/main" flipH="1">
            <a:off x="3743325" y="3257550"/>
            <a:ext cx="400050" cy="1343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A0"/>
            </a:solidFill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11DBE9-93BA-491D-B55E-D52E2A429DE6}"/>
              </a:ext>
            </a:extLst>
          </p:cNvPr>
          <p:cNvCxnSpPr/>
          <p:nvPr/>
        </p:nvCxnSpPr>
        <p:spPr>
          <a:xfrm xmlns:a="http://schemas.openxmlformats.org/drawingml/2006/main" flipH="1" flipV="1">
            <a:off x="3743325" y="2466975"/>
            <a:ext cx="400050" cy="790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A0"/>
            </a:solidFill>
          </a:ln>
        </p:spPr>
      </p:cxnSp>
      <p:sp>
        <p:nvSpPr>
          <p:cNvPr id="14" name="slide-heading">
            <a:extLst xmlns:a="http://schemas.openxmlformats.org/drawingml/2006/main">
              <a:ext uri="{FF2B5EF4-FFF2-40B4-BE49-F238E27FC236}">
                <a16:creationId xmlns:a16="http://schemas.microsoft.com/office/drawing/2014/main" id="{85E52D29-917D-4423-A43D-67EB3CEF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5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7345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27345D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27345D"/>
                </a:solidFill>
                <a:latin typeface="Heiti TC"/>
                <a:ea typeface="Heiti TC"/>
                <a:cs typeface="Heiti TC"/>
              </a:rPr>
              <a:t>破案前，先列疑問</a:t>
            </a:r>
          </a:p>
        </p:txBody>
      </p:sp>
      <p:sp>
        <p:nvSpPr>
          <p:cNvPr id="2" name="聲景智探  泰北聽路隊">
            <a:extLst xmlns:a="http://schemas.openxmlformats.org/drawingml/2006/main">
              <a:ext uri="{FF2B5EF4-FFF2-40B4-BE49-F238E27FC236}">
                <a16:creationId xmlns:a16="http://schemas.microsoft.com/office/drawing/2014/main" id="{76A8B81E-02E4-490B-89E5-349353E4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59637C"/>
                </a:solidFill>
                <a:latin typeface="Heiti TC"/>
                <a:ea typeface="Heiti TC"/>
                <a:cs typeface="Heiti TC"/>
              </a:rPr>
              <a:t>聲景智探  泰北聽路隊</a:t>
            </a:r>
          </a:p>
        </p:txBody>
      </p:sp>
      <p:sp>
        <p:nvSpPr>
          <p:cNvPr id="3" name="03 / 10">
            <a:extLst xmlns:a="http://schemas.openxmlformats.org/drawingml/2006/main">
              <a:ext uri="{FF2B5EF4-FFF2-40B4-BE49-F238E27FC236}">
                <a16:creationId xmlns:a16="http://schemas.microsoft.com/office/drawing/2014/main" id="{14735290-8B4E-4696-9776-C33BB357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59637C"/>
                </a:solidFill>
                <a:latin typeface="Heiti TC"/>
                <a:ea typeface="Heiti TC"/>
                <a:cs typeface="Heiti TC"/>
              </a:rPr>
              <a:t>03 / 11</a:t>
            </a:r>
          </a:p>
        </p:txBody>
      </p:sp>
      <p:sp>
        <p:nvSpPr>
          <p:cNvPr id="4" name="mindmap-center">
            <a:extLst xmlns:a="http://schemas.openxmlformats.org/drawingml/2006/main">
              <a:ext uri="{FF2B5EF4-FFF2-40B4-BE49-F238E27FC236}">
                <a16:creationId xmlns:a16="http://schemas.microsoft.com/office/drawing/2014/main" id="{6EEBCEE1-36F5-4470-BE93-4D62C4D5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638425"/>
            <a:ext cx="3905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225" b="1">
                <a:solidFill>
                  <a:srgbClr val="27345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ctr">
              <a:buNone/>
              <a:defRPr sz="3225" b="1">
                <a:solidFill>
                  <a:srgbClr val="27345D"/>
                </a:solidFill>
                <a:latin typeface="Heiti TC"/>
                <a:ea typeface="Heiti TC"/>
                <a:cs typeface="Heiti TC"/>
              </a:defRPr>
            </a:pPr>
            <a:r>
              <a:rPr sz="3225" b="1">
                <a:solidFill>
                  <a:srgbClr val="27345D"/>
                </a:solidFill>
                <a:latin typeface="Heiti TC"/>
                <a:ea typeface="Heiti TC"/>
                <a:cs typeface="Heiti TC"/>
              </a:rPr>
              <a:t>這裡的聲音</a:t>
            </a:r>
          </a:p>
          <a:p xmlns:a="http://schemas.openxmlformats.org/drawingml/2006/main">
            <a:pPr algn="ctr">
              <a:buNone/>
              <a:defRPr sz="3225" b="1">
                <a:solidFill>
                  <a:srgbClr val="27345D"/>
                </a:solidFill>
                <a:latin typeface="Heiti TC"/>
                <a:ea typeface="Heiti TC"/>
                <a:cs typeface="Heiti TC"/>
              </a:defRPr>
            </a:pPr>
            <a:r>
              <a:rPr sz="3225" b="1">
                <a:solidFill>
                  <a:srgbClr val="27345D"/>
                </a:solidFill>
                <a:latin typeface="Heiti TC"/>
                <a:ea typeface="Heiti TC"/>
                <a:cs typeface="Heiti TC"/>
              </a:rPr>
              <a:t>從哪裡來？</a:t>
            </a:r>
          </a:p>
        </p:txBody>
      </p:sp>
      <p:sp>
        <p:nvSpPr>
          <p:cNvPr id="5" name="mindmap-branch-0">
            <a:extLst xmlns:a="http://schemas.openxmlformats.org/drawingml/2006/main">
              <a:ext uri="{FF2B5EF4-FFF2-40B4-BE49-F238E27FC236}">
                <a16:creationId xmlns:a16="http://schemas.microsoft.com/office/drawing/2014/main" id="{EC0D7C28-23F8-493A-B183-518B037E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3000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5265A0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ctr">
              <a:buNone/>
              <a:defRPr sz="2325" b="1">
                <a:solidFill>
                  <a:srgbClr val="5265A0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5265A0"/>
                </a:solidFill>
                <a:latin typeface="Heiti TC"/>
                <a:ea typeface="Heiti TC"/>
                <a:cs typeface="Heiti TC"/>
              </a:rPr>
              <a:t>鳥叫還是車聲？</a:t>
            </a:r>
          </a:p>
        </p:txBody>
      </p:sp>
      <p:sp>
        <p:nvSpPr>
          <p:cNvPr id="7" name="mindmap-branch-1">
            <a:extLst xmlns:a="http://schemas.openxmlformats.org/drawingml/2006/main">
              <a:ext uri="{FF2B5EF4-FFF2-40B4-BE49-F238E27FC236}">
                <a16:creationId xmlns:a16="http://schemas.microsoft.com/office/drawing/2014/main" id="{0EE35C7C-E8CD-4A50-A439-FCC02864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3000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5265A0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ctr">
              <a:buNone/>
              <a:defRPr sz="2325" b="1">
                <a:solidFill>
                  <a:srgbClr val="5265A0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5265A0"/>
                </a:solidFill>
                <a:latin typeface="Heiti TC"/>
                <a:ea typeface="Heiti TC"/>
                <a:cs typeface="Heiti TC"/>
              </a:rPr>
              <a:t>同地不同時間？</a:t>
            </a:r>
          </a:p>
        </p:txBody>
      </p:sp>
      <p:sp>
        <p:nvSpPr>
          <p:cNvPr id="9" name="mindmap-branch-2">
            <a:extLst xmlns:a="http://schemas.openxmlformats.org/drawingml/2006/main">
              <a:ext uri="{FF2B5EF4-FFF2-40B4-BE49-F238E27FC236}">
                <a16:creationId xmlns:a16="http://schemas.microsoft.com/office/drawing/2014/main" id="{CA90B668-AB00-4F85-A3DC-8B6BB164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76450"/>
            <a:ext cx="3000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5265A0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ctr">
              <a:buNone/>
              <a:defRPr sz="2325" b="1">
                <a:solidFill>
                  <a:srgbClr val="5265A0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5265A0"/>
                </a:solidFill>
                <a:latin typeface="Heiti TC"/>
                <a:ea typeface="Heiti TC"/>
                <a:cs typeface="Heiti TC"/>
              </a:rPr>
              <a:t>換個地點呢？</a:t>
            </a:r>
          </a:p>
        </p:txBody>
      </p:sp>
      <p:sp>
        <p:nvSpPr>
          <p:cNvPr id="11" name="mindmap-branch-3">
            <a:extLst xmlns:a="http://schemas.openxmlformats.org/drawingml/2006/main">
              <a:ext uri="{FF2B5EF4-FFF2-40B4-BE49-F238E27FC236}">
                <a16:creationId xmlns:a16="http://schemas.microsoft.com/office/drawing/2014/main" id="{A4E1353F-66D3-45B9-8427-D128D924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10050"/>
            <a:ext cx="3000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5265A0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ctr">
              <a:buNone/>
              <a:defRPr sz="2325" b="1">
                <a:solidFill>
                  <a:srgbClr val="5265A0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5265A0"/>
                </a:solidFill>
                <a:latin typeface="Heiti TC"/>
                <a:ea typeface="Heiti TC"/>
                <a:cs typeface="Heiti TC"/>
              </a:rPr>
              <a:t>回來再聽一次？</a:t>
            </a:r>
          </a:p>
        </p:txBody>
      </p:sp>
      <p:sp>
        <p:nvSpPr>
          <p:cNvPr id="13" name="依既有手寫方向整理，問題要能親自去聽">
            <a:extLst xmlns:a="http://schemas.openxmlformats.org/drawingml/2006/main">
              <a:ext uri="{FF2B5EF4-FFF2-40B4-BE49-F238E27FC236}">
                <a16:creationId xmlns:a16="http://schemas.microsoft.com/office/drawing/2014/main" id="{BBEB1177-0465-4F27-9BCD-78FBF56D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7690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ctr">
              <a:buNone/>
              <a:defRPr sz="2175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59637C"/>
                </a:solidFill>
                <a:latin typeface="Heiti TC"/>
                <a:ea typeface="Heiti TC"/>
                <a:cs typeface="Heiti TC"/>
              </a:rPr>
              <a:t>每次先挑一個問題</a:t>
            </a:r>
          </a:p>
        </p:txBody>
      </p:sp>
    </p:spTree>
    <p:extLst>
      <p:ext uri="{BB962C8B-B14F-4D97-AF65-F5344CB8AC3E}">
        <p14:creationId xmlns:p14="http://schemas.microsoft.com/office/powerpoint/2010/main" val="4201341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heading">
            <a:extLst xmlns:a="http://schemas.openxmlformats.org/drawingml/2006/main">
              <a:ext uri="{FF2B5EF4-FFF2-40B4-BE49-F238E27FC236}">
                <a16:creationId xmlns:a16="http://schemas.microsoft.com/office/drawing/2014/main" id="{BDCE567C-5F6B-4B28-8F27-5EF2B279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5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7345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27345D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27345D"/>
                </a:solidFill>
                <a:latin typeface="Heiti TC"/>
                <a:ea typeface="Heiti TC"/>
                <a:cs typeface="Heiti TC"/>
              </a:rPr>
              <a:t>我想去這裡聽</a:t>
            </a:r>
          </a:p>
        </p:txBody>
      </p:sp>
      <p:sp>
        <p:nvSpPr>
          <p:cNvPr id="2" name="聲景智探  泰北聽路隊">
            <a:extLst xmlns:a="http://schemas.openxmlformats.org/drawingml/2006/main">
              <a:ext uri="{FF2B5EF4-FFF2-40B4-BE49-F238E27FC236}">
                <a16:creationId xmlns:a16="http://schemas.microsoft.com/office/drawing/2014/main" id="{8B4F3507-6E97-4127-B80E-21055788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59637C"/>
                </a:solidFill>
                <a:latin typeface="Heiti TC"/>
                <a:ea typeface="Heiti TC"/>
                <a:cs typeface="Heiti TC"/>
              </a:rPr>
              <a:t>聲景智探  泰北聽路隊</a:t>
            </a:r>
          </a:p>
        </p:txBody>
      </p:sp>
      <p:sp>
        <p:nvSpPr>
          <p:cNvPr id="3" name="04 / 10">
            <a:extLst xmlns:a="http://schemas.openxmlformats.org/drawingml/2006/main">
              <a:ext uri="{FF2B5EF4-FFF2-40B4-BE49-F238E27FC236}">
                <a16:creationId xmlns:a16="http://schemas.microsoft.com/office/drawing/2014/main" id="{A1223488-2BB1-414D-AFC9-62DC62E9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59637C"/>
                </a:solidFill>
                <a:latin typeface="Heiti TC"/>
                <a:ea typeface="Heiti TC"/>
                <a:cs typeface="Heiti TC"/>
              </a:rPr>
              <a:t>04 / 11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44B1EA-9178-4885-8AAB-0F23383252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319ea900b24bc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9600" y="1864826"/>
            <a:ext cx="7286625" cy="3909397"/>
          </a:xfrm>
          <a:prstGeom xmlns:a="http://schemas.openxmlformats.org/drawingml/2006/main" prst="rect">
            <a:avLst/>
          </a:prstGeom>
        </p:spPr>
      </p:pic>
      <p:sp>
        <p:nvSpPr>
          <p:cNvPr id="5" name="50">
            <a:extLst xmlns:a="http://schemas.openxmlformats.org/drawingml/2006/main">
              <a:ext uri="{FF2B5EF4-FFF2-40B4-BE49-F238E27FC236}">
                <a16:creationId xmlns:a16="http://schemas.microsoft.com/office/drawing/2014/main" id="{D5B70872-0BDA-462E-9A91-BB8CA7E2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3086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5268A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625" b="1">
                <a:solidFill>
                  <a:srgbClr val="5268AC"/>
                </a:solidFill>
                <a:latin typeface="Heiti TC"/>
                <a:ea typeface="Heiti TC"/>
                <a:cs typeface="Heiti TC"/>
              </a:defRPr>
            </a:pPr>
            <a:r>
              <a:rPr sz="2625" b="1">
                <a:solidFill>
                  <a:srgbClr val="5268AC"/>
                </a:solidFill>
                <a:latin typeface="Heiti TC"/>
                <a:ea typeface="Heiti TC"/>
                <a:cs typeface="Heiti TC"/>
              </a:rPr>
              <a:t>選地點</a:t>
            </a:r>
          </a:p>
        </p:txBody>
      </p:sp>
      <p:sp>
        <p:nvSpPr>
          <p:cNvPr id="6" name="個政府參考地點">
            <a:extLst xmlns:a="http://schemas.openxmlformats.org/drawingml/2006/main">
              <a:ext uri="{FF2B5EF4-FFF2-40B4-BE49-F238E27FC236}">
                <a16:creationId xmlns:a16="http://schemas.microsoft.com/office/drawing/2014/main" id="{7A99BB23-5D20-4FED-A766-69A5939B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52775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7325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27325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27325E"/>
                </a:solidFill>
                <a:latin typeface="Heiti TC"/>
                <a:ea typeface="Heiti TC"/>
                <a:cs typeface="Heiti TC"/>
              </a:rPr>
              <a:t>翻一個故事</a:t>
            </a:r>
          </a:p>
        </p:txBody>
      </p:sp>
      <p:sp>
        <p:nvSpPr>
          <p:cNvPr id="7" name="24 公園&#10;26 交通據點">
            <a:extLst xmlns:a="http://schemas.openxmlformats.org/drawingml/2006/main">
              <a:ext uri="{FF2B5EF4-FFF2-40B4-BE49-F238E27FC236}">
                <a16:creationId xmlns:a16="http://schemas.microsoft.com/office/drawing/2014/main" id="{31AC8A8D-13A3-4B94-8696-AC9E3228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3086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7325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27325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27325E"/>
                </a:solidFill>
                <a:latin typeface="Heiti TC"/>
                <a:ea typeface="Heiti TC"/>
                <a:cs typeface="Heiti TC"/>
              </a:rPr>
              <a:t>想一個問題</a:t>
            </a:r>
          </a:p>
        </p:txBody>
      </p:sp>
      <p:sp>
        <p:nvSpPr>
          <p:cNvPr id="8" name="位置是起點&#10;聲音要自己錄">
            <a:extLst xmlns:a="http://schemas.openxmlformats.org/drawingml/2006/main">
              <a:ext uri="{FF2B5EF4-FFF2-40B4-BE49-F238E27FC236}">
                <a16:creationId xmlns:a16="http://schemas.microsoft.com/office/drawing/2014/main" id="{674214C2-40D8-4ABF-A074-7E25F8CD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05425"/>
            <a:ext cx="3086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59637C"/>
                </a:solidFill>
                <a:latin typeface="Heiti TC"/>
                <a:ea typeface="Heiti TC"/>
                <a:cs typeface="Heiti TC"/>
              </a:rPr>
              <a:t>故事是情境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59637C"/>
                </a:solidFill>
                <a:latin typeface="Heiti TC"/>
                <a:ea typeface="Heiti TC"/>
                <a:cs typeface="Heiti TC"/>
              </a:rPr>
              <a:t>聲音自己去錄</a:t>
            </a:r>
          </a:p>
        </p:txBody>
      </p:sp>
    </p:spTree>
    <p:extLst>
      <p:ext uri="{BB962C8B-B14F-4D97-AF65-F5344CB8AC3E}">
        <p14:creationId xmlns:p14="http://schemas.microsoft.com/office/powerpoint/2010/main" val="11337266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heading">
            <a:extLst xmlns:a="http://schemas.openxmlformats.org/drawingml/2006/main">
              <a:ext uri="{FF2B5EF4-FFF2-40B4-BE49-F238E27FC236}">
                <a16:creationId xmlns:a16="http://schemas.microsoft.com/office/drawing/2014/main" id="{4E832491-8FA5-4DBF-8DD8-C61B54EF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5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7345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27345D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27345D"/>
                </a:solidFill>
                <a:latin typeface="Heiti TC"/>
                <a:ea typeface="Heiti TC"/>
                <a:cs typeface="Heiti TC"/>
              </a:rPr>
              <a:t>盲聽小遊戲</a:t>
            </a:r>
          </a:p>
        </p:txBody>
      </p:sp>
      <p:sp>
        <p:nvSpPr>
          <p:cNvPr id="2" name="聲景智探  泰北聽路隊">
            <a:extLst xmlns:a="http://schemas.openxmlformats.org/drawingml/2006/main">
              <a:ext uri="{FF2B5EF4-FFF2-40B4-BE49-F238E27FC236}">
                <a16:creationId xmlns:a16="http://schemas.microsoft.com/office/drawing/2014/main" id="{6D5F24C5-39F6-4F0F-BE10-7EE5AD3D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59637C"/>
                </a:solidFill>
                <a:latin typeface="Heiti TC"/>
                <a:ea typeface="Heiti TC"/>
                <a:cs typeface="Heiti TC"/>
              </a:rPr>
              <a:t>聲景智探  泰北聽路隊</a:t>
            </a:r>
          </a:p>
        </p:txBody>
      </p:sp>
      <p:sp>
        <p:nvSpPr>
          <p:cNvPr id="3" name="07 / 10">
            <a:extLst xmlns:a="http://schemas.openxmlformats.org/drawingml/2006/main">
              <a:ext uri="{FF2B5EF4-FFF2-40B4-BE49-F238E27FC236}">
                <a16:creationId xmlns:a16="http://schemas.microsoft.com/office/drawing/2014/main" id="{BA526737-E8FB-4B02-BB20-450F9CC0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59637C"/>
                </a:solidFill>
                <a:latin typeface="Heiti TC"/>
                <a:ea typeface="Heiti TC"/>
                <a:cs typeface="Heiti TC"/>
              </a:rPr>
              <a:t>05 / 11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70DCF0-C296-491B-9F0A-DF3E404188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6dd6fc38be43fc"/>
          <a:srcRect xmlns:a="http://schemas.openxmlformats.org/drawingml/2006/main" l="7500" t="8333" r="7500" b="16500"/>
          <a:stretch xmlns:a="http://schemas.openxmlformats.org/drawingml/2006/main"/>
        </p:blipFill>
        <p:spPr>
          <a:xfrm xmlns:a="http://schemas.openxmlformats.org/drawingml/2006/main">
            <a:off x="762000" y="1701800"/>
            <a:ext cx="6604000" cy="4380025"/>
          </a:xfrm>
          <a:prstGeom xmlns:a="http://schemas.openxmlformats.org/drawingml/2006/main" prst="rect">
            <a:avLst/>
          </a:prstGeom>
          <a:ln xmlns:a="http://schemas.openxmlformats.org/drawingml/2006/main" w="15875">
            <a:solidFill>
              <a:srgbClr val="27325E"/>
            </a:solidFill>
          </a:ln>
        </p:spPr>
      </p:pic>
      <p:sp>
        <p:nvSpPr>
          <p:cNvPr id="16" name="blind-listen-caption">
            <a:extLst xmlns:a="http://schemas.openxmlformats.org/drawingml/2006/main">
              <a:ext uri="{FF2B5EF4-FFF2-40B4-BE49-F238E27FC236}">
                <a16:creationId xmlns:a16="http://schemas.microsoft.com/office/drawing/2014/main" id="{4A6EAB89-B649-4D66-82FC-30358290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240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625" b="1">
                <a:solidFill>
                  <a:srgbClr val="5268A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5268AC"/>
                </a:solidFill>
                <a:latin typeface="Heiti TC"/>
                <a:ea typeface="Heiti TC"/>
                <a:cs typeface="Heiti TC"/>
              </a:defRPr>
            </a:pPr>
            <a:r>
              <a:rPr sz="2625" b="1">
                <a:solidFill>
                  <a:srgbClr val="5268AC"/>
                </a:solidFill>
                <a:latin typeface="Heiti TC"/>
                <a:ea typeface="Heiti TC"/>
                <a:cs typeface="Heiti TC"/>
              </a:rPr>
              <a:t>先聽，再選</a:t>
            </a:r>
          </a:p>
        </p:txBody>
      </p:sp>
      <p:sp>
        <p:nvSpPr>
          <p:cNvPr id="17" name="blind-listen-caption">
            <a:extLst xmlns:a="http://schemas.openxmlformats.org/drawingml/2006/main">
              <a:ext uri="{FF2B5EF4-FFF2-40B4-BE49-F238E27FC236}">
                <a16:creationId xmlns:a16="http://schemas.microsoft.com/office/drawing/2014/main" id="{840D8991-2DA7-4604-9A57-3539A436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0037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325" b="0">
                <a:solidFill>
                  <a:srgbClr val="27325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7325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27325E"/>
                </a:solidFill>
                <a:latin typeface="Heiti TC"/>
                <a:ea typeface="Heiti TC"/>
                <a:cs typeface="Heiti TC"/>
              </a:rPr>
              <a:t>「我聽到什麼？」</a:t>
            </a:r>
          </a:p>
        </p:txBody>
      </p:sp>
      <p:sp>
        <p:nvSpPr>
          <p:cNvPr id="18" name="blind-listen-caption">
            <a:extLst xmlns:a="http://schemas.openxmlformats.org/drawingml/2006/main">
              <a:ext uri="{FF2B5EF4-FFF2-40B4-BE49-F238E27FC236}">
                <a16:creationId xmlns:a16="http://schemas.microsoft.com/office/drawing/2014/main" id="{FE01B621-7D14-4CE8-8374-F6DAFF48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71925"/>
            <a:ext cx="3143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325" b="0">
                <a:solidFill>
                  <a:srgbClr val="27325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7325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27325E"/>
                </a:solidFill>
                <a:latin typeface="Heiti TC"/>
                <a:ea typeface="Heiti TC"/>
                <a:cs typeface="Heiti TC"/>
              </a:rPr>
              <a:t>猜完再看 AI</a:t>
            </a:r>
          </a:p>
          <a:p xmlns:a="http://schemas.openxmlformats.org/drawingml/2006/main">
            <a:pPr>
              <a:defRPr sz="2325" b="0">
                <a:solidFill>
                  <a:srgbClr val="27325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27325E"/>
                </a:solidFill>
                <a:latin typeface="Heiti TC"/>
                <a:ea typeface="Heiti TC"/>
                <a:cs typeface="Heiti TC"/>
              </a:rPr>
              <a:t>也說說我的理由</a:t>
            </a:r>
          </a:p>
        </p:txBody>
      </p:sp>
      <p:sp>
        <p:nvSpPr>
          <p:cNvPr id="19" name="blind-listen-caption">
            <a:extLst xmlns:a="http://schemas.openxmlformats.org/drawingml/2006/main">
              <a:ext uri="{FF2B5EF4-FFF2-40B4-BE49-F238E27FC236}">
                <a16:creationId xmlns:a16="http://schemas.microsoft.com/office/drawing/2014/main" id="{13298F39-A5EE-4FEC-B720-13DD2167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911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950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59637C"/>
                </a:solidFill>
                <a:latin typeface="Heiti TC"/>
                <a:ea typeface="Heiti TC"/>
                <a:cs typeface="Heiti TC"/>
              </a:rPr>
              <a:t>猜不同也沒關係</a:t>
            </a:r>
          </a:p>
        </p:txBody>
      </p:sp>
    </p:spTree>
    <p:extLst>
      <p:ext uri="{BB962C8B-B14F-4D97-AF65-F5344CB8AC3E}">
        <p14:creationId xmlns:p14="http://schemas.microsoft.com/office/powerpoint/2010/main" val="19532345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heading">
            <a:extLst xmlns:a="http://schemas.openxmlformats.org/drawingml/2006/main">
              <a:ext uri="{FF2B5EF4-FFF2-40B4-BE49-F238E27FC236}">
                <a16:creationId xmlns:a16="http://schemas.microsoft.com/office/drawing/2014/main" id="{6BFAA577-F335-4507-AB02-D6ECF41F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5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7345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27345D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27345D"/>
                </a:solidFill>
                <a:latin typeface="Heiti TC"/>
                <a:ea typeface="Heiti TC"/>
                <a:cs typeface="Heiti TC"/>
              </a:rPr>
              <a:t>AI 和我一起聽</a:t>
            </a:r>
          </a:p>
        </p:txBody>
      </p:sp>
      <p:sp>
        <p:nvSpPr>
          <p:cNvPr id="2" name="聲景智探  泰北聽路隊">
            <a:extLst xmlns:a="http://schemas.openxmlformats.org/drawingml/2006/main">
              <a:ext uri="{FF2B5EF4-FFF2-40B4-BE49-F238E27FC236}">
                <a16:creationId xmlns:a16="http://schemas.microsoft.com/office/drawing/2014/main" id="{604A50C4-5894-4025-BE62-B5683808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59637C"/>
                </a:solidFill>
                <a:latin typeface="Heiti TC"/>
                <a:ea typeface="Heiti TC"/>
                <a:cs typeface="Heiti TC"/>
              </a:rPr>
              <a:t>聲景智探  泰北聽路隊</a:t>
            </a:r>
          </a:p>
        </p:txBody>
      </p:sp>
      <p:sp>
        <p:nvSpPr>
          <p:cNvPr id="3" name="05 / 10">
            <a:extLst xmlns:a="http://schemas.openxmlformats.org/drawingml/2006/main">
              <a:ext uri="{FF2B5EF4-FFF2-40B4-BE49-F238E27FC236}">
                <a16:creationId xmlns:a16="http://schemas.microsoft.com/office/drawing/2014/main" id="{88DED55B-5A6E-471D-905D-AA592A30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59637C"/>
                </a:solidFill>
                <a:latin typeface="Heiti TC"/>
                <a:ea typeface="Heiti TC"/>
                <a:cs typeface="Heiti TC"/>
              </a:rPr>
              <a:t>06 / 11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0AB2E4-FBCF-4429-A82F-CF3A325EC9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39d542156d46f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9600" y="1708920"/>
            <a:ext cx="7286625" cy="4078335"/>
          </a:xfrm>
          <a:prstGeom xmlns:a="http://schemas.openxmlformats.org/drawingml/2006/main" prst="rect">
            <a:avLst/>
          </a:prstGeom>
        </p:spPr>
      </p:pic>
      <p:sp>
        <p:nvSpPr>
          <p:cNvPr id="5" name="真實 YAMNet">
            <a:extLst xmlns:a="http://schemas.openxmlformats.org/drawingml/2006/main">
              <a:ext uri="{FF2B5EF4-FFF2-40B4-BE49-F238E27FC236}">
                <a16:creationId xmlns:a16="http://schemas.microsoft.com/office/drawing/2014/main" id="{D3200A23-C789-45D7-9CDA-93A20517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66900"/>
            <a:ext cx="31432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5268A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625" b="1">
                <a:solidFill>
                  <a:srgbClr val="5268AC"/>
                </a:solidFill>
                <a:latin typeface="Heiti TC"/>
                <a:ea typeface="Heiti TC"/>
                <a:cs typeface="Heiti TC"/>
              </a:defRPr>
            </a:pPr>
            <a:r>
              <a:rPr sz="2625" b="1">
                <a:solidFill>
                  <a:srgbClr val="5268AC"/>
                </a:solidFill>
                <a:latin typeface="Heiti TC"/>
                <a:ea typeface="Heiti TC"/>
                <a:cs typeface="Heiti TC"/>
              </a:rPr>
              <a:t>我先猜，AI 再猜</a:t>
            </a:r>
          </a:p>
        </p:txBody>
      </p:sp>
      <p:sp>
        <p:nvSpPr>
          <p:cNvPr id="6" name="AI 提供聲音線索">
            <a:extLst xmlns:a="http://schemas.openxmlformats.org/drawingml/2006/main">
              <a:ext uri="{FF2B5EF4-FFF2-40B4-BE49-F238E27FC236}">
                <a16:creationId xmlns:a16="http://schemas.microsoft.com/office/drawing/2014/main" id="{C0E62EE6-1B1D-4CCC-BE59-C2069CF0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146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27325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75" b="0">
                <a:solidFill>
                  <a:srgbClr val="27325E"/>
                </a:solidFill>
                <a:latin typeface="Heiti TC"/>
                <a:ea typeface="Heiti TC"/>
                <a:cs typeface="Heiti TC"/>
              </a:defRPr>
            </a:pPr>
            <a:r>
              <a:rPr sz="2475" b="0">
                <a:solidFill>
                  <a:srgbClr val="27325E"/>
                </a:solidFill>
                <a:latin typeface="Heiti TC"/>
                <a:ea typeface="Heiti TC"/>
                <a:cs typeface="Heiti TC"/>
              </a:rPr>
              <a:t>看圖，找聲音</a:t>
            </a:r>
          </a:p>
        </p:txBody>
      </p:sp>
      <p:sp>
        <p:nvSpPr>
          <p:cNvPr id="7" name="我再聽一次，&#10;寫自己的依據">
            <a:extLst xmlns:a="http://schemas.openxmlformats.org/drawingml/2006/main">
              <a:ext uri="{FF2B5EF4-FFF2-40B4-BE49-F238E27FC236}">
                <a16:creationId xmlns:a16="http://schemas.microsoft.com/office/drawing/2014/main" id="{CBBFB313-DED3-47A3-ABC2-C8A2FC96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86225"/>
            <a:ext cx="31432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7325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27325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27325E"/>
                </a:solidFill>
                <a:latin typeface="Heiti TC"/>
                <a:ea typeface="Heiti TC"/>
                <a:cs typeface="Heiti TC"/>
              </a:rPr>
              <a:t>重聽一次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27325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27325E"/>
                </a:solidFill>
                <a:latin typeface="Heiti TC"/>
                <a:ea typeface="Heiti TC"/>
                <a:cs typeface="Heiti TC"/>
              </a:rPr>
              <a:t>說說我的理由</a:t>
            </a:r>
          </a:p>
        </p:txBody>
      </p:sp>
      <p:sp>
        <p:nvSpPr>
          <p:cNvPr id="8" name="3 段授權原音可先暖身">
            <a:extLst xmlns:a="http://schemas.openxmlformats.org/drawingml/2006/main">
              <a:ext uri="{FF2B5EF4-FFF2-40B4-BE49-F238E27FC236}">
                <a16:creationId xmlns:a16="http://schemas.microsoft.com/office/drawing/2014/main" id="{AF5D4D33-EB41-4EC7-A61E-05F67241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4102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59637C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e6d7ca0540ac4067"/>
              </a:rPr>
              <a:t>9 段公開原音</a:t>
            </a:r>
          </a:p>
        </p:txBody>
      </p:sp>
      <p:sp>
        <p:nvSpPr>
          <p:cNvPr id="9" name="2026/10/08 Preview 功">
            <a:extLst xmlns:a="http://schemas.openxmlformats.org/drawingml/2006/main">
              <a:ext uri="{FF2B5EF4-FFF2-40B4-BE49-F238E27FC236}">
                <a16:creationId xmlns:a16="http://schemas.microsoft.com/office/drawing/2014/main" id="{0B5AF22D-EBF0-4A72-A8C6-A50A44AF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59637C"/>
                </a:solidFill>
                <a:latin typeface="Heiti TC"/>
                <a:ea typeface="Heiti TC"/>
                <a:cs typeface="Heiti TC"/>
              </a:rPr>
              <a:t>公開原音練習聽，我的現場聲音另外錄</a:t>
            </a:r>
          </a:p>
        </p:txBody>
      </p:sp>
    </p:spTree>
    <p:extLst>
      <p:ext uri="{BB962C8B-B14F-4D97-AF65-F5344CB8AC3E}">
        <p14:creationId xmlns:p14="http://schemas.microsoft.com/office/powerpoint/2010/main" val="4040697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heading">
            <a:extLst xmlns:a="http://schemas.openxmlformats.org/drawingml/2006/main">
              <a:ext uri="{FF2B5EF4-FFF2-40B4-BE49-F238E27FC236}">
                <a16:creationId xmlns:a16="http://schemas.microsoft.com/office/drawing/2014/main" id="{C6DEC051-BF9E-4A54-8BAA-609B1E8C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5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7345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27345D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27345D"/>
                </a:solidFill>
                <a:latin typeface="Heiti TC"/>
                <a:ea typeface="Heiti TC"/>
                <a:cs typeface="Heiti TC"/>
              </a:rPr>
              <a:t>同一個地方，我再聽</a:t>
            </a:r>
          </a:p>
        </p:txBody>
      </p:sp>
      <p:sp>
        <p:nvSpPr>
          <p:cNvPr id="2" name="聲景智探  泰北聽路隊">
            <a:extLst xmlns:a="http://schemas.openxmlformats.org/drawingml/2006/main">
              <a:ext uri="{FF2B5EF4-FFF2-40B4-BE49-F238E27FC236}">
                <a16:creationId xmlns:a16="http://schemas.microsoft.com/office/drawing/2014/main" id="{E5226E96-0455-467A-A22C-44BA8A6B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59637C"/>
                </a:solidFill>
                <a:latin typeface="Heiti TC"/>
                <a:ea typeface="Heiti TC"/>
                <a:cs typeface="Heiti TC"/>
              </a:rPr>
              <a:t>聲景智探  泰北聽路隊</a:t>
            </a:r>
          </a:p>
        </p:txBody>
      </p:sp>
      <p:sp>
        <p:nvSpPr>
          <p:cNvPr id="3" name="08 / 10">
            <a:extLst xmlns:a="http://schemas.openxmlformats.org/drawingml/2006/main">
              <a:ext uri="{FF2B5EF4-FFF2-40B4-BE49-F238E27FC236}">
                <a16:creationId xmlns:a16="http://schemas.microsoft.com/office/drawing/2014/main" id="{CC159035-11E2-4100-BFFC-F510A0BC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59637C"/>
                </a:solidFill>
                <a:latin typeface="Heiti TC"/>
                <a:ea typeface="Heiti TC"/>
                <a:cs typeface="Heiti TC"/>
              </a:rPr>
              <a:t>07 / 11</a:t>
            </a:r>
          </a:p>
        </p:txBody>
      </p:sp>
      <p:sp>
        <p:nvSpPr>
          <p:cNvPr id="4" name="「早上與下午，會一樣嗎？」">
            <a:extLst xmlns:a="http://schemas.openxmlformats.org/drawingml/2006/main">
              <a:ext uri="{FF2B5EF4-FFF2-40B4-BE49-F238E27FC236}">
                <a16:creationId xmlns:a16="http://schemas.microsoft.com/office/drawing/2014/main" id="{8F46025F-255B-4B91-BD9E-3B99C37F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5265A0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5265A0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5265A0"/>
                </a:solidFill>
                <a:latin typeface="Heiti TC"/>
                <a:ea typeface="Heiti TC"/>
                <a:cs typeface="Heiti TC"/>
              </a:rPr>
              <a:t>「早上與下午，會一樣嗎？」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481E4AC9-5889-4EB8-99BC-3247283A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28765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5265A0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75" b="1">
                <a:solidFill>
                  <a:srgbClr val="5265A0"/>
                </a:solidFill>
                <a:latin typeface="Heiti TC"/>
                <a:ea typeface="Heiti TC"/>
                <a:cs typeface="Heiti TC"/>
              </a:defRPr>
            </a:pPr>
            <a:r>
              <a:rPr sz="3675" b="1">
                <a:solidFill>
                  <a:srgbClr val="5265A0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6" name="editable-substep-0">
            <a:extLst xmlns:a="http://schemas.openxmlformats.org/drawingml/2006/main">
              <a:ext uri="{FF2B5EF4-FFF2-40B4-BE49-F238E27FC236}">
                <a16:creationId xmlns:a16="http://schemas.microsoft.com/office/drawing/2014/main" id="{60E03090-81C4-4E90-AA92-DDC5CDDB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28765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27345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625" b="1">
                <a:solidFill>
                  <a:srgbClr val="27345D"/>
                </a:solidFill>
                <a:latin typeface="Heiti TC"/>
                <a:ea typeface="Heiti TC"/>
                <a:cs typeface="Heiti TC"/>
              </a:defRPr>
            </a:pPr>
            <a:r>
              <a:rPr sz="2625" b="1">
                <a:solidFill>
                  <a:srgbClr val="27345D"/>
                </a:solidFill>
                <a:latin typeface="Heiti TC"/>
                <a:ea typeface="Heiti TC"/>
                <a:cs typeface="Heiti TC"/>
              </a:rPr>
              <a:t>地圖上</a:t>
            </a:r>
          </a:p>
          <a:p xmlns:a="http://schemas.openxmlformats.org/drawingml/2006/main">
            <a:pPr algn="l">
              <a:buNone/>
              <a:defRPr sz="2625" b="1">
                <a:solidFill>
                  <a:srgbClr val="27345D"/>
                </a:solidFill>
                <a:latin typeface="Heiti TC"/>
                <a:ea typeface="Heiti TC"/>
                <a:cs typeface="Heiti TC"/>
              </a:defRPr>
            </a:pPr>
            <a:r>
              <a:rPr sz="2625" b="1">
                <a:solidFill>
                  <a:srgbClr val="27345D"/>
                </a:solidFill>
                <a:latin typeface="Heiti TC"/>
                <a:ea typeface="Heiti TC"/>
                <a:cs typeface="Heiti TC"/>
              </a:rPr>
              <a:t>選一個問題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B9BD2490-7965-4310-829E-3DC7BB5A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0375"/>
            <a:ext cx="28765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5265A0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75" b="1">
                <a:solidFill>
                  <a:srgbClr val="5265A0"/>
                </a:solidFill>
                <a:latin typeface="Heiti TC"/>
                <a:ea typeface="Heiti TC"/>
                <a:cs typeface="Heiti TC"/>
              </a:defRPr>
            </a:pPr>
            <a:r>
              <a:rPr sz="3675" b="1">
                <a:solidFill>
                  <a:srgbClr val="5265A0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8" name="editable-substep-1">
            <a:extLst xmlns:a="http://schemas.openxmlformats.org/drawingml/2006/main">
              <a:ext uri="{FF2B5EF4-FFF2-40B4-BE49-F238E27FC236}">
                <a16:creationId xmlns:a16="http://schemas.microsoft.com/office/drawing/2014/main" id="{E8B46A83-C3EB-4833-BA99-F522A38E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14750"/>
            <a:ext cx="28765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27345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625" b="1">
                <a:solidFill>
                  <a:srgbClr val="27345D"/>
                </a:solidFill>
                <a:latin typeface="Heiti TC"/>
                <a:ea typeface="Heiti TC"/>
                <a:cs typeface="Heiti TC"/>
              </a:defRPr>
            </a:pPr>
            <a:r>
              <a:rPr sz="2625" b="1">
                <a:solidFill>
                  <a:srgbClr val="27345D"/>
                </a:solidFill>
                <a:latin typeface="Heiti TC"/>
                <a:ea typeface="Heiti TC"/>
                <a:cs typeface="Heiti TC"/>
              </a:rPr>
              <a:t>同一地方</a:t>
            </a:r>
          </a:p>
          <a:p xmlns:a="http://schemas.openxmlformats.org/drawingml/2006/main">
            <a:pPr algn="l">
              <a:buNone/>
              <a:defRPr sz="2625" b="1">
                <a:solidFill>
                  <a:srgbClr val="27345D"/>
                </a:solidFill>
                <a:latin typeface="Heiti TC"/>
                <a:ea typeface="Heiti TC"/>
                <a:cs typeface="Heiti TC"/>
              </a:defRPr>
            </a:pPr>
            <a:r>
              <a:rPr sz="2625" b="1">
                <a:solidFill>
                  <a:srgbClr val="27345D"/>
                </a:solidFill>
                <a:latin typeface="Heiti TC"/>
                <a:ea typeface="Heiti TC"/>
                <a:cs typeface="Heiti TC"/>
              </a:rPr>
              <a:t>再錄一段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CFB2B960-675E-48B7-9893-84D21E93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00375"/>
            <a:ext cx="28765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5265A0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75" b="1">
                <a:solidFill>
                  <a:srgbClr val="5265A0"/>
                </a:solidFill>
                <a:latin typeface="Heiti TC"/>
                <a:ea typeface="Heiti TC"/>
                <a:cs typeface="Heiti TC"/>
              </a:defRPr>
            </a:pPr>
            <a:r>
              <a:rPr sz="3675" b="1">
                <a:solidFill>
                  <a:srgbClr val="5265A0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10" name="editable-substep-2">
            <a:extLst xmlns:a="http://schemas.openxmlformats.org/drawingml/2006/main">
              <a:ext uri="{FF2B5EF4-FFF2-40B4-BE49-F238E27FC236}">
                <a16:creationId xmlns:a16="http://schemas.microsoft.com/office/drawing/2014/main" id="{E0F1A140-E2F3-4F85-A059-E62897FF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765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27345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625" b="1">
                <a:solidFill>
                  <a:srgbClr val="27345D"/>
                </a:solidFill>
                <a:latin typeface="Heiti TC"/>
                <a:ea typeface="Heiti TC"/>
                <a:cs typeface="Heiti TC"/>
              </a:defRPr>
            </a:pPr>
            <a:r>
              <a:rPr sz="2625" b="1">
                <a:solidFill>
                  <a:srgbClr val="27345D"/>
                </a:solidFill>
                <a:latin typeface="Heiti TC"/>
                <a:ea typeface="Heiti TC"/>
                <a:cs typeface="Heiti TC"/>
              </a:rPr>
              <a:t>兩段一起聽</a:t>
            </a:r>
          </a:p>
          <a:p xmlns:a="http://schemas.openxmlformats.org/drawingml/2006/main">
            <a:pPr algn="l">
              <a:buNone/>
              <a:defRPr sz="2625" b="1">
                <a:solidFill>
                  <a:srgbClr val="27345D"/>
                </a:solidFill>
                <a:latin typeface="Heiti TC"/>
                <a:ea typeface="Heiti TC"/>
                <a:cs typeface="Heiti TC"/>
              </a:defRPr>
            </a:pPr>
            <a:r>
              <a:rPr sz="2625" b="1">
                <a:solidFill>
                  <a:srgbClr val="27345D"/>
                </a:solidFill>
                <a:latin typeface="Heiti TC"/>
                <a:ea typeface="Heiti TC"/>
                <a:cs typeface="Heiti TC"/>
              </a:rPr>
              <a:t>我發現了什麼？</a:t>
            </a:r>
          </a:p>
        </p:txBody>
      </p:sp>
      <p:sp>
        <p:nvSpPr>
          <p:cNvPr id="13" name="時間、位置、設備和錄音方式一起留下">
            <a:extLst xmlns:a="http://schemas.openxmlformats.org/drawingml/2006/main">
              <a:ext uri="{FF2B5EF4-FFF2-40B4-BE49-F238E27FC236}">
                <a16:creationId xmlns:a16="http://schemas.microsoft.com/office/drawing/2014/main" id="{E7038098-D904-41E3-8AD2-54149A83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743575"/>
            <a:ext cx="1057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9637C"/>
                </a:solidFill>
                <a:latin typeface="Heiti TC"/>
                <a:ea typeface="Heiti TC"/>
                <a:cs typeface="Heiti TC"/>
              </a:rPr>
              <a:t>記下時間、天氣和站的位置</a:t>
            </a:r>
          </a:p>
        </p:txBody>
      </p: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F10D01-45DF-42D3-9945-AA5CC97A7A7D}"/>
              </a:ext>
            </a:extLst>
          </p:cNvPr>
          <p:cNvCxnSpPr/>
          <p:nvPr/>
        </p:nvCxnSpPr>
        <p:spPr>
          <a:xfrm xmlns:a="http://schemas.openxmlformats.org/drawingml/2006/main">
            <a:off x="7429500" y="4357688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8AC"/>
            </a:solidFill>
            <a:prstDash val="solid"/>
            <a:tailEnd type="arrow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7D069B-292C-4CD8-983C-A462337E3E6E}"/>
              </a:ext>
            </a:extLst>
          </p:cNvPr>
          <p:cNvCxnSpPr/>
          <p:nvPr/>
        </p:nvCxnSpPr>
        <p:spPr>
          <a:xfrm xmlns:a="http://schemas.openxmlformats.org/drawingml/2006/main">
            <a:off x="3600450" y="4357688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8AC"/>
            </a:solidFill>
            <a:prstDash val="solid"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470315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heading">
            <a:extLst xmlns:a="http://schemas.openxmlformats.org/drawingml/2006/main">
              <a:ext uri="{FF2B5EF4-FFF2-40B4-BE49-F238E27FC236}">
                <a16:creationId xmlns:a16="http://schemas.microsoft.com/office/drawing/2014/main" id="{48A2A1CF-D86D-45F4-BAC2-A2823011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5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7345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27345D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27345D"/>
                </a:solidFill>
                <a:latin typeface="Heiti TC"/>
                <a:ea typeface="Heiti TC"/>
                <a:cs typeface="Heiti TC"/>
              </a:rPr>
              <a:t>破案三步：現場、回訪、接起來</a:t>
            </a:r>
          </a:p>
        </p:txBody>
      </p:sp>
      <p:sp>
        <p:nvSpPr>
          <p:cNvPr id="2" name="聲景智探  泰北聽路隊">
            <a:extLst xmlns:a="http://schemas.openxmlformats.org/drawingml/2006/main">
              <a:ext uri="{FF2B5EF4-FFF2-40B4-BE49-F238E27FC236}">
                <a16:creationId xmlns:a16="http://schemas.microsoft.com/office/drawing/2014/main" id="{59F1A153-8C2D-4D5B-AC9B-26DEDFEC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59637C"/>
                </a:solidFill>
                <a:latin typeface="Heiti TC"/>
                <a:ea typeface="Heiti TC"/>
                <a:cs typeface="Heiti TC"/>
              </a:rPr>
              <a:t>聲景智探  泰北聽路隊</a:t>
            </a:r>
          </a:p>
        </p:txBody>
      </p:sp>
      <p:sp>
        <p:nvSpPr>
          <p:cNvPr id="3" name="06 / 10">
            <a:extLst xmlns:a="http://schemas.openxmlformats.org/drawingml/2006/main">
              <a:ext uri="{FF2B5EF4-FFF2-40B4-BE49-F238E27FC236}">
                <a16:creationId xmlns:a16="http://schemas.microsoft.com/office/drawing/2014/main" id="{ADDECF54-09AD-4812-9AA2-990C93B8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59637C"/>
                </a:solidFill>
                <a:latin typeface="Heiti TC"/>
                <a:ea typeface="Heiti TC"/>
                <a:cs typeface="Heiti TC"/>
              </a:rPr>
              <a:t>08 / 11</a:t>
            </a:r>
          </a:p>
        </p:txBody>
      </p:sp>
      <p:pic xmlns:a="http://schemas.openxmlformats.org/drawingml/2006/main" xmlns:r="http://schemas.openxmlformats.org/officeDocument/2006/relationships">
        <p:nvPicPr>
          <p:cNvPr id="23" name="Picture 22" descr="icon-sound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1778000"/>
            <a:ext cx="1016000" cy="1016000"/>
          </a:xfrm>
          <a:prstGeom prst="rect">
            <a:avLst/>
          </a:prstGeom>
        </p:spPr>
      </p:pic>
      <p:sp xmlns:a="http://schemas.openxmlformats.org/drawingml/2006/main">
        <p:nvSpPr>
          <p:cNvPr id="24" name="TextBox 23"/>
          <p:cNvSpPr txBox="1"/>
          <p:nvPr/>
        </p:nvSpPr>
        <p:spPr>
          <a:xfrm>
            <a:off x="1905000" y="1905000"/>
            <a:ext cx="4572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59637C"/>
                </a:solidFill>
                <a:latin typeface="Heiti TC"/>
                <a:ea typeface="Heiti TC"/>
                <a:cs typeface="Heiti TC"/>
              </a:rPr>
              <a:t>線索 1・現場</a:t>
            </a:r>
          </a:p>
        </p:txBody>
      </p:sp>
      <p:sp xmlns:a="http://schemas.openxmlformats.org/drawingml/2006/main">
        <p:nvSpPr>
          <p:cNvPr id="25" name="TextBox 24"/>
          <p:cNvSpPr txBox="1"/>
          <p:nvPr/>
        </p:nvSpPr>
        <p:spPr>
          <a:xfrm>
            <a:off x="1905000" y="2209800"/>
            <a:ext cx="47244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7325E"/>
                </a:solidFill>
                <a:latin typeface="Heiti TC"/>
                <a:ea typeface="Heiti TC"/>
                <a:cs typeface="Heiti TC"/>
              </a:rPr>
              <a:t>在校內 2–3 個地點各錄 15 秒</a:t>
            </a:r>
          </a:p>
        </p:txBody>
      </p:sp>
      <p:cxnSp xmlns:a="http://schemas.openxmlformats.org/drawingml/2006/main">
        <p:nvCxnSpPr>
          <p:cNvPr id="26" name="Connector 25"/>
          <p:cNvCxnSpPr/>
          <p:nvPr/>
        </p:nvCxnSpPr>
        <p:spPr>
          <a:xfrm>
            <a:off x="1168400" y="2844800"/>
            <a:ext cx="0" cy="254000"/>
          </a:xfrm>
          <a:prstGeom prst="line">
            <a:avLst/>
          </a:prstGeom>
          <a:ln w="25400">
            <a:solidFill>
              <a:srgbClr val="5268A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 xmlns:a="http://schemas.openxmlformats.org/drawingml/2006/main" xmlns:r="http://schemas.openxmlformats.org/officeDocument/2006/relationships">
        <p:nvPicPr>
          <p:cNvPr id="27" name="Picture 26" descr="icon-sound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" y="3149600"/>
            <a:ext cx="1016000" cy="1016000"/>
          </a:xfrm>
          <a:prstGeom prst="rect">
            <a:avLst/>
          </a:prstGeom>
        </p:spPr>
      </p:pic>
      <p:sp xmlns:a="http://schemas.openxmlformats.org/drawingml/2006/main">
        <p:nvSpPr>
          <p:cNvPr id="28" name="TextBox 27"/>
          <p:cNvSpPr txBox="1"/>
          <p:nvPr/>
        </p:nvSpPr>
        <p:spPr>
          <a:xfrm>
            <a:off x="1905000" y="3276600"/>
            <a:ext cx="4572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59637C"/>
                </a:solidFill>
                <a:latin typeface="Heiti TC"/>
                <a:ea typeface="Heiti TC"/>
                <a:cs typeface="Heiti TC"/>
              </a:rPr>
              <a:t>線索 2・回訪</a:t>
            </a:r>
          </a:p>
        </p:txBody>
      </p:sp>
      <p:sp xmlns:a="http://schemas.openxmlformats.org/drawingml/2006/main">
        <p:nvSpPr>
          <p:cNvPr id="29" name="TextBox 28"/>
          <p:cNvSpPr txBox="1"/>
          <p:nvPr/>
        </p:nvSpPr>
        <p:spPr>
          <a:xfrm>
            <a:off x="1905000" y="3581400"/>
            <a:ext cx="47244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7325E"/>
                </a:solidFill>
                <a:latin typeface="Heiti TC"/>
                <a:ea typeface="Heiti TC"/>
                <a:cs typeface="Heiti TC"/>
              </a:rPr>
              <a:t>回到同一個地點再錄一次</a:t>
            </a:r>
          </a:p>
        </p:txBody>
      </p:sp>
      <p:cxnSp xmlns:a="http://schemas.openxmlformats.org/drawingml/2006/main">
        <p:nvCxnSpPr>
          <p:cNvPr id="30" name="Connector 29"/>
          <p:cNvCxnSpPr/>
          <p:nvPr/>
        </p:nvCxnSpPr>
        <p:spPr>
          <a:xfrm>
            <a:off x="1168400" y="4216400"/>
            <a:ext cx="0" cy="254000"/>
          </a:xfrm>
          <a:prstGeom prst="line">
            <a:avLst/>
          </a:prstGeom>
          <a:ln w="25400">
            <a:solidFill>
              <a:srgbClr val="5268A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 xmlns:a="http://schemas.openxmlformats.org/drawingml/2006/main" xmlns:r="http://schemas.openxmlformats.org/officeDocument/2006/relationships">
        <p:nvPicPr>
          <p:cNvPr id="31" name="Picture 30" descr="icon-sound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400" y="4521200"/>
            <a:ext cx="1016000" cy="1016000"/>
          </a:xfrm>
          <a:prstGeom prst="rect">
            <a:avLst/>
          </a:prstGeom>
        </p:spPr>
      </p:pic>
      <p:sp xmlns:a="http://schemas.openxmlformats.org/drawingml/2006/main">
        <p:nvSpPr>
          <p:cNvPr id="32" name="TextBox 31"/>
          <p:cNvSpPr txBox="1"/>
          <p:nvPr/>
        </p:nvSpPr>
        <p:spPr>
          <a:xfrm>
            <a:off x="1905000" y="4648200"/>
            <a:ext cx="4572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59637C"/>
                </a:solidFill>
                <a:latin typeface="Heiti TC"/>
                <a:ea typeface="Heiti TC"/>
                <a:cs typeface="Heiti TC"/>
              </a:rPr>
              <a:t>線索 3・接起來</a:t>
            </a:r>
          </a:p>
        </p:txBody>
      </p:sp>
      <p:sp xmlns:a="http://schemas.openxmlformats.org/drawingml/2006/main">
        <p:nvSpPr>
          <p:cNvPr id="33" name="TextBox 32"/>
          <p:cNvSpPr txBox="1"/>
          <p:nvPr/>
        </p:nvSpPr>
        <p:spPr>
          <a:xfrm>
            <a:off x="1905000" y="4953000"/>
            <a:ext cx="47244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7325E"/>
                </a:solidFill>
                <a:latin typeface="Heiti TC"/>
                <a:ea typeface="Heiti TC"/>
                <a:cs typeface="Heiti TC"/>
              </a:rPr>
              <a:t>用問題卡把兩次錄音接起來</a:t>
            </a:r>
          </a:p>
        </p:txBody>
      </p:sp>
      <p:cxnSp xmlns:a="http://schemas.openxmlformats.org/drawingml/2006/main">
        <p:nvCxnSpPr>
          <p:cNvPr id="34" name="Connector 33"/>
          <p:cNvCxnSpPr/>
          <p:nvPr/>
        </p:nvCxnSpPr>
        <p:spPr>
          <a:xfrm>
            <a:off x="6426200" y="5029200"/>
            <a:ext cx="533400" cy="0"/>
          </a:xfrm>
          <a:prstGeom prst="line">
            <a:avLst/>
          </a:prstGeom>
          <a:ln w="25400">
            <a:solidFill>
              <a:srgbClr val="5268A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xmlns:a="http://schemas.openxmlformats.org/drawingml/2006/main">
        <p:nvSpPr>
          <p:cNvPr id="35" name="case-file"/>
          <p:cNvSpPr/>
          <p:nvPr/>
        </p:nvSpPr>
        <p:spPr>
          <a:xfrm>
            <a:off x="7061200" y="1778000"/>
            <a:ext cx="4470400" cy="4216400"/>
          </a:xfrm>
          <a:prstGeom prst="roundRect">
            <a:avLst>
              <a:gd name="adj" fmla="val 8000"/>
            </a:avLst>
          </a:prstGeom>
          <a:solidFill>
            <a:srgbClr val="273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6" name="TextBox 35"/>
          <p:cNvSpPr txBox="1"/>
          <p:nvPr/>
        </p:nvSpPr>
        <p:spPr>
          <a:xfrm>
            <a:off x="7416800" y="2082800"/>
            <a:ext cx="37592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9D2F2"/>
                </a:solidFill>
                <a:latin typeface="Heiti TC"/>
                <a:ea typeface="Heiti TC"/>
                <a:cs typeface="Heiti TC"/>
              </a:rPr>
              <a:t>破案卷宗</a:t>
            </a:r>
          </a:p>
        </p:txBody>
      </p:sp>
      <p:sp xmlns:a="http://schemas.openxmlformats.org/drawingml/2006/main">
        <p:nvSpPr>
          <p:cNvPr id="37" name="TextBox 36"/>
          <p:cNvSpPr txBox="1"/>
          <p:nvPr/>
        </p:nvSpPr>
        <p:spPr>
          <a:xfrm>
            <a:off x="7416800" y="2489200"/>
            <a:ext cx="375920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這張問題卡</a:t>
            </a:r>
          </a:p>
          <a:p>
            <a:pPr algn="l"/>
            <a:r>
              <a:rPr sz="340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可以上台了</a:t>
            </a:r>
          </a:p>
        </p:txBody>
      </p:sp>
      <p:sp xmlns:a="http://schemas.openxmlformats.org/drawingml/2006/main">
        <p:nvSpPr>
          <p:cNvPr id="38" name="TextBox 37"/>
          <p:cNvSpPr txBox="1"/>
          <p:nvPr/>
        </p:nvSpPr>
        <p:spPr>
          <a:xfrm>
            <a:off x="7416800" y="3886200"/>
            <a:ext cx="37592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C9D2F2"/>
                </a:solidFill>
                <a:latin typeface="Heiti TC"/>
                <a:ea typeface="Heiti TC"/>
                <a:cs typeface="Heiti TC"/>
              </a:rPr>
              <a:t>存好回訪錄音，</a:t>
            </a:r>
          </a:p>
          <a:p>
            <a:pPr algn="l"/>
            <a:r>
              <a:rPr sz="1700" b="0">
                <a:solidFill>
                  <a:srgbClr val="C9D2F2"/>
                </a:solidFill>
                <a:latin typeface="Heiti TC"/>
                <a:ea typeface="Heiti TC"/>
                <a:cs typeface="Heiti TC"/>
              </a:rPr>
              <a:t>卡片就會跳出這一句</a:t>
            </a:r>
          </a:p>
        </p:txBody>
      </p:sp>
      <p:sp xmlns:a="http://schemas.openxmlformats.org/drawingml/2006/main">
        <p:nvSpPr>
          <p:cNvPr id="39" name="case-file-go"/>
          <p:cNvSpPr/>
          <p:nvPr/>
        </p:nvSpPr>
        <p:spPr>
          <a:xfrm>
            <a:off x="7416800" y="4978400"/>
            <a:ext cx="3759200" cy="660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0" name="TextBox 39"/>
          <p:cNvSpPr txBox="1"/>
          <p:nvPr/>
        </p:nvSpPr>
        <p:spPr>
          <a:xfrm>
            <a:off x="7416800" y="4978400"/>
            <a:ext cx="3759200" cy="66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27325E"/>
                </a:solidFill>
                <a:latin typeface="Heiti TC"/>
                <a:ea typeface="Heiti TC"/>
                <a:cs typeface="Heiti TC"/>
              </a:rPr>
              <a:t>按一下，進破案故事 →</a:t>
            </a:r>
          </a:p>
        </p:txBody>
      </p:sp>
    </p:spTree>
    <p:extLst>
      <p:ext uri="{BB962C8B-B14F-4D97-AF65-F5344CB8AC3E}">
        <p14:creationId xmlns:p14="http://schemas.microsoft.com/office/powerpoint/2010/main" val="5002405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heading">
            <a:extLst xmlns:a="http://schemas.openxmlformats.org/drawingml/2006/main">
              <a:ext uri="{FF2B5EF4-FFF2-40B4-BE49-F238E27FC236}">
                <a16:creationId xmlns:a16="http://schemas.microsoft.com/office/drawing/2014/main" id="{4E832491-8FA5-4DBF-8DD8-C61B54EF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5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7345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27345D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27345D"/>
                </a:solidFill>
                <a:latin typeface="Heiti TC"/>
                <a:ea typeface="Heiti TC"/>
                <a:cs typeface="Heiti TC"/>
              </a:rPr>
              <a:t>盲聽法庭：請評審當法官</a:t>
            </a:r>
          </a:p>
        </p:txBody>
      </p:sp>
      <p:sp>
        <p:nvSpPr>
          <p:cNvPr id="2" name="聲景智探  泰北聽路隊">
            <a:extLst xmlns:a="http://schemas.openxmlformats.org/drawingml/2006/main">
              <a:ext uri="{FF2B5EF4-FFF2-40B4-BE49-F238E27FC236}">
                <a16:creationId xmlns:a16="http://schemas.microsoft.com/office/drawing/2014/main" id="{6D5F24C5-39F6-4F0F-BE10-7EE5AD3D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59637C"/>
                </a:solidFill>
                <a:latin typeface="Heiti TC"/>
                <a:ea typeface="Heiti TC"/>
                <a:cs typeface="Heiti TC"/>
              </a:rPr>
              <a:t>聲景智探  泰北聽路隊</a:t>
            </a:r>
          </a:p>
        </p:txBody>
      </p:sp>
      <p:sp>
        <p:nvSpPr>
          <p:cNvPr id="3" name="07 / 10">
            <a:extLst xmlns:a="http://schemas.openxmlformats.org/drawingml/2006/main">
              <a:ext uri="{FF2B5EF4-FFF2-40B4-BE49-F238E27FC236}">
                <a16:creationId xmlns:a16="http://schemas.microsoft.com/office/drawing/2014/main" id="{BA526737-E8FB-4B02-BB20-450F9CC0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59637C"/>
                </a:solidFill>
                <a:latin typeface="Heiti TC"/>
                <a:ea typeface="Heiti TC"/>
                <a:cs typeface="Heiti TC"/>
              </a:rPr>
              <a:t>09 / 11</a:t>
            </a:r>
          </a:p>
        </p:txBody>
      </p:sp>
      <p:sp xmlns:a="http://schemas.openxmlformats.org/drawingml/2006/main">
        <p:nvSpPr>
          <p:cNvPr id="15" name="TextBox 14"/>
          <p:cNvSpPr txBox="1"/>
          <p:nvPr/>
        </p:nvSpPr>
        <p:spPr>
          <a:xfrm>
            <a:off x="7112000" y="787400"/>
            <a:ext cx="4419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900" b="1">
                <a:solidFill>
                  <a:srgbClr val="5268AC"/>
                </a:solidFill>
                <a:latin typeface="Heiti TC"/>
                <a:ea typeface="Heiti TC"/>
                <a:cs typeface="Heiti TC"/>
              </a:rPr>
              <a:t>聲音是證據，評審是法官</a:t>
            </a:r>
          </a:p>
        </p:txBody>
      </p:sp>
      <p:pic xmlns:a="http://schemas.openxmlformats.org/drawingml/2006/main" xmlns:r="http://schemas.openxmlformats.org/officeDocument/2006/relationships">
        <p:nvPicPr>
          <p:cNvPr id="16" name="Picture 15" descr="sound-cou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1727200"/>
            <a:ext cx="7366000" cy="2637591"/>
          </a:xfrm>
          <a:prstGeom prst="rect">
            <a:avLst/>
          </a:prstGeom>
        </p:spPr>
      </p:pic>
      <p:sp xmlns:a="http://schemas.openxmlformats.org/drawingml/2006/main">
        <p:nvSpPr>
          <p:cNvPr id="17" name="chapter-1"/>
          <p:cNvSpPr/>
          <p:nvPr/>
        </p:nvSpPr>
        <p:spPr>
          <a:xfrm>
            <a:off x="660400" y="4542591"/>
            <a:ext cx="1164166" cy="431800"/>
          </a:xfrm>
          <a:prstGeom prst="roundRect">
            <a:avLst>
              <a:gd name="adj" fmla="val 50000"/>
            </a:avLst>
          </a:prstGeom>
          <a:solidFill>
            <a:srgbClr val="273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TextBox 17"/>
          <p:cNvSpPr txBox="1"/>
          <p:nvPr/>
        </p:nvSpPr>
        <p:spPr>
          <a:xfrm>
            <a:off x="660400" y="4542591"/>
            <a:ext cx="1164166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1 盲聽法庭</a:t>
            </a:r>
          </a:p>
        </p:txBody>
      </p:sp>
      <p:sp xmlns:a="http://schemas.openxmlformats.org/drawingml/2006/main">
        <p:nvSpPr>
          <p:cNvPr id="19" name="chapter-2"/>
          <p:cNvSpPr/>
          <p:nvPr/>
        </p:nvSpPr>
        <p:spPr>
          <a:xfrm>
            <a:off x="1900766" y="4542591"/>
            <a:ext cx="1164166" cy="431800"/>
          </a:xfrm>
          <a:prstGeom prst="roundRect">
            <a:avLst>
              <a:gd name="adj" fmla="val 50000"/>
            </a:avLst>
          </a:prstGeom>
          <a:solidFill>
            <a:srgbClr val="E8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TextBox 19"/>
          <p:cNvSpPr txBox="1"/>
          <p:nvPr/>
        </p:nvSpPr>
        <p:spPr>
          <a:xfrm>
            <a:off x="1900766" y="4542591"/>
            <a:ext cx="1164166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27325E"/>
                </a:solidFill>
                <a:latin typeface="Heiti TC"/>
                <a:ea typeface="Heiti TC"/>
                <a:cs typeface="Heiti TC"/>
              </a:rPr>
              <a:t>2 案發現場</a:t>
            </a:r>
          </a:p>
        </p:txBody>
      </p:sp>
      <p:sp xmlns:a="http://schemas.openxmlformats.org/drawingml/2006/main">
        <p:nvSpPr>
          <p:cNvPr id="21" name="chapter-3"/>
          <p:cNvSpPr/>
          <p:nvPr/>
        </p:nvSpPr>
        <p:spPr>
          <a:xfrm>
            <a:off x="3141133" y="4542591"/>
            <a:ext cx="1164166" cy="431800"/>
          </a:xfrm>
          <a:prstGeom prst="roundRect">
            <a:avLst>
              <a:gd name="adj" fmla="val 50000"/>
            </a:avLst>
          </a:prstGeom>
          <a:solidFill>
            <a:srgbClr val="E8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TextBox 21"/>
          <p:cNvSpPr txBox="1"/>
          <p:nvPr/>
        </p:nvSpPr>
        <p:spPr>
          <a:xfrm>
            <a:off x="3141133" y="4542591"/>
            <a:ext cx="1164166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27325E"/>
                </a:solidFill>
                <a:latin typeface="Heiti TC"/>
                <a:ea typeface="Heiti TC"/>
                <a:cs typeface="Heiti TC"/>
              </a:rPr>
              <a:t>3 疑問與行動</a:t>
            </a:r>
          </a:p>
        </p:txBody>
      </p:sp>
      <p:sp xmlns:a="http://schemas.openxmlformats.org/drawingml/2006/main">
        <p:nvSpPr>
          <p:cNvPr id="23" name="chapter-4"/>
          <p:cNvSpPr/>
          <p:nvPr/>
        </p:nvSpPr>
        <p:spPr>
          <a:xfrm>
            <a:off x="4381500" y="4542591"/>
            <a:ext cx="1164166" cy="431800"/>
          </a:xfrm>
          <a:prstGeom prst="roundRect">
            <a:avLst>
              <a:gd name="adj" fmla="val 50000"/>
            </a:avLst>
          </a:prstGeom>
          <a:solidFill>
            <a:srgbClr val="E8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TextBox 23"/>
          <p:cNvSpPr txBox="1"/>
          <p:nvPr/>
        </p:nvSpPr>
        <p:spPr>
          <a:xfrm>
            <a:off x="4381500" y="4542591"/>
            <a:ext cx="1164166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27325E"/>
                </a:solidFill>
                <a:latin typeface="Heiti TC"/>
                <a:ea typeface="Heiti TC"/>
                <a:cs typeface="Heiti TC"/>
              </a:rPr>
              <a:t>4 回訪</a:t>
            </a:r>
          </a:p>
        </p:txBody>
      </p:sp>
      <p:sp xmlns:a="http://schemas.openxmlformats.org/drawingml/2006/main">
        <p:nvSpPr>
          <p:cNvPr id="25" name="chapter-5"/>
          <p:cNvSpPr/>
          <p:nvPr/>
        </p:nvSpPr>
        <p:spPr>
          <a:xfrm>
            <a:off x="5621866" y="4542591"/>
            <a:ext cx="1164166" cy="431800"/>
          </a:xfrm>
          <a:prstGeom prst="roundRect">
            <a:avLst>
              <a:gd name="adj" fmla="val 50000"/>
            </a:avLst>
          </a:prstGeom>
          <a:solidFill>
            <a:srgbClr val="E8ECFA"/>
          </a:solidFill>
          <a:ln w="15875">
            <a:solidFill>
              <a:srgbClr val="5268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6" name="TextBox 25"/>
          <p:cNvSpPr txBox="1"/>
          <p:nvPr/>
        </p:nvSpPr>
        <p:spPr>
          <a:xfrm>
            <a:off x="5621866" y="4542591"/>
            <a:ext cx="1164166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27325E"/>
                </a:solidFill>
                <a:latin typeface="Heiti TC"/>
                <a:ea typeface="Heiti TC"/>
                <a:cs typeface="Heiti TC"/>
              </a:rPr>
              <a:t>5 揭曉</a:t>
            </a:r>
          </a:p>
        </p:txBody>
      </p:sp>
      <p:sp xmlns:a="http://schemas.openxmlformats.org/drawingml/2006/main">
        <p:nvSpPr>
          <p:cNvPr id="27" name="chapter-6"/>
          <p:cNvSpPr/>
          <p:nvPr/>
        </p:nvSpPr>
        <p:spPr>
          <a:xfrm>
            <a:off x="6862233" y="4542591"/>
            <a:ext cx="1164166" cy="431800"/>
          </a:xfrm>
          <a:prstGeom prst="roundRect">
            <a:avLst>
              <a:gd name="adj" fmla="val 50000"/>
            </a:avLst>
          </a:prstGeom>
          <a:solidFill>
            <a:srgbClr val="E8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8" name="TextBox 27"/>
          <p:cNvSpPr txBox="1"/>
          <p:nvPr/>
        </p:nvSpPr>
        <p:spPr>
          <a:xfrm>
            <a:off x="6862233" y="4542591"/>
            <a:ext cx="1164166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27325E"/>
                </a:solidFill>
                <a:latin typeface="Heiti TC"/>
                <a:ea typeface="Heiti TC"/>
                <a:cs typeface="Heiti TC"/>
              </a:rPr>
              <a:t>6 結案</a:t>
            </a:r>
          </a:p>
        </p:txBody>
      </p:sp>
      <p:sp xmlns:a="http://schemas.openxmlformats.org/drawingml/2006/main">
        <p:nvSpPr>
          <p:cNvPr id="29" name="TextBox 28"/>
          <p:cNvSpPr txBox="1"/>
          <p:nvPr/>
        </p:nvSpPr>
        <p:spPr>
          <a:xfrm>
            <a:off x="660400" y="5177591"/>
            <a:ext cx="7366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9637C"/>
                </a:solidFill>
                <a:latin typeface="Heiti TC"/>
                <a:ea typeface="Heiti TC"/>
                <a:cs typeface="Heiti TC"/>
              </a:rPr>
              <a:t>六章破案：先盲聽，再一章一章揭曉</a:t>
            </a:r>
          </a:p>
        </p:txBody>
      </p:sp>
      <p:sp xmlns:a="http://schemas.openxmlformats.org/drawingml/2006/main">
        <p:nvSpPr>
          <p:cNvPr id="30" name="Oval 29"/>
          <p:cNvSpPr/>
          <p:nvPr/>
        </p:nvSpPr>
        <p:spPr>
          <a:xfrm>
            <a:off x="8432800" y="1778000"/>
            <a:ext cx="584200" cy="584200"/>
          </a:xfrm>
          <a:prstGeom prst="ellipse">
            <a:avLst/>
          </a:prstGeom>
          <a:solidFill>
            <a:srgbClr val="273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1" name="TextBox 30"/>
          <p:cNvSpPr txBox="1"/>
          <p:nvPr/>
        </p:nvSpPr>
        <p:spPr>
          <a:xfrm>
            <a:off x="8432800" y="1778000"/>
            <a:ext cx="5842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1</a:t>
            </a:r>
          </a:p>
        </p:txBody>
      </p:sp>
      <p:sp xmlns:a="http://schemas.openxmlformats.org/drawingml/2006/main">
        <p:nvSpPr>
          <p:cNvPr id="32" name="TextBox 31"/>
          <p:cNvSpPr txBox="1"/>
          <p:nvPr/>
        </p:nvSpPr>
        <p:spPr>
          <a:xfrm>
            <a:off x="9169400" y="1803400"/>
            <a:ext cx="2362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5268AC"/>
                </a:solidFill>
                <a:latin typeface="Heiti TC"/>
                <a:ea typeface="Heiti TC"/>
                <a:cs typeface="Heiti TC"/>
              </a:rPr>
              <a:t>先聽甲、乙</a:t>
            </a:r>
          </a:p>
        </p:txBody>
      </p:sp>
      <p:sp xmlns:a="http://schemas.openxmlformats.org/drawingml/2006/main">
        <p:nvSpPr>
          <p:cNvPr id="33" name="TextBox 32"/>
          <p:cNvSpPr txBox="1"/>
          <p:nvPr/>
        </p:nvSpPr>
        <p:spPr>
          <a:xfrm>
            <a:off x="9169400" y="2235200"/>
            <a:ext cx="23622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9637C"/>
                </a:solidFill>
                <a:latin typeface="Heiti TC"/>
                <a:ea typeface="Heiti TC"/>
                <a:cs typeface="Heiti TC"/>
              </a:rPr>
              <a:t>不說哪段是哪一次</a:t>
            </a:r>
          </a:p>
        </p:txBody>
      </p:sp>
      <p:sp xmlns:a="http://schemas.openxmlformats.org/drawingml/2006/main">
        <p:nvSpPr>
          <p:cNvPr id="34" name="Oval 33"/>
          <p:cNvSpPr/>
          <p:nvPr/>
        </p:nvSpPr>
        <p:spPr>
          <a:xfrm>
            <a:off x="8432800" y="3200400"/>
            <a:ext cx="584200" cy="584200"/>
          </a:xfrm>
          <a:prstGeom prst="ellipse">
            <a:avLst/>
          </a:prstGeom>
          <a:solidFill>
            <a:srgbClr val="273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5" name="TextBox 34"/>
          <p:cNvSpPr txBox="1"/>
          <p:nvPr/>
        </p:nvSpPr>
        <p:spPr>
          <a:xfrm>
            <a:off x="8432800" y="3200400"/>
            <a:ext cx="5842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2</a:t>
            </a:r>
          </a:p>
        </p:txBody>
      </p:sp>
      <p:sp xmlns:a="http://schemas.openxmlformats.org/drawingml/2006/main">
        <p:nvSpPr>
          <p:cNvPr id="36" name="TextBox 35"/>
          <p:cNvSpPr txBox="1"/>
          <p:nvPr/>
        </p:nvSpPr>
        <p:spPr>
          <a:xfrm>
            <a:off x="9169400" y="3225800"/>
            <a:ext cx="2362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5268AC"/>
                </a:solidFill>
                <a:latin typeface="Heiti TC"/>
                <a:ea typeface="Heiti TC"/>
                <a:cs typeface="Heiti TC"/>
              </a:rPr>
              <a:t>投一票</a:t>
            </a:r>
          </a:p>
        </p:txBody>
      </p:sp>
      <p:sp xmlns:a="http://schemas.openxmlformats.org/drawingml/2006/main">
        <p:nvSpPr>
          <p:cNvPr id="37" name="TextBox 36"/>
          <p:cNvSpPr txBox="1"/>
          <p:nvPr/>
        </p:nvSpPr>
        <p:spPr>
          <a:xfrm>
            <a:off x="9169400" y="3657600"/>
            <a:ext cx="23622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9637C"/>
                </a:solidFill>
                <a:latin typeface="Heiti TC"/>
                <a:ea typeface="Heiti TC"/>
                <a:cs typeface="Heiti TC"/>
              </a:rPr>
              <a:t>哪一段比較舒服？</a:t>
            </a:r>
          </a:p>
        </p:txBody>
      </p:sp>
      <p:sp xmlns:a="http://schemas.openxmlformats.org/drawingml/2006/main">
        <p:nvSpPr>
          <p:cNvPr id="38" name="Oval 37"/>
          <p:cNvSpPr/>
          <p:nvPr/>
        </p:nvSpPr>
        <p:spPr>
          <a:xfrm>
            <a:off x="8432800" y="4622800"/>
            <a:ext cx="584200" cy="584200"/>
          </a:xfrm>
          <a:prstGeom prst="ellipse">
            <a:avLst/>
          </a:prstGeom>
          <a:solidFill>
            <a:srgbClr val="273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TextBox 38"/>
          <p:cNvSpPr txBox="1"/>
          <p:nvPr/>
        </p:nvSpPr>
        <p:spPr>
          <a:xfrm>
            <a:off x="8432800" y="4622800"/>
            <a:ext cx="5842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3</a:t>
            </a:r>
          </a:p>
        </p:txBody>
      </p:sp>
      <p:sp xmlns:a="http://schemas.openxmlformats.org/drawingml/2006/main">
        <p:nvSpPr>
          <p:cNvPr id="40" name="TextBox 39"/>
          <p:cNvSpPr txBox="1"/>
          <p:nvPr/>
        </p:nvSpPr>
        <p:spPr>
          <a:xfrm>
            <a:off x="9169400" y="4648200"/>
            <a:ext cx="2362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5268AC"/>
                </a:solidFill>
                <a:latin typeface="Heiti TC"/>
                <a:ea typeface="Heiti TC"/>
                <a:cs typeface="Heiti TC"/>
              </a:rPr>
              <a:t>再揭曉</a:t>
            </a:r>
          </a:p>
        </p:txBody>
      </p:sp>
      <p:sp xmlns:a="http://schemas.openxmlformats.org/drawingml/2006/main">
        <p:nvSpPr>
          <p:cNvPr id="41" name="TextBox 40"/>
          <p:cNvSpPr txBox="1"/>
          <p:nvPr/>
        </p:nvSpPr>
        <p:spPr>
          <a:xfrm>
            <a:off x="9169400" y="5080000"/>
            <a:ext cx="23622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9637C"/>
                </a:solidFill>
                <a:latin typeface="Heiti TC"/>
                <a:ea typeface="Heiti TC"/>
                <a:cs typeface="Heiti TC"/>
              </a:rPr>
              <a:t>舒服的那段，是回訪嗎？</a:t>
            </a:r>
          </a:p>
        </p:txBody>
      </p:sp>
    </p:spTree>
    <p:extLst>
      <p:ext uri="{BB962C8B-B14F-4D97-AF65-F5344CB8AC3E}">
        <p14:creationId xmlns:p14="http://schemas.microsoft.com/office/powerpoint/2010/main" val="19532345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heading">
            <a:extLst xmlns:a="http://schemas.openxmlformats.org/drawingml/2006/main">
              <a:ext uri="{FF2B5EF4-FFF2-40B4-BE49-F238E27FC236}">
                <a16:creationId xmlns:a16="http://schemas.microsoft.com/office/drawing/2014/main" id="{E5BD6F43-EC3E-4FD6-B41C-DAA3083A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5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7345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27345D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27345D"/>
                </a:solidFill>
                <a:latin typeface="Heiti TC"/>
                <a:ea typeface="Heiti TC"/>
                <a:cs typeface="Heiti TC"/>
              </a:rPr>
              <a:t>地圖上的資料，怎麼幫到我？</a:t>
            </a:r>
          </a:p>
        </p:txBody>
      </p:sp>
      <p:sp>
        <p:nvSpPr>
          <p:cNvPr id="2" name="聲景智探  泰北聽路隊">
            <a:extLst xmlns:a="http://schemas.openxmlformats.org/drawingml/2006/main">
              <a:ext uri="{FF2B5EF4-FFF2-40B4-BE49-F238E27FC236}">
                <a16:creationId xmlns:a16="http://schemas.microsoft.com/office/drawing/2014/main" id="{9D2E0D84-F696-4812-A5CB-73507753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59637C"/>
                </a:solidFill>
                <a:latin typeface="Heiti TC"/>
                <a:ea typeface="Heiti TC"/>
                <a:cs typeface="Heiti TC"/>
              </a:rPr>
              <a:t>聲景智探  泰北聽路隊</a:t>
            </a:r>
          </a:p>
        </p:txBody>
      </p:sp>
      <p:sp>
        <p:nvSpPr>
          <p:cNvPr id="3" name="09 / 10">
            <a:extLst xmlns:a="http://schemas.openxmlformats.org/drawingml/2006/main">
              <a:ext uri="{FF2B5EF4-FFF2-40B4-BE49-F238E27FC236}">
                <a16:creationId xmlns:a16="http://schemas.microsoft.com/office/drawing/2014/main" id="{871EFF84-0862-4666-A946-438C7E32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59637C"/>
                </a:solidFill>
                <a:latin typeface="Heiti TC"/>
                <a:ea typeface="Heiti TC"/>
                <a:cs typeface="Heiti TC"/>
              </a:rPr>
              <a:t>10 / 11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66839C-C5C9-4171-A8A1-2F036C69E4B1}"/>
              </a:ext>
            </a:extLst>
          </p:cNvPr>
          <p:cNvGraphicFramePr/>
          <p:nvPr/>
        </p:nvGraphicFramePr>
        <p:xfrm>
          <a:off xmlns:a="http://schemas.openxmlformats.org/drawingml/2006/main" x="619125" y="1819275"/>
          <a:ext xmlns:a="http://schemas.openxmlformats.org/drawingml/2006/main" cx="10906125" cy="35147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029075"/>
                <a:gridCol w="6877050"/>
              </a:tblGrid>
              <a:tr h="5715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5265A0"/>
                          </a:solidFill>
                          <a:latin typeface="Heiti TC"/>
                          <a:ea typeface="Heiti TC"/>
                          <a:cs typeface="Heiti TC"/>
                        </a:rPr>
                        <a:t>我看到什麼？</a:t>
                      </a:r>
                    </a:p>
                  </a:txBody>
                  <a:tcPr marL="190500" marR="190500" marT="142875" marB="142875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5265A0"/>
                          </a:solidFill>
                          <a:latin typeface="Heiti TC"/>
                          <a:ea typeface="Heiti TC"/>
                          <a:cs typeface="Heiti TC"/>
                        </a:rPr>
                        <a:t>我怎麼用？</a:t>
                      </a:r>
                    </a:p>
                  </a:txBody>
                  <a:tcPr marL="190500" marR="190500" marT="142875" marB="142875" anchor="ctr">
                    <a:solidFill>
                      <a:srgbClr val="E9EBF4"/>
                    </a:solidFill>
                  </a:tcPr>
                </a:tc>
              </a:tr>
              <a:tr h="9810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27345D"/>
                          </a:solidFill>
                          <a:latin typeface="Heiti TC"/>
                          <a:ea typeface="Heiti TC"/>
                          <a:cs typeface="Heiti TC"/>
                        </a:rPr>
                        <a:t>50 地點、400 則情境</a:t>
                      </a:r>
                    </a:p>
                  </a:txBody>
                  <a:tcPr marL="190500" marR="190500" marT="142875" marB="142875" anchor="ctr">
                    <a:solidFill>
                      <a:srgbClr val="F8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7345D"/>
                          </a:solidFill>
                          <a:latin typeface="Heiti TC"/>
                          <a:ea typeface="Heiti TC"/>
                          <a:cs typeface="Heiti TC"/>
                        </a:rPr>
                        <a:t>選地方、想問題，聲音自己去錄</a:t>
                      </a:r>
                    </a:p>
                  </a:txBody>
                  <a:tcPr marL="190500" marR="190500" marT="142875" marB="142875" anchor="ctr">
                    <a:solidFill>
                      <a:srgbClr val="F8F8FC"/>
                    </a:solidFill>
                  </a:tcPr>
                </a:tc>
              </a:tr>
              <a:tr h="9810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27345D"/>
                          </a:solidFill>
                          <a:latin typeface="Heiti TC"/>
                          <a:ea typeface="Heiti TC"/>
                          <a:cs typeface="Heiti TC"/>
                        </a:rPr>
                        <a:t>9 段公開原音</a:t>
                      </a:r>
                    </a:p>
                  </a:txBody>
                  <a:tcPr marL="190500" marR="190500" marT="142875" marB="142875" anchor="ctr">
                    <a:solidFill>
                      <a:srgbClr val="F8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7345D"/>
                          </a:solidFill>
                          <a:latin typeface="Heiti TC"/>
                          <a:ea typeface="Heiti TC"/>
                          <a:cs typeface="Heiti TC"/>
                        </a:rPr>
                        <a:t>先猜、再看 AI，練習找聲音</a:t>
                      </a:r>
                    </a:p>
                  </a:txBody>
                  <a:tcPr marL="190500" marR="190500" marT="142875" marB="142875" anchor="ctr">
                    <a:solidFill>
                      <a:srgbClr val="F8F8FC"/>
                    </a:solidFill>
                  </a:tcPr>
                </a:tc>
              </a:tr>
              <a:tr h="9810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27345D"/>
                          </a:solidFill>
                          <a:latin typeface="Heiti TC"/>
                          <a:ea typeface="Heiti TC"/>
                          <a:cs typeface="Heiti TC"/>
                        </a:rPr>
                        <a:t>我的照片、原音和位置</a:t>
                      </a:r>
                    </a:p>
                  </a:txBody>
                  <a:tcPr marL="190500" marR="190500" marT="142875" marB="142875" anchor="ctr">
                    <a:solidFill>
                      <a:srgbClr val="F8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7345D"/>
                          </a:solidFill>
                          <a:latin typeface="Heiti TC"/>
                          <a:ea typeface="Heiti TC"/>
                          <a:cs typeface="Heiti TC"/>
                        </a:rPr>
                        <a:t>記住現場，下次再來一起聽</a:t>
                      </a:r>
                    </a:p>
                  </a:txBody>
                  <a:tcPr marL="190500" marR="190500" marT="142875" marB="142875" anchor="ctr">
                    <a:solidFill>
                      <a:srgbClr val="F8F8FC"/>
                    </a:solidFill>
                  </a:tcPr>
                </a:tc>
              </a:tr>
            </a:tbl>
          </a:graphicData>
        </a:graphic>
      </p:graphicFrame>
      <p:sp>
        <p:nvSpPr>
          <p:cNvPr id="5" name="避開私人對話，分享前確認原音與位置">
            <a:extLst xmlns:a="http://schemas.openxmlformats.org/drawingml/2006/main">
              <a:ext uri="{FF2B5EF4-FFF2-40B4-BE49-F238E27FC236}">
                <a16:creationId xmlns:a16="http://schemas.microsoft.com/office/drawing/2014/main" id="{59DF101C-4F24-47AD-B1FF-73D5938D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72150"/>
            <a:ext cx="10906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59637C"/>
                </a:solidFill>
                <a:latin typeface="Heiti TC"/>
                <a:ea typeface="Heiti TC"/>
                <a:cs typeface="Heiti TC"/>
              </a:rPr>
              <a:t>分享前，避開別人的話和住家位置。</a:t>
            </a:r>
          </a:p>
        </p:txBody>
      </p:sp>
    </p:spTree>
    <p:extLst>
      <p:ext uri="{BB962C8B-B14F-4D97-AF65-F5344CB8AC3E}">
        <p14:creationId xmlns:p14="http://schemas.microsoft.com/office/powerpoint/2010/main" val="5736485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heading">
            <a:extLst xmlns:a="http://schemas.openxmlformats.org/drawingml/2006/main">
              <a:ext uri="{FF2B5EF4-FFF2-40B4-BE49-F238E27FC236}">
                <a16:creationId xmlns:a16="http://schemas.microsoft.com/office/drawing/2014/main" id="{A86B2AAC-20A9-4934-A371-ADDEA2FF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5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7345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27345D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27345D"/>
                </a:solidFill>
                <a:latin typeface="Heiti TC"/>
                <a:ea typeface="Heiti TC"/>
                <a:cs typeface="Heiti TC"/>
              </a:rPr>
              <a:t>換你來破案</a:t>
            </a:r>
          </a:p>
        </p:txBody>
      </p:sp>
      <p:sp>
        <p:nvSpPr>
          <p:cNvPr id="2" name="聲景智探  泰北聽路隊">
            <a:extLst xmlns:a="http://schemas.openxmlformats.org/drawingml/2006/main">
              <a:ext uri="{FF2B5EF4-FFF2-40B4-BE49-F238E27FC236}">
                <a16:creationId xmlns:a16="http://schemas.microsoft.com/office/drawing/2014/main" id="{5B0C7754-B56F-456F-90D5-8CFE4D2D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59637C"/>
                </a:solidFill>
                <a:latin typeface="Heiti TC"/>
                <a:ea typeface="Heiti TC"/>
                <a:cs typeface="Heiti TC"/>
              </a:rPr>
              <a:t>聲景智探  泰北聽路隊</a:t>
            </a:r>
          </a:p>
        </p:txBody>
      </p:sp>
      <p:sp>
        <p:nvSpPr>
          <p:cNvPr id="3" name="10 / 10">
            <a:extLst xmlns:a="http://schemas.openxmlformats.org/drawingml/2006/main">
              <a:ext uri="{FF2B5EF4-FFF2-40B4-BE49-F238E27FC236}">
                <a16:creationId xmlns:a16="http://schemas.microsoft.com/office/drawing/2014/main" id="{65A5B6F8-74AA-4AE4-9E2D-8EA5A1CC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59637C"/>
                </a:solidFill>
                <a:latin typeface="Heiti TC"/>
                <a:ea typeface="Heiti TC"/>
                <a:cs typeface="Heiti TC"/>
              </a:rPr>
              <a:t>11 / 11</a:t>
            </a:r>
          </a:p>
        </p:txBody>
      </p:sp>
      <p:sp>
        <p:nvSpPr>
          <p:cNvPr id="4" name="打開聲景智探">
            <a:extLst xmlns:a="http://schemas.openxmlformats.org/drawingml/2006/main">
              <a:ext uri="{FF2B5EF4-FFF2-40B4-BE49-F238E27FC236}">
                <a16:creationId xmlns:a16="http://schemas.microsoft.com/office/drawing/2014/main" id="{B127820C-E1EB-497B-B4C5-DF00CC62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14525"/>
            <a:ext cx="8128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5265A0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4500" b="1">
                <a:solidFill>
                  <a:srgbClr val="5265A0"/>
                </a:solidFill>
                <a:latin typeface="Heiti TC"/>
                <a:ea typeface="Heiti TC"/>
                <a:cs typeface="Heiti TC"/>
              </a:defRPr>
            </a:pPr>
            <a:r>
              <a:rPr sz="4500" b="1">
                <a:solidFill>
                  <a:srgbClr val="5265A0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523b489d03de4322"/>
              </a:rPr>
              <a:t>打開聲景智探</a:t>
            </a:r>
          </a:p>
        </p:txBody>
      </p:sp>
      <p:sp>
        <p:nvSpPr>
          <p:cNvPr id="5" name="soundscape-ai-city-s">
            <a:extLst xmlns:a="http://schemas.openxmlformats.org/drawingml/2006/main">
              <a:ext uri="{FF2B5EF4-FFF2-40B4-BE49-F238E27FC236}">
                <a16:creationId xmlns:a16="http://schemas.microsoft.com/office/drawing/2014/main" id="{ED5B5E16-EAA7-4C7E-9431-AD2FBD85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90850"/>
            <a:ext cx="812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7345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27345D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27345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42515ceb131f48da"/>
              </a:rPr>
              <a:t>先聽一題，猜猜看</a:t>
            </a:r>
          </a:p>
        </p:txBody>
      </p:sp>
      <p:sp>
        <p:nvSpPr>
          <p:cNvPr id="6" name="先聽一題，再放上第一個自己的點">
            <a:extLst xmlns:a="http://schemas.openxmlformats.org/drawingml/2006/main">
              <a:ext uri="{FF2B5EF4-FFF2-40B4-BE49-F238E27FC236}">
                <a16:creationId xmlns:a16="http://schemas.microsoft.com/office/drawing/2014/main" id="{78C2C10B-93EE-4592-A68E-4E5CB114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14800"/>
            <a:ext cx="812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7345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27345D"/>
                </a:solidFill>
                <a:latin typeface="Heiti TC"/>
                <a:ea typeface="Heiti TC"/>
                <a:cs typeface="Heiti TC"/>
              </a:defRPr>
            </a:pPr>
            <a:r>
              <a:rPr sz="3150" b="1">
                <a:solidFill>
                  <a:srgbClr val="27345D"/>
                </a:solidFill>
                <a:latin typeface="Heiti TC"/>
                <a:ea typeface="Heiti TC"/>
                <a:cs typeface="Heiti TC"/>
              </a:rPr>
              <a:t>安全錄一段，留下自己的聲音點</a:t>
            </a:r>
          </a:p>
        </p:txBody>
      </p:sp>
      <p:sp>
        <p:nvSpPr>
          <p:cNvPr id="7" name="下一次回來，看看聽到的聲音有沒有不同">
            <a:extLst xmlns:a="http://schemas.openxmlformats.org/drawingml/2006/main">
              <a:ext uri="{FF2B5EF4-FFF2-40B4-BE49-F238E27FC236}">
                <a16:creationId xmlns:a16="http://schemas.microsoft.com/office/drawing/2014/main" id="{78BE9A9E-1A30-46ED-AD98-1A612509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305425"/>
            <a:ext cx="8128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75" b="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pPr>
            <a:r>
              <a:rPr sz="2475" b="0">
                <a:solidFill>
                  <a:srgbClr val="59637C"/>
                </a:solidFill>
                <a:latin typeface="Heiti TC"/>
                <a:ea typeface="Heiti TC"/>
                <a:cs typeface="Heiti TC"/>
              </a:rPr>
              <a:t>下次再來，一起聽聽看</a:t>
            </a:r>
          </a:p>
        </p:txBody>
      </p:sp>
      <p:sp>
        <p:nvSpPr>
          <p:cNvPr id="9" name="student-sharing-page">
            <a:extLst xmlns:a="http://schemas.openxmlformats.org/drawingml/2006/main">
              <a:ext uri="{FF2B5EF4-FFF2-40B4-BE49-F238E27FC236}">
                <a16:creationId xmlns:a16="http://schemas.microsoft.com/office/drawing/2014/main" id="{D07AC8AE-B44F-43CA-A41C-F4503C2F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8128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80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buNone/>
              <a:defRPr sz="1800">
                <a:solidFill>
                  <a:srgbClr val="59637C"/>
                </a:solidFill>
                <a:latin typeface="Heiti TC"/>
                <a:ea typeface="Heiti TC"/>
                <a:cs typeface="Heiti TC"/>
              </a:defRPr>
            </a:pPr>
            <a:r>
              <a:rPr sz="1800">
                <a:solidFill>
                  <a:srgbClr val="59637C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5a93ab29e37246eb"/>
              </a:rPr>
              <a:t>兩隊簡報、操作圖和問卷，都在分享頁</a:t>
            </a:r>
          </a:p>
        </p:txBody>
      </p:sp>
      <p:pic xmlns:a="http://schemas.openxmlformats.org/drawingml/2006/main" xmlns:r="http://schemas.openxmlformats.org/officeDocument/2006/relationships">
        <p:nvPicPr>
          <p:cNvPr id="10" name="Picture 9" descr="sound-q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6600" y="1905000"/>
            <a:ext cx="1905000" cy="1905000"/>
          </a:xfrm>
          <a:prstGeom prst="rect">
            <a:avLst/>
          </a:prstGeom>
        </p:spPr>
      </p:pic>
      <p:sp xmlns:a="http://schemas.openxmlformats.org/drawingml/2006/main">
        <p:nvSpPr>
          <p:cNvPr id="11" name="TextBox 10"/>
          <p:cNvSpPr txBox="1"/>
          <p:nvPr/>
        </p:nvSpPr>
        <p:spPr>
          <a:xfrm>
            <a:off x="9372600" y="3937000"/>
            <a:ext cx="2159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5268AC"/>
                </a:solidFill>
                <a:latin typeface="Heiti TC"/>
                <a:ea typeface="Heiti TC"/>
                <a:cs typeface="Heiti TC"/>
              </a:rPr>
              <a:t>掃描，現在就聽</a:t>
            </a:r>
          </a:p>
        </p:txBody>
      </p:sp>
    </p:spTree>
    <p:extLst>
      <p:ext uri="{BB962C8B-B14F-4D97-AF65-F5344CB8AC3E}">
        <p14:creationId xmlns:p14="http://schemas.microsoft.com/office/powerpoint/2010/main" val="10708531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268AC"/>
      </a:hlink>
      <a:folHlink>
        <a:srgbClr val="5268AC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2026-10-13T02:37:51.4360000Z</dcterms:created>
  <dcterms:modified xsi:type="dcterms:W3CDTF">2026-10-13T02:37:51.4360000Z</dcterms:modified>
</coreProperties>
</file>