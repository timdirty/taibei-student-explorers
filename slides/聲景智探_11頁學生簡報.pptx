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5cf7669f59b45bc" Type="http://schemas.openxmlformats.org/package/2006/relationships/metadata/core-properties" Target="docProps/core.xml"/><Relationship Id="Re4df170b849c45ff" Type="http://schemas.openxmlformats.org/officeDocument/2006/relationships/extended-properties" Target="docProps/app.xml"/><Relationship Id="Rf0f68e0e5d6b4468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6ec2c5d208465b"/>
  </p:sldMasterIdLst>
  <p:notesMasterIdLst>
    <p:notesMasterId xmlns:r="http://schemas.openxmlformats.org/officeDocument/2006/relationships" r:id="Re4343c88d90f40ee"/>
  </p:notesMasterIdLst>
  <p:sldIdLst>
    <p:sldId xmlns:r="http://schemas.openxmlformats.org/officeDocument/2006/relationships" id="256" r:id="R9aa611398f4442a8"/>
    <p:sldId xmlns:r="http://schemas.openxmlformats.org/officeDocument/2006/relationships" id="257" r:id="Rec1ff7bcb9a34e2e"/>
    <p:sldId xmlns:r="http://schemas.openxmlformats.org/officeDocument/2006/relationships" id="258" r:id="R8b1fb1e24f314701"/>
    <p:sldId xmlns:r="http://schemas.openxmlformats.org/officeDocument/2006/relationships" id="259" r:id="R6af7d9a662ec4e67"/>
    <p:sldId xmlns:r="http://schemas.openxmlformats.org/officeDocument/2006/relationships" id="262" r:id="Rf09c6d8862d94b07"/>
    <p:sldId xmlns:r="http://schemas.openxmlformats.org/officeDocument/2006/relationships" id="260" r:id="R3ef84f5b29c54fe2"/>
    <p:sldId xmlns:r="http://schemas.openxmlformats.org/officeDocument/2006/relationships" id="263" r:id="R03ecb90713674430"/>
    <p:sldId xmlns:r="http://schemas.openxmlformats.org/officeDocument/2006/relationships" id="261" r:id="Ra54bd9e24d8a4ba6"/>
    <p:sldId xmlns:r="http://schemas.openxmlformats.org/officeDocument/2006/relationships" id="266" r:id="rId1"/>
    <p:sldId xmlns:r="http://schemas.openxmlformats.org/officeDocument/2006/relationships" id="264" r:id="R675a2547e4214089"/>
    <p:sldId xmlns:r="http://schemas.openxmlformats.org/officeDocument/2006/relationships" id="265" r:id="Rd8f63a91054242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ecb90713674430" Type="http://schemas.openxmlformats.org/officeDocument/2006/relationships/slide" Target="slides/slide7.xml"/><Relationship Id="R3ef84f5b29c54fe2" Type="http://schemas.openxmlformats.org/officeDocument/2006/relationships/slide" Target="slides/slide6.xml"/><Relationship Id="R481f7afb7fbc4778" Type="http://schemas.openxmlformats.org/officeDocument/2006/relationships/tableStyles" Target="tableStyles.xml"/><Relationship Id="R675a2547e4214089" Type="http://schemas.openxmlformats.org/officeDocument/2006/relationships/slide" Target="slides/slide10.xml"/><Relationship Id="R696ec2c5d208465b" Type="http://schemas.openxmlformats.org/officeDocument/2006/relationships/slideMaster" Target="slideMasters/slideMaster1.xml"/><Relationship Id="R6af7d9a662ec4e67" Type="http://schemas.openxmlformats.org/officeDocument/2006/relationships/slide" Target="slides/slide4.xml"/><Relationship Id="R8b1fb1e24f314701" Type="http://schemas.openxmlformats.org/officeDocument/2006/relationships/slide" Target="slides/slide3.xml"/><Relationship Id="R9aa611398f4442a8" Type="http://schemas.openxmlformats.org/officeDocument/2006/relationships/slide" Target="slides/slide1.xml"/><Relationship Id="Ra0cd754b098e4dd7" Type="http://schemas.openxmlformats.org/officeDocument/2006/relationships/theme" Target="theme/theme1.xml"/><Relationship Id="Ra339f1c60e9046d0" Type="http://schemas.openxmlformats.org/officeDocument/2006/relationships/presProps" Target="presProps.xml"/><Relationship Id="Ra54bd9e24d8a4ba6" Type="http://schemas.openxmlformats.org/officeDocument/2006/relationships/slide" Target="slides/slide8.xml"/><Relationship Id="Rd8f63a9105424241" Type="http://schemas.openxmlformats.org/officeDocument/2006/relationships/slide" Target="slides/slide11.xml"/><Relationship Id="Re4343c88d90f40ee" Type="http://schemas.openxmlformats.org/officeDocument/2006/relationships/notesMaster" Target="notesMasters/notesMaster1.xml"/><Relationship Id="Rec1ff7bcb9a34e2e" Type="http://schemas.openxmlformats.org/officeDocument/2006/relationships/slide" Target="slides/slide2.xml"/><Relationship Id="Rf09c6d8862d94b07" Type="http://schemas.openxmlformats.org/officeDocument/2006/relationships/slide" Target="slides/slide5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3d25c16564164b5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f38845625774751" Type="http://schemas.openxmlformats.org/officeDocument/2006/relationships/notesMaster" Target="../notesMasters/notesMaster1.xml"/><Relationship Id="R8d28738f23e84aa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4ab161cf89e4178" Type="http://schemas.openxmlformats.org/officeDocument/2006/relationships/slide" Target="../slides/slide2.xml"/><Relationship Id="R8f08ad2a74994ef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d4763970d4f4158" Type="http://schemas.openxmlformats.org/officeDocument/2006/relationships/notesMaster" Target="../notesMasters/notesMaster1.xml"/><Relationship Id="Rdeb051a5642a4d25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71e1cce188141c5" Type="http://schemas.openxmlformats.org/officeDocument/2006/relationships/slide" Target="../slides/slide4.xml"/><Relationship Id="Rd436791b92b044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24923907f1d4631" Type="http://schemas.openxmlformats.org/officeDocument/2006/relationships/notesMaster" Target="../notesMasters/notesMaster1.xml"/><Relationship Id="R80e4d5e4c04147cb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835930bf7c6143ff" Type="http://schemas.openxmlformats.org/officeDocument/2006/relationships/notesMaster" Target="../notesMasters/notesMaster1.xml"/><Relationship Id="Rb87d2f912f95428a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3b30f5ea7e9c480b" Type="http://schemas.openxmlformats.org/officeDocument/2006/relationships/notesMaster" Target="../notesMasters/notesMaster1.xml"/><Relationship Id="R46d8384a3df64336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4191119cae8a433e" Type="http://schemas.openxmlformats.org/officeDocument/2006/relationships/notesMaster" Target="../notesMasters/notesMaster1.xml"/><Relationship Id="Rdd634e27c06742d9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255890b9e09f402b" Type="http://schemas.openxmlformats.org/officeDocument/2006/relationships/slide" Target="../slides/slide10.xml"/><Relationship Id="Rb534a6ac627d440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4baab04a46641d2" Type="http://schemas.openxmlformats.org/officeDocument/2006/relationships/slide" Target="../slides/slide11.xml"/><Relationship Id="Rebdc3f7b33eb4a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A（或全員開場）｜⏱️ 建議時間：15 秒】</a:t>
            </a:r>
          </a:p>
          <a:p xmlns:a="http://schemas.openxmlformats.org/drawingml/2006/main">
            <a:r>
              <a:t>大家好，我們是聲景智探小隊！我們結合擴充聲音地圖、現場實拍照片與原音、城市聲音時光機，以及智慧通學與探索路線規劃，用 AI 與大數據記錄台北的聲音故事！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聲景智探主視覺與校園生活圈聲學實測專題。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A｜⏱️ 建議時間：15 秒】</a:t>
            </a:r>
          </a:p>
          <a:p xmlns:a="http://schemas.openxmlformats.org/drawingml/2006/main">
            <a:r>
              <a:t>每天上下學走同一條路，為什麼有時候覺得吵雜緊張、有時候卻能聽見鳥叫聲？我們實測發現福林路尖峰車流高達負 17.8 dBFS，但只要轉進退縮綠蔭與志成公園就降到負 25.9 dBFS！因此我們決定拍下現場照片、錄下原音，做出一張看得見也聽得到的擴充聲音地圖！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聲景智探概念插畫與福林路通學實拍 commute-traffic-1.jpg。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A｜⏱️ 建議時間：15 秒】</a:t>
            </a:r>
          </a:p>
          <a:p xmlns:a="http://schemas.openxmlformats.org/drawingml/2006/main">
            <a:r>
              <a:t>我們的聲景偵探研究四問包含：第一，現場有哪些聲音與分貝變化？第二，如何把 50 個公開據點與 17 處實拍照片、原音放進擴充地圖？第三，累積大數據後如何變成「城市聲音時光機」記錄演變？第四，如何用大數據規劃最安靜安全的「智慧通學與探索路線」？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聲景智探四階段研究閉環設計。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我們的擴充聲音地圖整合了士林區 50 個政府公開環境據點（24 座公園綠地、26 個交通站點），並由我們實地採集 17 處道路施工、教室上課、下課操場、音樂課、垃圾車、捷運芝山站與河濱步道的現場照片與 15 秒原音，點開地圖就能看照片聽聲音！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聲景智探互動地圖實機畫面與 17 處實地採集資料庫。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接著由 AI 聲學偵探與我們協作：系統內建 Google YAMNet 521 類聲音辨識模型，並自動算出每段錄音的平均與峰值 dBFS 分貝數。人耳記錄主觀感受與照片、AI 提供客觀聲學證據，合成完整破案卷宗！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 App「人耳與 AI 對照」實機畫面。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我們大幅擴充了互動聲音地圖，結合 50 個政府公開據點與 17 處現場實拍照片和原音！包含道路施工負 21.5 dBFS、教室上課鐘聲與朗讀負 21.9 dBFS、下課操場負 20.4 dBFS、捷運芝山站負 20.2 dBFS、公園鳥鳴負 25.9 dBFS，以及最安靜的清晨住家山景陽台負 52.6 dBFS，點開地圖就能看照片聽聲音！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現場照片與 44.1kHz 原音：soundscape/public/student-field/ 下 17 組實測影音。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出發採集前，我們先透過「盲聽暖身挑戰」訓練耳朵的敏銳度：先不看畫面聽 10 到 15 秒原音，分辨是自然聲、機械鈴聲、人聲還是交通聲，記錄主觀舒適度後，再呼叫 AI 一起比對！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聲景智探 App「盲聽挑戰」實機畫面。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我們在同一個通學生活圈拍下現場照片、錄下 15 秒原音做跨時段與位置比對。貼近大馬路尖峰時，平均音量達負 17.8 dBFS，AI 辨識出公車氣壓煞車與車流聲；轉進退縮綠蔭與志成公園後，音量降到負 25.9 dBFS，減弱超過 8 分貝，白頭翁鳥鳴與微風聲都清楚浮現！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現場實拍與原音：commute-traffic-1.jpg（-17.8 dBFS）與 scene-07-park-morning.jpg（-25.9 dBFS）。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累積聲音大數據還能幫我們規劃「智慧通學與探索路線」！比較路線 A 大馬路與施工側（負 17.8 dBFS）和路線 B 退縮人行道與公園河濱路線（負 26.5 dBFS），音量明顯降低超過 8 分貝。透過聲音地圖、城市時光機與路線比較，我們能幫同學和社區居民找出最安靜、最安全舒適的步行路線！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通學路線實拍與原音：commute-asus-3.jpg、commute-student-listen-4.jpg 與 17 處聲景實測資料庫。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建議分工：全員合聲結尾｜⏱️ 建議時間：15 秒】</a:t>
            </a:r>
          </a:p>
          <a:p xmlns:a="http://schemas.openxmlformats.org/drawingml/2006/main">
            <a:r>
              <a:t>總結我們的三大成果：結合 50 個據點與 17 處實拍照片原音的擴充聲音地圖、跨時段跨月份的城市聲音時光機、以及避開噪音推薦好路的智慧通學路線規劃！現在就請評審與同學掃描右方 QR Code，一起打開聲景智探聽見城市！謝謝大家！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連結至 https://soundscape-ai-city-sound-detective.vercel.app/ 與 https://timdirty.github.io/taibei-student-explorers/。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【上台報告講稿｜👥 建議分工：隊員 C（核心亮點）｜⏱️ 建議時間：20 秒】</a:t>
            </a:r>
          </a:p>
          <a:p>
            <a:r>
              <a:t>當我們累積越來越多跨時段、跨月份的聲音與照片大數據，聲音地圖就變成了「城市聲音時光機」！從早晨七點半的通學與鳥鳴、十點半的上課與施工、下午四點半的放學公車與垃圾車祈禱琴聲，到夜晚九點至清晨的山景陽台，隨時拉動時間軸，就能回溯施工前後與四季的環境演變！</a:t>
            </a:r>
          </a:p>
          <a:p/>
          <a:p>
            <a:r>
              <a:t>圖片與資料出處</a:t>
            </a:r>
          </a:p>
          <a:p>
            <a:r>
              <a:t>跨時段現場照片與原音：commute-intersection-2.jpg、scene-02-classroom.jpg、scene-05-garbage-truck.jpg、home-balcony-night.jpg。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5adcaab428a64b9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f106fa8ae164fe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7c9a24e59bf411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3769a89c97d4c1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2730ac0011f474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4800fe0c1b84a5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04DDCE-A497-4C89-9109-92FA0A41E1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1299EB9-B399-4C3B-8045-D9F91CD7F6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12D1FA3-ABE5-4130-8F38-97B4E04F68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53C12-A7D8-46BD-BC6A-9B6B03BE8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3CEE7D7-A66D-44F1-961A-F3F8F21833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CAA9C5-D99E-42A3-90B0-3300D084C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693102-7A33-4EBE-9933-89EBD7751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9BF252-A983-48AB-A2E5-0DB51AFB56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67FBA0-DC4C-4071-9CC2-A924439AD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9A6438-73F2-4208-99F9-4FFAEC38C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07af9dd340e4a92" Type="http://schemas.openxmlformats.org/officeDocument/2006/relationships/theme" Target="theme/theme2.xml"/><Relationship Id="R1784c5215bb249ab" Type="http://schemas.openxmlformats.org/officeDocument/2006/relationships/slideLayout" Target="../slideLayouts/slideLayout5.xml"/><Relationship Id="R45ebc3c2a381484b" Type="http://schemas.openxmlformats.org/officeDocument/2006/relationships/slideLayout" Target="../slideLayouts/slideLayout3.xml"/><Relationship Id="R559e8808401144e8" Type="http://schemas.openxmlformats.org/officeDocument/2006/relationships/slideLayout" Target="../slideLayouts/slideLayout4.xml"/><Relationship Id="R7844de63500e48e1" Type="http://schemas.openxmlformats.org/officeDocument/2006/relationships/slideLayout" Target="../slideLayouts/slideLayout2.xml"/><Relationship Id="R9a2b639fc3ee441f" Type="http://schemas.openxmlformats.org/officeDocument/2006/relationships/slideLayout" Target="../slideLayouts/slideLayout1.xml"/><Relationship Id="Rf3cc2b7c62814966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2b639fc3ee441f"/>
    <p:sldLayoutId xmlns:r="http://schemas.openxmlformats.org/officeDocument/2006/relationships" id="2147483650" r:id="R7844de63500e48e1"/>
    <p:sldLayoutId xmlns:r="http://schemas.openxmlformats.org/officeDocument/2006/relationships" id="2147483651" r:id="R45ebc3c2a381484b"/>
    <p:sldLayoutId xmlns:r="http://schemas.openxmlformats.org/officeDocument/2006/relationships" id="2147483652" r:id="R559e8808401144e8"/>
    <p:sldLayoutId xmlns:r="http://schemas.openxmlformats.org/officeDocument/2006/relationships" id="2147483653" r:id="R1784c5215bb249ab"/>
    <p:sldLayoutId xmlns:r="http://schemas.openxmlformats.org/officeDocument/2006/relationships" id="2147483654" r:id="Rf3cc2b7c628149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5cbe501618346aa" Type="http://schemas.openxmlformats.org/officeDocument/2006/relationships/notesSlide" Target="../notesSlides/notesSlide1.xml"/><Relationship Id="Rdfa932adaacc4bd8" Type="http://schemas.openxmlformats.org/officeDocument/2006/relationships/image" Target="../media/image.png"/><Relationship Id="Rf0ff24f662a9403f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24ea7dc9e3934f8d" Type="http://schemas.openxmlformats.org/officeDocument/2006/relationships/image" Target="../media/image2.png"/><Relationship Id="R77bdca34200545b0" Type="http://schemas.openxmlformats.org/officeDocument/2006/relationships/slideLayout" Target="../slideLayouts/slideLayout6.xml"/><Relationship Id="Re4ab953eb7cb4629" Type="http://schemas.openxmlformats.org/officeDocument/2006/relationships/notesSlide" Target="../notesSlides/notesSlide2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3.xml.rels><?xml version='1.0' encoding='UTF-8' standalone='yes'?>
<Relationships xmlns="http://schemas.openxmlformats.org/package/2006/relationships"><Relationship Id="R9ea3a39e1be64b47" Type="http://schemas.openxmlformats.org/officeDocument/2006/relationships/slideLayout" Target="../slideLayouts/slideLayout6.xml"/><Relationship Id="Rcaaed2e1e0db477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369842323784f5e" Type="http://schemas.openxmlformats.org/officeDocument/2006/relationships/slideLayout" Target="../slideLayouts/slideLayout6.xml"/><Relationship Id="R737a2c8aa62c4e43" Type="http://schemas.openxmlformats.org/officeDocument/2006/relationships/notesSlide" Target="../notesSlides/notesSlide4.xml"/><Relationship Id="Rd8319ea900b24bc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724d3aa7666248dd" Type="http://schemas.openxmlformats.org/officeDocument/2006/relationships/notesSlide" Target="../notesSlides/notesSlide7.xml"/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Relationship Id="rId4" Type="http://schemas.openxmlformats.org/officeDocument/2006/relationships/image" Target="../media/image25.png"/><Relationship Id="rId5" Type="http://schemas.openxmlformats.org/officeDocument/2006/relationships/image" Target="../media/image41.png"/></Relationships>
</file>

<file path=ppt/slides/_rels/slide6.xml.rels><?xml version='1.0' encoding='UTF-8' standalone='yes'?>
<Relationships xmlns="http://schemas.openxmlformats.org/package/2006/relationships"><Relationship Id="R6f39d542156d46f0" Type="http://schemas.openxmlformats.org/officeDocument/2006/relationships/image" Target="../media/image2.jpeg"/><Relationship Id="R935ab8306b494d81" Type="http://schemas.openxmlformats.org/officeDocument/2006/relationships/notesSlide" Target="../notesSlides/notesSlide5.xml"/><Relationship Id="Raa72d4ff7ee44d97" Type="http://schemas.openxmlformats.org/officeDocument/2006/relationships/slideLayout" Target="../slideLayouts/slideLayout6.xml"/><Relationship Id="Re6d7ca0540ac4067" Type="http://schemas.openxmlformats.org/officeDocument/2006/relationships/hyperlink" Target="https://soundscape-ai-city-sound-detective.vercel.app/#sound-practice" TargetMode="External"/></Relationships>
</file>

<file path=ppt/slides/_rels/slide7.xml.rels><?xml version='1.0' encoding='UTF-8' standalone='yes'?>
<Relationships xmlns="http://schemas.openxmlformats.org/package/2006/relationships"><Relationship Id="R700f40a8638f41bd" Type="http://schemas.openxmlformats.org/officeDocument/2006/relationships/notesSlide" Target="../notesSlides/notesSlide8.xml"/><Relationship Id="Rbcb405ebed744870" Type="http://schemas.openxmlformats.org/officeDocument/2006/relationships/slideLayout" Target="../slideLayouts/slideLayout6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70fd2c2a19ed410b" Type="http://schemas.openxmlformats.org/officeDocument/2006/relationships/slideLayout" Target="../slideLayouts/slideLayout6.xml"/><Relationship Id="Rccab31a56462431d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Relationship Id="rId12" Type="http://schemas.openxmlformats.org/officeDocument/2006/relationships/image" Target="../media/image28.jpg"/><Relationship Id="rId13" Type="http://schemas.openxmlformats.org/officeDocument/2006/relationships/image" Target="../media/image29.jpg"/><Relationship Id="rId14" Type="http://schemas.openxmlformats.org/officeDocument/2006/relationships/image" Target="../media/image30.jpg"/><Relationship Id="rId15" Type="http://schemas.openxmlformats.org/officeDocument/2006/relationships/image" Target="../media/image31.jpg"/><Relationship Id="rId16" Type="http://schemas.openxmlformats.org/officeDocument/2006/relationships/image" Target="../media/image32.jpg"/><Relationship Id="rId17" Type="http://schemas.openxmlformats.org/officeDocument/2006/relationships/image" Target="../media/image33.jpg"/></Relationships>
</file>

<file path=ppt/slides/_rels/slide9.xml.rels><?xml version='1.0' encoding='UTF-8' standalone='yes'?>
<Relationships xmlns="http://schemas.openxmlformats.org/package/2006/relationships"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/Relationships>
</file>

<file path=ppt/slides/_rels/slide10.xml.rels><?xml version='1.0' encoding='UTF-8' standalone='yes'?>
<Relationships xmlns="http://schemas.openxmlformats.org/package/2006/relationships"><Relationship Id="R45765c504fb34708" Type="http://schemas.openxmlformats.org/officeDocument/2006/relationships/slideLayout" Target="../slideLayouts/slideLayout6.xml"/><Relationship Id="R96ba12c971d44769" Type="http://schemas.openxmlformats.org/officeDocument/2006/relationships/notesSlide" Target="../notesSlides/notesSlide9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/Relationships>
</file>

<file path=ppt/slides/_rels/slide11.xml.rels><?xml version='1.0' encoding='UTF-8' standalone='yes'?>
<Relationships xmlns="http://schemas.openxmlformats.org/package/2006/relationships"><Relationship Id="R42515ceb131f48da" Type="http://schemas.openxmlformats.org/officeDocument/2006/relationships/hyperlink" Target="https://soundscape-ai-city-sound-detective.vercel.app/" TargetMode="External"/><Relationship Id="R44bfcd790eff43c5" Type="http://schemas.openxmlformats.org/officeDocument/2006/relationships/slideLayout" Target="../slideLayouts/slideLayout6.xml"/><Relationship Id="R523b489d03de4322" Type="http://schemas.openxmlformats.org/officeDocument/2006/relationships/hyperlink" Target="https://soundscape-ai-city-sound-detective.vercel.app/" TargetMode="External"/><Relationship Id="R5a93ab29e37246eb" Type="http://schemas.openxmlformats.org/officeDocument/2006/relationships/hyperlink" Target="https://foodlens-school.vercel.app/students" TargetMode="External"/><Relationship Id="Re5fc0a76cfb44f1b" Type="http://schemas.openxmlformats.org/officeDocument/2006/relationships/notesSlide" Target="../notesSlides/notesSlide10.xml"/><Relationship Id="rId6" Type="http://schemas.openxmlformats.org/officeDocument/2006/relationships/image" Target="../media/image8.png"/><Relationship Id="rId7" Type="http://schemas.openxmlformats.org/officeDocument/2006/relationships/image" Target="../media/image40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B6129B-A7DE-488A-92CA-A0597B4FA9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932adaacc4b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聲景智探">
            <a:extLst xmlns:a="http://schemas.openxmlformats.org/drawingml/2006/main">
              <a:ext uri="{FF2B5EF4-FFF2-40B4-BE49-F238E27FC236}">
                <a16:creationId xmlns:a16="http://schemas.microsoft.com/office/drawing/2014/main" id="{CF0BDD7D-1592-4BDC-8270-46CD106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聲景智探</a:t>
            </a:r>
          </a:p>
        </p:txBody>
      </p:sp>
      <p:sp>
        <p:nvSpPr>
          <p:cNvPr id="3" name="跟著耳朵，&#10;發現城市">
            <a:extLst xmlns:a="http://schemas.openxmlformats.org/drawingml/2006/main">
              <a:ext uri="{FF2B5EF4-FFF2-40B4-BE49-F238E27FC236}">
                <a16:creationId xmlns:a16="http://schemas.microsoft.com/office/drawing/2014/main" id="{48A066E7-640F-48B5-A053-6A9A04B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38475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跟著耳朵，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發現城市</a:t>
            </a:r>
          </a:p>
        </p:txBody>
      </p:sp>
      <p:sp>
        <p:nvSpPr>
          <p:cNvPr id="4" name="泰北聽路隊">
            <a:extLst xmlns:a="http://schemas.openxmlformats.org/drawingml/2006/main">
              <a:ext uri="{FF2B5EF4-FFF2-40B4-BE49-F238E27FC236}">
                <a16:creationId xmlns:a16="http://schemas.microsoft.com/office/drawing/2014/main" id="{5AF4E1EB-48D8-414E-96CF-978984A5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528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泰北聽路隊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093C08-1450-45F9-8BE7-2B88A563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065040A7-0BF5-446A-85FE-3B65326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8185991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0BF702A-AABA-4C53-A359-D0618AA1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通學路上的聲音秘密：同一條路聽起來不一樣？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04CF62F6-7008-48C0-9984-1334EA9D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27CD6421-A04D-42F2-BDF4-3D2F4324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結合現場照片與原音，打造看得見也聽得到的地圖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4775200" cy="452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838200" y="1651000"/>
            <a:ext cx="44196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914400" y="1651000"/>
            <a:ext cx="4267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從雙耳觀察到實地街頭採集（士林福林生活圈）</a:t>
            </a:r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082800"/>
            <a:ext cx="2133600" cy="2362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5" name="Picture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200" y="2082800"/>
            <a:ext cx="2133600" cy="2362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16" name="Rounded Rectangle 15"/>
          <p:cNvSpPr/>
          <p:nvPr/>
        </p:nvSpPr>
        <p:spPr>
          <a:xfrm>
            <a:off x="838200" y="4572000"/>
            <a:ext cx="4419600" cy="1270000"/>
          </a:xfrm>
          <a:prstGeom prst="roundRect">
            <a:avLst>
              <a:gd name="adj" fmla="val 6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965200" y="4673600"/>
            <a:ext cx="4165600" cy="109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📌 現場實測對比：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貼近福林路大馬路：車流與煞車聲高達 -17.8 dBFS</a:t>
            </a:r>
          </a:p>
          <a:p>
            <a:pPr algn="l">
              <a:lnSpc>
                <a:spcPct val="125000"/>
              </a:lnSpc>
            </a:pPr>
            <a:r>
              <a:rPr sz="12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轉入退縮綠蔭與志成公園：降至 -25.9 dBFS 聽見鳥鳴！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5664200" y="14986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5842000" y="16510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918200" y="16510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發現 ①｜尖峰車流與施工噪音常掩蓋自然聲音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5892800" y="21082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上學尖峰時段公車氣壓煞車、機車加速與道路施工鑽地聲交錯，不僅讓人緊張，也把行道樹上的鳥鳴完全蓋住。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5664200" y="30480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5842000" y="32004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5918200" y="32004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發現 ②｜換個時段或轉個彎，聲景完全不同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5892800" y="36576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同樣在學校周邊，早晨、上課、放學與夜晚聽到的主角截然不同；只要退縮一條街或走進公園，音量立刻明顯降低。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5664200" y="45974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5842000" y="47498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918200" y="47498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發現 ③｜打造「結合現場照片＋原音」的擴充聲音地圖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5892800" y="52070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傳統地圖只有路線沒有聲音！我們決定拍下現場照片、錄下 15 秒原音並用 AI 分析，做出能回溯時光與推薦好路的聲音地圖！</a:t>
            </a:r>
          </a:p>
        </p:txBody>
      </p:sp>
    </p:spTree>
    <p:extLst>
      <p:ext uri="{BB962C8B-B14F-4D97-AF65-F5344CB8AC3E}">
        <p14:creationId xmlns:p14="http://schemas.microsoft.com/office/powerpoint/2010/main" val="31480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85E52D29-917D-4423-A43D-67EB3CEF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我們的聲景偵探四問：從單點錄音到時光機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76A8B81E-02E4-490B-89E5-349353E4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14735290-8B4E-4696-9776-C33BB357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AI 辨識聲源 ➔ 擴充聲音地圖 ➔ 城市時光機 ➔ 智慧路線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①｜現場有哪些聲音與分貝？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0132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人耳 × YAMNet AI 分析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382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現場聽到的是自然鳥鳴、上課朗讀，還是車流與施工聲？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用 AI 自動辨識 521 類聲音並計算平均音量（dBFS）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同時記錄我們的主觀感受（舒服想多待 vs. 吵雜想離開）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62230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3754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4516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②｜如何把照片與原音放進地圖？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5758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50 據點＋17 處實拍原音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64008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結合 50 個政府公開據點（24 座公園綠地、26 個交通站點）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實地採集 17 處施工、上課、操場、捷運、公園照片與原音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點開地圖座標就能同時「看現場實拍照片＋聽 15 秒原音」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8128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8890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③｜大數據如何記錄環境演變？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40132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城市聲音時光機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8382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串聯 07:30 早晨、10:30 上課施工、16:30 放學、21:00 夜晚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持續累積不同月份、晴雨與施工前後的聲音與照片檔案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隨時拉動時間軸，像坐上時光機一樣回溯城市聲景變化！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2230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63754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4516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④｜如何找出最安靜安全的路線？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5758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智慧通學與探索路線規劃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4008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比較路線 A 大馬路與施工側（-17.8 dBFS）與路線 B 綠蔭河濱（-26.5 dBFS）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量化行道樹與公園綠帶降低超過 8 分貝的隔音效果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為同學、家長與社區居民推薦最安全舒適的步行路線！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660400" y="5181600"/>
            <a:ext cx="10871200" cy="812800"/>
          </a:xfrm>
          <a:prstGeom prst="roundRect">
            <a:avLst>
              <a:gd name="adj" fmla="val 10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812800" y="5181600"/>
            <a:ext cx="105664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8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核心研究目標：擴充結合「現場照片＋實測原音」的聲音地圖，並用大數據打造「城市聲音時光機」與「智慧通學路線」！</a:t>
            </a:r>
          </a:p>
        </p:txBody>
      </p:sp>
    </p:spTree>
    <p:extLst>
      <p:ext uri="{BB962C8B-B14F-4D97-AF65-F5344CB8AC3E}">
        <p14:creationId xmlns:p14="http://schemas.microsoft.com/office/powerpoint/2010/main" val="420134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DCE567C-5F6B-4B28-8F27-5EF2B279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擴充聲音地圖：50 個政府據點 × 17 處實測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8B4F3507-6E97-4127-B80E-21055788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A1223488-2BB1-414D-AFC9-62DC62E9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選地點、看現場照片、聽實測原音，建立校園聲景網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jpeg"/>
          <p:cNvPicPr>
            <a:picLocks noChangeAspect="1"/>
          </p:cNvPicPr>
          <p:nvPr/>
        </p:nvPicPr>
        <p:blipFill>
          <a:blip r:embed="Rd8319ea900b24bc1"/>
          <a:stretch>
            <a:fillRect/>
          </a:stretch>
        </p:blipFill>
        <p:spPr>
          <a:xfrm>
            <a:off x="762000" y="1974921"/>
            <a:ext cx="6604000" cy="3543157"/>
          </a:xfrm>
          <a:prstGeom prst="rect">
            <a:avLst/>
          </a:prstGeom>
        </p:spPr>
      </p:pic>
      <p:sp xmlns:a="http://schemas.openxmlformats.org/drawingml/2006/main">
        <p:nvSpPr>
          <p:cNvPr id="13" name="Rounded Rectangle 12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基底 ①｜50 個政府公開環境據點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整合臺北市士林區 24 座公園綠地與 26 個 YouBike 交通站點，構成覆蓋校園與社區的探索座標網。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擴充 ②｜17 處現場實拍照片＋原音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我們實地採集道路施工、教室上課、下課操場、音樂課、垃圾車、捷運芝山站與河濱步道等 17 組照片與原音！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互動 ③｜點開卡片即看照片、聽聲音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地圖上每個探索點都結合「實景照片、15 秒原音播放器、AI 聲源標籤與 dBFS 分貝值」，一目了然！</a:t>
            </a:r>
          </a:p>
        </p:txBody>
      </p:sp>
    </p:spTree>
    <p:extLst>
      <p:ext uri="{BB962C8B-B14F-4D97-AF65-F5344CB8AC3E}">
        <p14:creationId xmlns:p14="http://schemas.microsoft.com/office/powerpoint/2010/main" val="1133726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盲聽暖身挑戰：先用耳朵分辨環境聲源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不看畫面先聽聲音細節，訓練聲景偵探敏銳聽力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765300"/>
            <a:ext cx="6604000" cy="3962400"/>
          </a:xfrm>
          <a:prstGeom prst="rect">
            <a:avLst/>
          </a:prstGeom>
        </p:spPr>
      </p:pic>
      <p:sp xmlns:a="http://schemas.openxmlformats.org/drawingml/2006/main">
        <p:nvSpPr>
          <p:cNvPr id="18" name="Rounded Rectangle 17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1｜專心盲聽 10～15 秒原音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先不看照片提示，閉上眼睛聽聽看背景裡藏著哪些細節（水流、鳥鳴、引擎、風扇或人群聲）。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2｜分類聲源並記錄直覺感受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從「自然聲、機械／鈴聲、人聲、交通聲」選出主角，並標記這段聲音讓人覺得舒服或緊繃。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3｜呼叫 AI 聲學模型一起比對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完成人耳判斷後，再按下「叫 AI 一起聽」，比較人耳直覺與 AI 頻譜分析抓到的線索有什麼不同！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BFAA577-F335-4507-AB02-D6ECF41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AI 聲學偵探協作：YAMNet 辨識 × 分貝量化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04A50C4-5894-4025-BE62-B5683808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88DED55B-5A6E-471D-905D-AA592A30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人耳感受結合 AI 客觀數據，讓聲音有科學證據</a:t>
            </a:r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660400" y="1498600"/>
            <a:ext cx="6807200" cy="3632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3" name="Picture 12" descr="image.jpeg"/>
          <p:cNvPicPr>
            <a:picLocks noChangeAspect="1"/>
          </p:cNvPicPr>
          <p:nvPr/>
        </p:nvPicPr>
        <p:blipFill>
          <a:blip r:embed="R6f39d542156d46f0"/>
          <a:stretch>
            <a:fillRect/>
          </a:stretch>
        </p:blipFill>
        <p:spPr>
          <a:xfrm>
            <a:off x="1000759" y="1600200"/>
            <a:ext cx="6126480" cy="3429000"/>
          </a:xfrm>
          <a:prstGeom prst="rect">
            <a:avLst/>
          </a:prstGeom>
        </p:spPr>
      </p:pic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5283200"/>
            <a:ext cx="6807200" cy="7112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838200" y="5283200"/>
            <a:ext cx="6451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🔬 科學驗證：AI 算出客觀分貝（dBFS）與聲源分類，我們補上現場照片與舒適度！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①｜YAMNet 521 類聲音模型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自動分析錄音頻譜，精準辨識鳥鳴、水流、公車氣壓煞車、施工鑽地、上課鐘聲與垃圾車音樂。</a:t>
            </a:r>
          </a:p>
        </p:txBody>
      </p:sp>
      <p:sp xmlns:a="http://schemas.openxmlformats.org/drawingml/2006/main">
        <p:nvSpPr>
          <p:cNvPr id="20" name="Rounded Rectangle 19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②｜自動量化平均與峰值 dBFS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客觀計算每段 15 秒原音的平均響度（如大馬路 -17.8 dBFS vs. 公園 -25.9 dBFS），能跨時段公平比較。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核心 ③｜人機協作合成破案卷宗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結合「現場實拍照片＋15 秒原音＋AI 聲源分類＋人耳舒適度」，自動歸檔至擴充聲音地圖與時光機！</a:t>
            </a:r>
          </a:p>
        </p:txBody>
      </p:sp>
    </p:spTree>
    <p:extLst>
      <p:ext uri="{BB962C8B-B14F-4D97-AF65-F5344CB8AC3E}">
        <p14:creationId xmlns:p14="http://schemas.microsoft.com/office/powerpoint/2010/main" val="404069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DEC051-BF9E-4A54-8BAA-609B1E8C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同地跨時段回訪：現場照片與原音雙重比對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E5226E96-0455-467A-A22C-44BA8A6B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C159035-11E2-4100-BFFC-F510A0BC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同一個生活圈，不同時段與位置的聲音大不同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63600" y="1727200"/>
            <a:ext cx="31750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39800" y="1727200"/>
            <a:ext cx="3022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採集 A｜上學尖峰・福林路大馬路側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2209800"/>
            <a:ext cx="2184400" cy="18034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3175000" y="2209800"/>
            <a:ext cx="2336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AI 聲學與音量實測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3175000" y="2565400"/>
            <a:ext cx="23114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251200" y="2565400"/>
            <a:ext cx="2159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🔊 較大聲：-17.8 dBFS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3175000" y="2997200"/>
            <a:ext cx="23622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峰值：-3.4 dBFS（公車經過）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辨識：車流、氣壓煞車聲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現場照片：雙向車流密集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主觀感受：緊繃、想快點走過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863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65200" y="4267200"/>
            <a:ext cx="4419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🔍 現場原音線索：低頻引擎聲持續不斷，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完全蓋過路樹上的鳥叫聲與說話聲。</a:t>
            </a:r>
          </a:p>
        </p:txBody>
      </p:sp>
      <p:cxnSp xmlns:a="http://schemas.openxmlformats.org/drawingml/2006/main">
        <p:nvCxnSpPr>
          <p:cNvPr id="26" name="Connector 25"/>
          <p:cNvCxnSpPr/>
          <p:nvPr/>
        </p:nvCxnSpPr>
        <p:spPr>
          <a:xfrm>
            <a:off x="5791200" y="3365500"/>
            <a:ext cx="609600" cy="0"/>
          </a:xfrm>
          <a:prstGeom prst="line">
            <a:avLst/>
          </a:prstGeom>
          <a:ln w="381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7" name="Rounded Rectangle 26"/>
          <p:cNvSpPr/>
          <p:nvPr/>
        </p:nvSpPr>
        <p:spPr>
          <a:xfrm>
            <a:off x="6502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Rounded Rectangle 27"/>
          <p:cNvSpPr/>
          <p:nvPr/>
        </p:nvSpPr>
        <p:spPr>
          <a:xfrm>
            <a:off x="6705600" y="1727200"/>
            <a:ext cx="3403600" cy="3556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781800" y="1727200"/>
            <a:ext cx="3251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採集 B｜離峰回訪・退縮綠蔭與志成公園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600" y="2209800"/>
            <a:ext cx="2184400" cy="1803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9017000" y="2209800"/>
            <a:ext cx="2336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AI 聲學與音量實測</a:t>
            </a:r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9017000" y="2565400"/>
            <a:ext cx="23114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9093200" y="2565400"/>
            <a:ext cx="2159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🌿 較安靜：-25.9 dBFS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017000" y="2997200"/>
            <a:ext cx="23622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音量下降：減弱超過 8 dB！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辨識：白頭翁鳥鳴、微風樹葉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現場照片：綠蔭退縮步道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主觀感受：放鬆、舒服想多待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6705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6807200" y="4267200"/>
            <a:ext cx="4419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💡 破案關鍵發現：只要避開尖峰或退縮進綠蔭步道，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交通噪音大幅減弱，城市的自然鳥鳴就會重新浮現！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38200" y="53340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8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dBFS 音量尺（越接近 0 聲音越大）：🔊 -17.8 dBFS 通學車流  ◀── 相差 35 dB ──▶  🌿 -52.6 dBFS 住家山景陽台</a:t>
            </a:r>
          </a:p>
        </p:txBody>
      </p:sp>
    </p:spTree>
    <p:extLst>
      <p:ext uri="{BB962C8B-B14F-4D97-AF65-F5344CB8AC3E}">
        <p14:creationId xmlns:p14="http://schemas.microsoft.com/office/powerpoint/2010/main" val="47031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8A2A1CF-D86D-45F4-BAC2-A282301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擴充聲音地圖：結合現場照片與 17 處實測原音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9F1A153-8C2D-4D5B-AC9B-26DEDFEC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ADDECF54-09AD-4812-9AA2-990C93B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50 個政府據點＋17 組施工、上課、捷運、公園照片原音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604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6" name="Rounded Rectangle 25"/>
          <p:cNvSpPr/>
          <p:nvPr/>
        </p:nvSpPr>
        <p:spPr>
          <a:xfrm>
            <a:off x="23622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24384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道路施工現場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23622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-21.5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破碎機與鑽地聲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23622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43561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1" name="Picture 30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577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2" name="Rounded Rectangle 31"/>
          <p:cNvSpPr/>
          <p:nvPr/>
        </p:nvSpPr>
        <p:spPr>
          <a:xfrm>
            <a:off x="60579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1341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國小教室上課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60579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-21.9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鐘聲與課文朗讀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0579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8051800" y="14732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7" name="Picture 36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15748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8" name="Rounded Rectangle 37"/>
          <p:cNvSpPr/>
          <p:nvPr/>
        </p:nvSpPr>
        <p:spPr>
          <a:xfrm>
            <a:off x="9753600" y="16256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829800" y="16256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下課操場活動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753600" y="20320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-20.4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歡呼與運球聲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9753600" y="25908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6604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3" name="Picture 42" descr="imag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4" name="Rounded Rectangle 43"/>
          <p:cNvSpPr/>
          <p:nvPr/>
        </p:nvSpPr>
        <p:spPr>
          <a:xfrm>
            <a:off x="23622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24384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捷運芝山站進站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23622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-20.2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高架列車減速音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23622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43561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9" name="Picture 48" descr="image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577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0" name="Rounded Rectangle 49"/>
          <p:cNvSpPr/>
          <p:nvPr/>
        </p:nvSpPr>
        <p:spPr>
          <a:xfrm>
            <a:off x="60579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61341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志成公園鳥鳴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60579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-25.9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白頭翁與微風聲</a:t>
            </a:r>
          </a:p>
        </p:txBody>
      </p:sp>
      <p:sp xmlns:a="http://schemas.openxmlformats.org/drawingml/2006/main">
        <p:nvSpPr>
          <p:cNvPr id="53" name="TextBox 52"/>
          <p:cNvSpPr txBox="1"/>
          <p:nvPr/>
        </p:nvSpPr>
        <p:spPr>
          <a:xfrm>
            <a:off x="60579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54" name="Rounded Rectangle 53"/>
          <p:cNvSpPr/>
          <p:nvPr/>
        </p:nvSpPr>
        <p:spPr>
          <a:xfrm>
            <a:off x="8051800" y="3429000"/>
            <a:ext cx="3479800" cy="180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5" name="Picture 54" descr="image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53400" y="3530600"/>
            <a:ext cx="1498600" cy="16002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6" name="Rounded Rectangle 55"/>
          <p:cNvSpPr/>
          <p:nvPr/>
        </p:nvSpPr>
        <p:spPr>
          <a:xfrm>
            <a:off x="9753600" y="3581400"/>
            <a:ext cx="16764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7" name="TextBox 56"/>
          <p:cNvSpPr txBox="1"/>
          <p:nvPr/>
        </p:nvSpPr>
        <p:spPr>
          <a:xfrm>
            <a:off x="9829800" y="3581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住家山景陽台</a:t>
            </a:r>
          </a:p>
        </p:txBody>
      </p:sp>
      <p:sp xmlns:a="http://schemas.openxmlformats.org/drawingml/2006/main">
        <p:nvSpPr>
          <p:cNvPr id="58" name="TextBox 57"/>
          <p:cNvSpPr txBox="1"/>
          <p:nvPr/>
        </p:nvSpPr>
        <p:spPr>
          <a:xfrm>
            <a:off x="9753600" y="39878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-52.6 dBFS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最安靜自然背景</a:t>
            </a:r>
          </a:p>
        </p:txBody>
      </p:sp>
      <p:sp xmlns:a="http://schemas.openxmlformats.org/drawingml/2006/main">
        <p:nvSpPr>
          <p:cNvPr id="59" name="TextBox 58"/>
          <p:cNvSpPr txBox="1"/>
          <p:nvPr/>
        </p:nvSpPr>
        <p:spPr>
          <a:xfrm>
            <a:off x="9753600" y="45466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▶ 附現場照片＋
   44.1kHz 實測原音</a:t>
            </a:r>
          </a:p>
        </p:txBody>
      </p:sp>
      <p:sp xmlns:a="http://schemas.openxmlformats.org/drawingml/2006/main">
        <p:nvSpPr>
          <p:cNvPr id="60" name="Rounded Rectangle 59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1" name="TextBox 60"/>
          <p:cNvSpPr txBox="1"/>
          <p:nvPr/>
        </p:nvSpPr>
        <p:spPr>
          <a:xfrm>
            <a:off x="838200" y="53340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2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多模態聲音地圖：點開地圖上任一座標，不只能看分貝數字，更能直接「看現場實拍照片＋聽 15 秒環境原音」！</a:t>
            </a:r>
          </a:p>
        </p:txBody>
      </p:sp>
    </p:spTree>
    <p:extLst>
      <p:ext uri="{BB962C8B-B14F-4D97-AF65-F5344CB8AC3E}">
        <p14:creationId xmlns:p14="http://schemas.microsoft.com/office/powerpoint/2010/main" val="5002405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城市聲音時光機：累積大數據紀錄環境演變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把跨時段、跨月份的聲音＋照片存起來回溯城市記憶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874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636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07:30 早晨通學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74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上學車流與公園早鳥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Picture 19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4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7874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路口車流 -21.2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公園鳥鳴 -25.9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紀錄早晨城市甦醒瞬間</a:t>
            </a:r>
          </a:p>
        </p:txBody>
      </p:sp>
      <p:cxnSp xmlns:a="http://schemas.openxmlformats.org/drawingml/2006/main">
        <p:nvCxnSpPr>
          <p:cNvPr id="22" name="Connector 21"/>
          <p:cNvCxnSpPr/>
          <p:nvPr/>
        </p:nvCxnSpPr>
        <p:spPr>
          <a:xfrm>
            <a:off x="32575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3" name="Rounded Rectangle 22"/>
          <p:cNvSpPr/>
          <p:nvPr/>
        </p:nvSpPr>
        <p:spPr>
          <a:xfrm>
            <a:off x="34226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35496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36258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10:30 上課與施工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35496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校園朗讀與街頭工程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496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35496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教室朗讀 -21.9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音樂課笛聲 -23.1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街頭施工鑽地 -21.5 dBFS</a:t>
            </a:r>
          </a:p>
        </p:txBody>
      </p:sp>
      <p:cxnSp xmlns:a="http://schemas.openxmlformats.org/drawingml/2006/main">
        <p:nvCxnSpPr>
          <p:cNvPr id="29" name="Connector 28"/>
          <p:cNvCxnSpPr/>
          <p:nvPr/>
        </p:nvCxnSpPr>
        <p:spPr>
          <a:xfrm>
            <a:off x="601980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0" name="Rounded Rectangle 29"/>
          <p:cNvSpPr/>
          <p:nvPr/>
        </p:nvSpPr>
        <p:spPr>
          <a:xfrm>
            <a:off x="61849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3119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63881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16:30 放學與傍晚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3119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公車進站與台灣垃圾車</a:t>
            </a:r>
          </a:p>
        </p:txBody>
      </p:sp>
      <p:pic xmlns:a="http://schemas.openxmlformats.org/drawingml/2006/main" xmlns:r="http://schemas.openxmlformats.org/officeDocument/2006/relationships">
        <p:nvPicPr>
          <p:cNvPr id="34" name="Picture 33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19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5" name="TextBox 34"/>
          <p:cNvSpPr txBox="1"/>
          <p:nvPr/>
        </p:nvSpPr>
        <p:spPr>
          <a:xfrm>
            <a:off x="63119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公車氣壓煞車 -18.9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垃圾車少女的祈禱 -19.8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最具台灣特色的放學聲景</a:t>
            </a:r>
          </a:p>
        </p:txBody>
      </p:sp>
      <p:cxnSp xmlns:a="http://schemas.openxmlformats.org/drawingml/2006/main">
        <p:nvCxnSpPr>
          <p:cNvPr id="36" name="Connector 35"/>
          <p:cNvCxnSpPr/>
          <p:nvPr/>
        </p:nvCxnSpPr>
        <p:spPr>
          <a:xfrm>
            <a:off x="87820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7" name="Rounded Rectangle 36"/>
          <p:cNvSpPr/>
          <p:nvPr/>
        </p:nvSpPr>
        <p:spPr>
          <a:xfrm>
            <a:off x="89471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90741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1503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21:00 夜晚與跨月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0741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萬籟俱寂與四季時光檔</a:t>
            </a:r>
          </a:p>
        </p:txBody>
      </p:sp>
      <p:pic xmlns:a="http://schemas.openxmlformats.org/drawingml/2006/main" xmlns:r="http://schemas.openxmlformats.org/officeDocument/2006/relationships">
        <p:nvPicPr>
          <p:cNvPr id="41" name="Picture 40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41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2" name="TextBox 41"/>
          <p:cNvSpPr txBox="1"/>
          <p:nvPr/>
        </p:nvSpPr>
        <p:spPr>
          <a:xfrm>
            <a:off x="90741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夜間陽台 -38.9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清晨陽台 -52.6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累積跨月大數據回看環境演變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660400" y="5334000"/>
            <a:ext cx="10871200" cy="711200"/>
          </a:xfrm>
          <a:prstGeom prst="roundRect">
            <a:avLst>
              <a:gd name="adj" fmla="val 12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812800" y="5334000"/>
            <a:ext cx="10566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時光機器大數據價值：當全校持續累積不同月份、晴雨與施工前後的「聲音＋照片」，就能隨時拉動時間軸聽見城市演變！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5BD6F43-EC3E-4FD6-B41C-DAA3083A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聲音大數據 × 智慧通學與探索路線規劃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9D2E0D84-F696-4812-A5CB-73507753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871EFF84-0862-4666-A946-438C7E32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比較不同路線的分貝與聲源，找出最安靜舒適的路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604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1600200"/>
            <a:ext cx="1676400" cy="14478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10" name="Rounded Rectangle 9"/>
          <p:cNvSpPr/>
          <p:nvPr/>
        </p:nvSpPr>
        <p:spPr>
          <a:xfrm>
            <a:off x="25908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26670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路線 A｜大馬路與施工側（-17.8 dBFS）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25908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途經：雙向車道旁、公車站與道路施工點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聲景特徵：氣壓煞車（-17.2 dBFS）與鑽地聲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建議：尖峰時段較吵雜，行走需注意車流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2230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600200"/>
            <a:ext cx="1676400" cy="1447800"/>
          </a:xfrm>
          <a:prstGeom prst="rect">
            <a:avLst/>
          </a:prstGeom>
          <a:ln w="12700">
            <a:solidFill>
              <a:srgbClr val="5268AC"/>
            </a:solidFill>
          </a:ln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81534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82296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路線 B｜退縮綠蔭與河濱（-26.5 dBFS）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1534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途經：退縮人行道、志成公園與雙溪河濱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聲景特徵：音量降低逾 8 dB，聽見鳥鳴與風聲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路線推薦：最適合上下學與散步的舒適路線！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3327400"/>
            <a:ext cx="10871200" cy="431800"/>
          </a:xfrm>
          <a:prstGeom prst="roundRect">
            <a:avLst>
              <a:gd name="adj" fmla="val 6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914400" y="3327400"/>
            <a:ext cx="2921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聲景大數據核心功能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3962400" y="3327400"/>
            <a:ext cx="3683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累積的資料規模與內容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772400" y="3327400"/>
            <a:ext cx="3632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長期資料參照與實際幫助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60400" y="38100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14400" y="38100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擴充聲音地圖＋現場照片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3962400" y="38100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50 個政府據點 × 17 處實拍照片與原音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772400" y="38100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每個聲音點都有照片、波形與 AI 聲源，建立可視化地圖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43942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914400" y="43942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城市與校園聲音時光機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3962400" y="43942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跨時段（早／午／晚）與跨月份錄音紀錄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772400" y="43942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回溯施工前後、晴雨與季節變化，見證城市環境演變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660400" y="49784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14400" y="49784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智慧通學與探索路線規劃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3962400" y="49784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比對各路段平均 dBFS 音量與自然聲比例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7772400" y="49784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幫同學與社區居民避開噪音熱區，推薦最安靜安全的路線</a:t>
            </a:r>
          </a:p>
        </p:txBody>
      </p:sp>
    </p:spTree>
    <p:extLst>
      <p:ext uri="{BB962C8B-B14F-4D97-AF65-F5344CB8AC3E}">
        <p14:creationId xmlns:p14="http://schemas.microsoft.com/office/powerpoint/2010/main" val="573648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A86B2AAC-20A9-4934-A371-ADDEA2FF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總結與立即體驗：聲音地圖 × 時光機 × 路線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B0C7754-B56F-456F-90D5-8CFE4D2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65A5B6F8-74AA-4AE4-9E2D-8EA5A1C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掃描 QR Code 立即體驗聲景智探與探索總入口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①｜擴充聲音地圖：50 個據點 ＋ 17 處現場照片與原音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63600" y="20574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整合 50 個政府公開據點，並實地採集道路施工（-21.5 dBFS）、教室上課（-21.9 dBFS）、下課操場、捷運芝山站與公園鳥鳴等 17 組照片與原音！</a:t>
            </a:r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30480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32004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14400" y="32004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②｜城市聲音時光機：累積跨時段與跨月份大數據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63600" y="36068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串聯 07:30 早晨通學、10:30 上課施工、16:30 放學公車與垃圾車、21:00 夜晚（-38.9 dBFS）至清晨山景陽台（-52.6 dBFS），隨時拉動時間軸回溯環境演變！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45974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38200" y="47498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914400" y="47498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③｜智慧通學與探索路線規劃：避開噪音走好路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63600" y="51562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比對大馬路施工側（-17.8 dBFS）與退縮綠蔭河濱路線（-26.5 dBFS，降低超過 8 dB），幫同學與社區居民推薦最安靜舒適的步行路線！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9800" y="1498600"/>
            <a:ext cx="42418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467600" y="1651000"/>
            <a:ext cx="3886200" cy="3556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543800" y="1651000"/>
            <a:ext cx="3733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📱 平板快速掃描立即體驗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400" y="2184400"/>
            <a:ext cx="1752600" cy="1752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6" name="TextBox 25"/>
          <p:cNvSpPr txBox="1"/>
          <p:nvPr/>
        </p:nvSpPr>
        <p:spPr>
          <a:xfrm>
            <a:off x="7467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① 開啟聲景智探 App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467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聲音地圖・時光機・路線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2184400"/>
            <a:ext cx="1752600" cy="1752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9" name="TextBox 28"/>
          <p:cNvSpPr txBox="1"/>
          <p:nvPr/>
        </p:nvSpPr>
        <p:spPr>
          <a:xfrm>
            <a:off x="9499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② 探索總入口與簡報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499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兩隊簡報・完整音檔照片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7467600" y="4775200"/>
            <a:ext cx="3886200" cy="10414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7569200" y="4876800"/>
            <a:ext cx="36830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✨ 邀請評審與同學一起聽聽看：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掃描左方打開 17 處實拍照片與原音地圖；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掃描右方查看兩隊完整簡報與時光機成果！</a:t>
            </a:r>
          </a:p>
        </p:txBody>
      </p:sp>
    </p:spTree>
    <p:extLst>
      <p:ext uri="{BB962C8B-B14F-4D97-AF65-F5344CB8AC3E}">
        <p14:creationId xmlns:p14="http://schemas.microsoft.com/office/powerpoint/2010/main" val="107085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268AC"/>
      </a:hlink>
      <a:folHlink>
        <a:srgbClr val="5268AC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2026-10-13T02:37:51.4360000Z</dcterms:created>
  <dcterms:modified xsi:type="dcterms:W3CDTF">2026-10-13T02:37:51.4360000Z</dcterms:modified>
</coreProperties>
</file>